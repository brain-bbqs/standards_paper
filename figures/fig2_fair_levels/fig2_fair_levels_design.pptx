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Fig. 2 design draft: levels of FAIRness and the layers that enable them. Steps follow the visual style and layer numbers (1-6) of Fig. 1. Steps are linked to layers by colour and number badge rather than connector lines (TODO F7).
FAIR PRINCIPLES PER LEVEL (Wilkinson et al. 2016, Sci Data 3:160018). The mapping to the RDA FAIR Data Maturity Model indicators is in Suppl. Table S2 only.
LEVEL 0, OPAQUE (NO STANDARD)
FAIR principles: none
LEVEL 1, READABLE (5 DATA FORMATS)
FAIR principles:
  I1: (Meta)data use a formal, accessible, shared, and broadly applicable language for knowledge representation.
LEVEL 2, INTERPRETABLE FILES (3 FILE ORGANIZATION STANDARDS)
FAIR principles:
  R1: (Meta)data are richly described with a plurality of accurate and relevant attributes.
  R1.3: (Meta)data meet domain-relevant community standards.
LEVEL 3, ORGANIZED DATASET (2 DATASET ORGANIZATION STANDARDS)
FAIR principles:
  R1: (Meta)data are richly described with a plurality of accurate and relevant attributes.
  R1.3: (Meta)data meet domain-relevant community standards.
  F2: Data are described with rich metadata (defined by R1).
LEVEL 4, INTEROPERABLE (4 ONTOLOGIES &amp; TERMINOLOGIES)
FAIR principles:
  I2: (Meta)data use vocabularies that follow FAIR principles.
  I3: (Meta)data include qualified references to other (meta)data.
LEVEL 5, FINDABLE AND REUSABLE RECORD (1 DATA ARCHIVES)
FAIR principles:
  F1: (Meta)data are assigned a globally unique and persistent identifier.
  F2: Data are described with rich metadata (defined by R1).
  F3: Metadata clearly and explicitly include the identifier of the data they describe.
  F4: (Meta)data are registered or indexed in a searchable resource.
  A1: (Meta)data are retrievable by their identifier using a standardised communications protocol.
  A1.1: The protocol is open, free, and universally implementable.
  A1.2: The protocol allows for an authentication and authorisation procedure, where necessary.
  A2: Metadata are accessible, even when the data are no longer available.
  R1.1: (Meta)data are released with a clear and accessible data usage licence.
  R1.2: (Meta)data are associated with detailed provenance.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 0: Opaque"/>
          <p:cNvSpPr/>
          <p:nvPr/>
        </p:nvSpPr>
        <p:spPr>
          <a:xfrm>
            <a:off x="457200" y="5669280"/>
            <a:ext cx="1801368" cy="594360"/>
          </a:xfrm>
          <a:prstGeom prst="rect">
            <a:avLst/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3" name="Tread 0"/>
          <p:cNvSpPr/>
          <p:nvPr/>
        </p:nvSpPr>
        <p:spPr>
          <a:xfrm>
            <a:off x="457200" y="5669280"/>
            <a:ext cx="1801368" cy="91440"/>
          </a:xfrm>
          <a:prstGeom prst="rect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5833872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standard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053328"/>
            <a:ext cx="1618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.bin voltage traces</a:t>
            </a:r>
            <a:endParaRPr lang="en-US" sz="900" dirty="0"/>
          </a:p>
        </p:txBody>
      </p:sp>
      <p:sp>
        <p:nvSpPr>
          <p:cNvPr id="6" name="Label level 0"/>
          <p:cNvSpPr txBox="1"/>
          <p:nvPr/>
        </p:nvSpPr>
        <p:spPr>
          <a:xfrm>
            <a:off x="475488" y="4754880"/>
            <a:ext cx="17647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0</a:t>
            </a:r>
            <a:endParaRPr lang="en-US" sz="95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</a:t>
            </a:r>
            <a:endParaRPr lang="en-US" sz="950" dirty="0"/>
          </a:p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FAIR: </a:t>
            </a:r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</a:t>
            </a:r>
            <a:endParaRPr lang="en-US" sz="950" dirty="0"/>
          </a:p>
        </p:txBody>
      </p:sp>
      <p:sp>
        <p:nvSpPr>
          <p:cNvPr id="7" name="Level 1: Readable"/>
          <p:cNvSpPr/>
          <p:nvPr/>
        </p:nvSpPr>
        <p:spPr>
          <a:xfrm>
            <a:off x="2350008" y="4956048"/>
            <a:ext cx="1801368" cy="1307592"/>
          </a:xfrm>
          <a:prstGeom prst="rect">
            <a:avLst/>
          </a:prstGeom>
          <a:solidFill>
            <a:srgbClr val="E69F00">
              <a:alpha val="15000"/>
            </a:srgbClr>
          </a:solidFill>
          <a:ln w="12700">
            <a:solidFill>
              <a:srgbClr val="E69F00"/>
            </a:solidFill>
            <a:prstDash val="solid"/>
          </a:ln>
        </p:spPr>
      </p:sp>
      <p:sp>
        <p:nvSpPr>
          <p:cNvPr id="8" name="Tread 1"/>
          <p:cNvSpPr/>
          <p:nvPr/>
        </p:nvSpPr>
        <p:spPr>
          <a:xfrm>
            <a:off x="2350008" y="4956048"/>
            <a:ext cx="1801368" cy="91440"/>
          </a:xfrm>
          <a:prstGeom prst="rect">
            <a:avLst/>
          </a:prstGeom>
          <a:solidFill>
            <a:srgbClr val="E69F00"/>
          </a:solidFill>
          <a:ln w="12700">
            <a:solidFill>
              <a:srgbClr val="E69F00"/>
            </a:solidFill>
            <a:prstDash val="solid"/>
          </a:ln>
        </p:spPr>
      </p:sp>
      <p:sp>
        <p:nvSpPr>
          <p:cNvPr id="9" name="Badge 5"/>
          <p:cNvSpPr/>
          <p:nvPr/>
        </p:nvSpPr>
        <p:spPr>
          <a:xfrm>
            <a:off x="2423160" y="5138928"/>
            <a:ext cx="292608" cy="292608"/>
          </a:xfrm>
          <a:prstGeom prst="ellipse">
            <a:avLst/>
          </a:prstGeom>
          <a:solidFill>
            <a:srgbClr val="E69F0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423160" y="51389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770632" y="5120640"/>
            <a:ext cx="1307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formats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2441448" y="5541264"/>
            <a:ext cx="1618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Bare HDF5 file</a:t>
            </a:r>
            <a:endParaRPr lang="en-US" sz="900" dirty="0"/>
          </a:p>
        </p:txBody>
      </p:sp>
      <p:sp>
        <p:nvSpPr>
          <p:cNvPr id="13" name="Label level 1"/>
          <p:cNvSpPr txBox="1"/>
          <p:nvPr/>
        </p:nvSpPr>
        <p:spPr>
          <a:xfrm>
            <a:off x="2368296" y="4041648"/>
            <a:ext cx="17647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1</a:t>
            </a:r>
            <a:endParaRPr lang="en-US" sz="95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Readable</a:t>
            </a:r>
            <a:endParaRPr lang="en-US" sz="950" dirty="0"/>
          </a:p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FAIR: </a:t>
            </a:r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I1</a:t>
            </a:r>
            <a:endParaRPr lang="en-US" sz="950" dirty="0"/>
          </a:p>
        </p:txBody>
      </p:sp>
      <p:sp>
        <p:nvSpPr>
          <p:cNvPr id="14" name="Level 2: Interpretable files"/>
          <p:cNvSpPr/>
          <p:nvPr/>
        </p:nvSpPr>
        <p:spPr>
          <a:xfrm>
            <a:off x="4242816" y="4242816"/>
            <a:ext cx="1801368" cy="2020824"/>
          </a:xfrm>
          <a:prstGeom prst="rect">
            <a:avLst/>
          </a:prstGeom>
          <a:solidFill>
            <a:srgbClr val="D55E00">
              <a:alpha val="15000"/>
            </a:srgbClr>
          </a:solidFill>
          <a:ln w="12700">
            <a:solidFill>
              <a:srgbClr val="D55E00"/>
            </a:solidFill>
            <a:prstDash val="solid"/>
          </a:ln>
        </p:spPr>
      </p:sp>
      <p:sp>
        <p:nvSpPr>
          <p:cNvPr id="15" name="Tread 2"/>
          <p:cNvSpPr/>
          <p:nvPr/>
        </p:nvSpPr>
        <p:spPr>
          <a:xfrm>
            <a:off x="4242816" y="4242816"/>
            <a:ext cx="1801368" cy="91440"/>
          </a:xfrm>
          <a:prstGeom prst="rect">
            <a:avLst/>
          </a:prstGeom>
          <a:solidFill>
            <a:srgbClr val="D55E00"/>
          </a:solidFill>
          <a:ln w="12700">
            <a:solidFill>
              <a:srgbClr val="D55E00"/>
            </a:solidFill>
            <a:prstDash val="solid"/>
          </a:ln>
        </p:spPr>
      </p:sp>
      <p:sp>
        <p:nvSpPr>
          <p:cNvPr id="16" name="Badge 3"/>
          <p:cNvSpPr/>
          <p:nvPr/>
        </p:nvSpPr>
        <p:spPr>
          <a:xfrm>
            <a:off x="4315968" y="4425696"/>
            <a:ext cx="292608" cy="292608"/>
          </a:xfrm>
          <a:prstGeom prst="ellipse">
            <a:avLst/>
          </a:prstGeom>
          <a:solidFill>
            <a:srgbClr val="D55E0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15968" y="4425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4407408"/>
            <a:ext cx="1307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organization standards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334256" y="4828032"/>
            <a:ext cx="1618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Validated NWB file</a:t>
            </a:r>
            <a:endParaRPr lang="en-US" sz="900" dirty="0"/>
          </a:p>
        </p:txBody>
      </p:sp>
      <p:sp>
        <p:nvSpPr>
          <p:cNvPr id="20" name="Label level 2"/>
          <p:cNvSpPr txBox="1"/>
          <p:nvPr/>
        </p:nvSpPr>
        <p:spPr>
          <a:xfrm>
            <a:off x="4261104" y="3328416"/>
            <a:ext cx="17647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2</a:t>
            </a:r>
            <a:endParaRPr lang="en-US" sz="95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Interpretable files</a:t>
            </a:r>
            <a:endParaRPr lang="en-US" sz="950" dirty="0"/>
          </a:p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FAIR: </a:t>
            </a:r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R1, R1.3</a:t>
            </a:r>
            <a:endParaRPr lang="en-US" sz="950" dirty="0"/>
          </a:p>
        </p:txBody>
      </p:sp>
      <p:sp>
        <p:nvSpPr>
          <p:cNvPr id="21" name="Level 3: Organized dataset"/>
          <p:cNvSpPr/>
          <p:nvPr/>
        </p:nvSpPr>
        <p:spPr>
          <a:xfrm>
            <a:off x="6135624" y="3529584"/>
            <a:ext cx="1801368" cy="2734056"/>
          </a:xfrm>
          <a:prstGeom prst="rect">
            <a:avLst/>
          </a:prstGeom>
          <a:solidFill>
            <a:srgbClr val="009E73">
              <a:alpha val="15000"/>
            </a:srgbClr>
          </a:solidFill>
          <a:ln w="12700">
            <a:solidFill>
              <a:srgbClr val="009E73"/>
            </a:solidFill>
            <a:prstDash val="solid"/>
          </a:ln>
        </p:spPr>
      </p:sp>
      <p:sp>
        <p:nvSpPr>
          <p:cNvPr id="22" name="Tread 3"/>
          <p:cNvSpPr/>
          <p:nvPr/>
        </p:nvSpPr>
        <p:spPr>
          <a:xfrm>
            <a:off x="6135624" y="3529584"/>
            <a:ext cx="1801368" cy="91440"/>
          </a:xfrm>
          <a:prstGeom prst="rect">
            <a:avLst/>
          </a:prstGeom>
          <a:solidFill>
            <a:srgbClr val="009E73"/>
          </a:solidFill>
          <a:ln w="12700">
            <a:solidFill>
              <a:srgbClr val="009E73"/>
            </a:solidFill>
            <a:prstDash val="solid"/>
          </a:ln>
        </p:spPr>
      </p:sp>
      <p:sp>
        <p:nvSpPr>
          <p:cNvPr id="23" name="Badge 2"/>
          <p:cNvSpPr/>
          <p:nvPr/>
        </p:nvSpPr>
        <p:spPr>
          <a:xfrm>
            <a:off x="6208776" y="3712464"/>
            <a:ext cx="292608" cy="292608"/>
          </a:xfrm>
          <a:prstGeom prst="ellipse">
            <a:avLst/>
          </a:prstGeom>
          <a:solidFill>
            <a:srgbClr val="009E7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08776" y="3712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556248" y="3694176"/>
            <a:ext cx="1307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organization standards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6227064" y="4114800"/>
            <a:ext cx="1618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BIDS or DANDI-layout dataset</a:t>
            </a:r>
            <a:endParaRPr lang="en-US" sz="900" dirty="0"/>
          </a:p>
        </p:txBody>
      </p:sp>
      <p:sp>
        <p:nvSpPr>
          <p:cNvPr id="27" name="Label level 3"/>
          <p:cNvSpPr txBox="1"/>
          <p:nvPr/>
        </p:nvSpPr>
        <p:spPr>
          <a:xfrm>
            <a:off x="6153912" y="2615184"/>
            <a:ext cx="17647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3</a:t>
            </a:r>
            <a:endParaRPr lang="en-US" sz="95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Organized dataset</a:t>
            </a:r>
            <a:endParaRPr lang="en-US" sz="950" dirty="0"/>
          </a:p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FAIR: </a:t>
            </a:r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R1, R1.3, F2</a:t>
            </a:r>
            <a:endParaRPr lang="en-US" sz="950" dirty="0"/>
          </a:p>
        </p:txBody>
      </p:sp>
      <p:sp>
        <p:nvSpPr>
          <p:cNvPr id="28" name="Level 4: Interoperable"/>
          <p:cNvSpPr/>
          <p:nvPr/>
        </p:nvSpPr>
        <p:spPr>
          <a:xfrm>
            <a:off x="8028432" y="2816352"/>
            <a:ext cx="1801368" cy="3447288"/>
          </a:xfrm>
          <a:prstGeom prst="rect">
            <a:avLst/>
          </a:prstGeom>
          <a:solidFill>
            <a:srgbClr val="CC79A7">
              <a:alpha val="15000"/>
            </a:srgbClr>
          </a:solidFill>
          <a:ln w="12700">
            <a:solidFill>
              <a:srgbClr val="CC79A7"/>
            </a:solidFill>
            <a:prstDash val="solid"/>
          </a:ln>
        </p:spPr>
      </p:sp>
      <p:sp>
        <p:nvSpPr>
          <p:cNvPr id="29" name="Tread 4"/>
          <p:cNvSpPr/>
          <p:nvPr/>
        </p:nvSpPr>
        <p:spPr>
          <a:xfrm>
            <a:off x="8028432" y="2816352"/>
            <a:ext cx="1801368" cy="91440"/>
          </a:xfrm>
          <a:prstGeom prst="rect">
            <a:avLst/>
          </a:prstGeom>
          <a:solidFill>
            <a:srgbClr val="CC79A7"/>
          </a:solidFill>
          <a:ln w="12700">
            <a:solidFill>
              <a:srgbClr val="CC79A7"/>
            </a:solidFill>
            <a:prstDash val="solid"/>
          </a:ln>
        </p:spPr>
      </p:sp>
      <p:sp>
        <p:nvSpPr>
          <p:cNvPr id="30" name="Badge 4"/>
          <p:cNvSpPr/>
          <p:nvPr/>
        </p:nvSpPr>
        <p:spPr>
          <a:xfrm>
            <a:off x="8101584" y="2999232"/>
            <a:ext cx="292608" cy="292608"/>
          </a:xfrm>
          <a:prstGeom prst="ellipse">
            <a:avLst/>
          </a:prstGeom>
          <a:solidFill>
            <a:srgbClr val="CC79A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01584" y="2999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8449056" y="2980944"/>
            <a:ext cx="1307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Ontologies &amp; terminologies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119872" y="3401568"/>
            <a:ext cx="1618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NCBI Taxonomy, atlas, and HED terms</a:t>
            </a:r>
            <a:endParaRPr lang="en-US" sz="900" dirty="0"/>
          </a:p>
        </p:txBody>
      </p:sp>
      <p:sp>
        <p:nvSpPr>
          <p:cNvPr id="34" name="Label level 4"/>
          <p:cNvSpPr txBox="1"/>
          <p:nvPr/>
        </p:nvSpPr>
        <p:spPr>
          <a:xfrm>
            <a:off x="8046720" y="1901952"/>
            <a:ext cx="17647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4</a:t>
            </a:r>
            <a:endParaRPr lang="en-US" sz="95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Interoperable</a:t>
            </a:r>
            <a:endParaRPr lang="en-US" sz="950" dirty="0"/>
          </a:p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FAIR: </a:t>
            </a:r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I2, I3</a:t>
            </a:r>
            <a:endParaRPr lang="en-US" sz="950" dirty="0"/>
          </a:p>
        </p:txBody>
      </p:sp>
      <p:sp>
        <p:nvSpPr>
          <p:cNvPr id="35" name="Level 5: Findable and reusable record"/>
          <p:cNvSpPr/>
          <p:nvPr/>
        </p:nvSpPr>
        <p:spPr>
          <a:xfrm>
            <a:off x="9921240" y="2103120"/>
            <a:ext cx="1801368" cy="4160520"/>
          </a:xfrm>
          <a:prstGeom prst="rect">
            <a:avLst/>
          </a:prstGeom>
          <a:solidFill>
            <a:srgbClr val="0072B2">
              <a:alpha val="15000"/>
            </a:srgbClr>
          </a:solidFill>
          <a:ln w="12700">
            <a:solidFill>
              <a:srgbClr val="0072B2"/>
            </a:solidFill>
            <a:prstDash val="solid"/>
          </a:ln>
        </p:spPr>
      </p:sp>
      <p:sp>
        <p:nvSpPr>
          <p:cNvPr id="36" name="Tread 5"/>
          <p:cNvSpPr/>
          <p:nvPr/>
        </p:nvSpPr>
        <p:spPr>
          <a:xfrm>
            <a:off x="9921240" y="2103120"/>
            <a:ext cx="1801368" cy="91440"/>
          </a:xfrm>
          <a:prstGeom prst="rect">
            <a:avLst/>
          </a:prstGeom>
          <a:solidFill>
            <a:srgbClr val="0072B2"/>
          </a:solidFill>
          <a:ln w="12700">
            <a:solidFill>
              <a:srgbClr val="0072B2"/>
            </a:solidFill>
            <a:prstDash val="solid"/>
          </a:ln>
        </p:spPr>
      </p:sp>
      <p:sp>
        <p:nvSpPr>
          <p:cNvPr id="37" name="Badge 1"/>
          <p:cNvSpPr/>
          <p:nvPr/>
        </p:nvSpPr>
        <p:spPr>
          <a:xfrm>
            <a:off x="9994392" y="2286000"/>
            <a:ext cx="292608" cy="292608"/>
          </a:xfrm>
          <a:prstGeom prst="ellipse">
            <a:avLst/>
          </a:prstGeom>
          <a:solidFill>
            <a:srgbClr val="0072B2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994392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10341864" y="2267712"/>
            <a:ext cx="1307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archives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10012680" y="2688336"/>
            <a:ext cx="1618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with a DOI on DANDI or EMBER</a:t>
            </a:r>
            <a:endParaRPr lang="en-US" sz="900" dirty="0"/>
          </a:p>
        </p:txBody>
      </p:sp>
      <p:sp>
        <p:nvSpPr>
          <p:cNvPr id="41" name="Label level 5"/>
          <p:cNvSpPr txBox="1"/>
          <p:nvPr/>
        </p:nvSpPr>
        <p:spPr>
          <a:xfrm>
            <a:off x="9939528" y="1188720"/>
            <a:ext cx="17647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5</a:t>
            </a:r>
            <a:endParaRPr lang="en-US" sz="95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Findable and reusable record</a:t>
            </a:r>
            <a:endParaRPr lang="en-US" sz="950" dirty="0"/>
          </a:p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FAIR: </a:t>
            </a:r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F1–F4, A1–A2, R1.1, R1.2</a:t>
            </a:r>
            <a:endParaRPr lang="en-US" sz="950" dirty="0"/>
          </a:p>
        </p:txBody>
      </p:sp>
      <p:sp>
        <p:nvSpPr>
          <p:cNvPr id="42" name="Schema languages: machine-checkable"/>
          <p:cNvSpPr/>
          <p:nvPr/>
        </p:nvSpPr>
        <p:spPr>
          <a:xfrm>
            <a:off x="4315968" y="5806440"/>
            <a:ext cx="354787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56B4E9"/>
            </a:solidFill>
            <a:prstDash val="solid"/>
          </a:ln>
        </p:spPr>
      </p:sp>
      <p:sp>
        <p:nvSpPr>
          <p:cNvPr id="43" name="Badge 6"/>
          <p:cNvSpPr/>
          <p:nvPr/>
        </p:nvSpPr>
        <p:spPr>
          <a:xfrm>
            <a:off x="4407408" y="5852160"/>
            <a:ext cx="256032" cy="256032"/>
          </a:xfrm>
          <a:prstGeom prst="ellipse">
            <a:avLst/>
          </a:prstGeom>
          <a:solidFill>
            <a:srgbClr val="56B4E9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407408" y="58521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4718304" y="5806440"/>
            <a:ext cx="3072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languages: levels 2 and 3 machine-checkable</a:t>
            </a:r>
            <a:endParaRPr lang="en-US" sz="950" dirty="0"/>
          </a:p>
        </p:txBody>
      </p:sp>
      <p:sp>
        <p:nvSpPr>
          <p:cNvPr id="46" name="Climbing arrow"/>
          <p:cNvSpPr/>
          <p:nvPr/>
        </p:nvSpPr>
        <p:spPr>
          <a:xfrm flipV="1">
            <a:off x="822960" y="758952"/>
            <a:ext cx="9262872" cy="3355848"/>
          </a:xfrm>
          <a:prstGeom prst="line">
            <a:avLst/>
          </a:prstGeom>
          <a:noFill/>
          <a:ln w="38100">
            <a:solidFill>
              <a:srgbClr val="9AA5B1"/>
            </a:solidFill>
            <a:prstDash val="solid"/>
            <a:tailEnd type="triangle"/>
          </a:ln>
        </p:spPr>
      </p:sp>
      <p:sp>
        <p:nvSpPr>
          <p:cNvPr id="47" name="Flag pole"/>
          <p:cNvSpPr/>
          <p:nvPr/>
        </p:nvSpPr>
        <p:spPr>
          <a:xfrm>
            <a:off x="10195560" y="301752"/>
            <a:ext cx="0" cy="502920"/>
          </a:xfrm>
          <a:prstGeom prst="line">
            <a:avLst/>
          </a:prstGeom>
          <a:noFill/>
          <a:ln w="19050">
            <a:solidFill>
              <a:srgbClr val="1F2933"/>
            </a:solidFill>
            <a:prstDash val="solid"/>
          </a:ln>
        </p:spPr>
      </p:sp>
      <p:sp>
        <p:nvSpPr>
          <p:cNvPr id="48" name="Flag"/>
          <p:cNvSpPr/>
          <p:nvPr/>
        </p:nvSpPr>
        <p:spPr>
          <a:xfrm rot="5400000">
            <a:off x="10213848" y="320040"/>
            <a:ext cx="274320" cy="219456"/>
          </a:xfrm>
          <a:prstGeom prst="triangle">
            <a:avLst/>
          </a:prstGeom>
          <a:solidFill>
            <a:srgbClr val="0072B2"/>
          </a:solidFill>
          <a:ln w="12700">
            <a:solidFill>
              <a:srgbClr val="0072B2"/>
            </a:solidFill>
            <a:prstDash val="solid"/>
          </a:ln>
        </p:spPr>
      </p:sp>
      <p:sp>
        <p:nvSpPr>
          <p:cNvPr id="49" name="Climbing label"/>
          <p:cNvSpPr txBox="1"/>
          <p:nvPr/>
        </p:nvSpPr>
        <p:spPr>
          <a:xfrm>
            <a:off x="457200" y="91440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Climbing the levels:</a:t>
            </a:r>
            <a:endParaRPr lang="en-US" sz="1150" dirty="0"/>
          </a:p>
          <a:p>
            <a:pPr indent="0" marL="0">
              <a:buNone/>
            </a:pPr>
            <a:r>
              <a:rPr lang="en-US" sz="11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become easier to find,</a:t>
            </a:r>
            <a:endParaRPr lang="en-US" sz="1150" dirty="0"/>
          </a:p>
          <a:p>
            <a:pPr indent="0" marL="0">
              <a:buNone/>
            </a:pPr>
            <a:r>
              <a:rPr lang="en-US" sz="11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understand, combine, and reuse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457200" y="6382512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1–6 are the layers of Fig. 1 and Table 1. FAIR = FAIR principles mainly addressed (full text in the speaker notes).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Fig. 2 design: levels of FAIRness and the layers that enable them</dc:title>
  <dc:subject>PptxGenJS Presentation</dc:subject>
  <dc:creator>PptxGenJS</dc:creator>
  <cp:lastModifiedBy>PptxGenJS</cp:lastModifiedBy>
  <cp:revision>1</cp:revision>
  <dcterms:created xsi:type="dcterms:W3CDTF">2026-10-15T08:59:25Z</dcterms:created>
  <dcterms:modified xsi:type="dcterms:W3CDTF">2026-10-15T08:59:25Z</dcterms:modified>
</cp:coreProperties>
</file>