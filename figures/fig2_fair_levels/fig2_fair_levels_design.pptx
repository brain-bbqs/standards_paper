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/>
    <p:restoredTop sz="92144"/>
  </p:normalViewPr>
  <p:slideViewPr>
    <p:cSldViewPr snapToGrid="0" snapToObjects="1">
      <p:cViewPr varScale="1">
        <p:scale>
          <a:sx n="140" d="100"/>
          <a:sy n="140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01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2 design draft: levels of FAIRness and the layers that enable them. Steps follow the visual style and layer numbers (1-6) of Fig. 1. Steps are linked to layers by colour and number badge rather than connector lines (TODO F7).
FAIR PRINCIPLES PER LEVEL (Wilkinson et al. 2016, Sci Data 3:160018). The mapping to the RDA FAIR Data Maturity Model indicators is in Suppl. Table S2 only.
LEVEL 0, OPAQUE (NO STANDARD)
FAIR principles: none
LEVEL 1, READABLE (1 DATA FORMATS)
FAIR principles:
  I1: (Meta)data use a formal, accessible, shared, and broadly applicable language for knowledge representation.
LEVEL 2, INTERPRETABLE FILES (2 FILE ORGANIZATION STANDARDS)
FAIR principles:
  R1: (Meta)data are richly described with a plurality of accurate and relevant attributes.
  R1.3: (Meta)data meet domain-relevant community standards.
LEVEL 3, ORGANIZED DATASET (3 DATASET ORGANIZATION STANDARDS)
FAIR principles:
  R1: (Meta)data are richly described with a plurality of accurate and relevant attributes.
  R1.3: (Meta)data meet domain-relevant community standards.
  F2: Data are described with rich metadata (defined by R1).
LEVEL 4, INTEROPERABLE (4 ONTOLOGIES &amp; TERMINOLOGIES)
FAIR principles:
  I2: (Meta)data use vocabularies that follow FAIR principles.
  I3: (Meta)data include qualified references to other (meta)data.
LEVEL 5, FINDABLE AND REUSABLE RECORD (5 DATA ARCHIVES)
FAIR principles:
  F1: (Meta)data are assigned a globally unique and persistent identifier.
  F2: Data are described with rich metadata (defined by R1).
  F3: Metadata clearly and explicitly include the identifier of the data they describe.
  F4: (Meta)data are registered or indexed in a searchable resource.
  A1: (Meta)data are retrievable by their identifier using a standardised communications protocol.
  A1.1: The protocol is open, free, and universally implementable.
  A1.2: The protocol allows for an authentication and authorisation procedure, where necessary.
  A2: Metadata are accessible, even when the data are no longer available.
  R1.1: (Meta)data are released with a clear and accessible data usage licence.
  R1.2: (Meta)data are associated with detailed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 0: Opaque"/>
          <p:cNvSpPr/>
          <p:nvPr/>
        </p:nvSpPr>
        <p:spPr>
          <a:xfrm>
            <a:off x="457200" y="5669280"/>
            <a:ext cx="1801368" cy="594360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read 0"/>
          <p:cNvSpPr/>
          <p:nvPr/>
        </p:nvSpPr>
        <p:spPr>
          <a:xfrm>
            <a:off x="457200" y="5669280"/>
            <a:ext cx="1801368" cy="91440"/>
          </a:xfrm>
          <a:prstGeom prst="rect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5833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.bin voltage traces</a:t>
            </a:r>
            <a:endParaRPr lang="en-US" sz="1050" dirty="0"/>
          </a:p>
        </p:txBody>
      </p:sp>
      <p:sp>
        <p:nvSpPr>
          <p:cNvPr id="6" name="Label level 0"/>
          <p:cNvSpPr txBox="1"/>
          <p:nvPr/>
        </p:nvSpPr>
        <p:spPr>
          <a:xfrm>
            <a:off x="475488" y="4754880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7" name="Level 1: Readable"/>
          <p:cNvSpPr/>
          <p:nvPr/>
        </p:nvSpPr>
        <p:spPr>
          <a:xfrm>
            <a:off x="2350008" y="4956048"/>
            <a:ext cx="1801368" cy="1307592"/>
          </a:xfrm>
          <a:prstGeom prst="rect">
            <a:avLst/>
          </a:prstGeom>
          <a:solidFill>
            <a:srgbClr val="E69F00">
              <a:alpha val="15000"/>
            </a:srgbClr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read 1"/>
          <p:cNvSpPr/>
          <p:nvPr/>
        </p:nvSpPr>
        <p:spPr>
          <a:xfrm>
            <a:off x="2350008" y="4956048"/>
            <a:ext cx="1801368" cy="91440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adge 1"/>
          <p:cNvSpPr/>
          <p:nvPr/>
        </p:nvSpPr>
        <p:spPr>
          <a:xfrm>
            <a:off x="2423160" y="5138928"/>
            <a:ext cx="292608" cy="292608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4231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51206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formats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5541264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HDF5 or Zarr file</a:t>
            </a:r>
            <a:endParaRPr lang="en-US" sz="1050" dirty="0"/>
          </a:p>
        </p:txBody>
      </p:sp>
      <p:sp>
        <p:nvSpPr>
          <p:cNvPr id="13" name="Label level 1"/>
          <p:cNvSpPr txBox="1"/>
          <p:nvPr/>
        </p:nvSpPr>
        <p:spPr>
          <a:xfrm>
            <a:off x="2368296" y="4041648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</a:t>
            </a:r>
            <a:endParaRPr lang="en-US" sz="1050" dirty="0"/>
          </a:p>
        </p:txBody>
      </p:sp>
      <p:sp>
        <p:nvSpPr>
          <p:cNvPr id="14" name="Level 2: Interpretable files"/>
          <p:cNvSpPr/>
          <p:nvPr/>
        </p:nvSpPr>
        <p:spPr>
          <a:xfrm>
            <a:off x="4242816" y="4242816"/>
            <a:ext cx="1801368" cy="2020824"/>
          </a:xfrm>
          <a:prstGeom prst="rect">
            <a:avLst/>
          </a:prstGeom>
          <a:solidFill>
            <a:srgbClr val="D55E00">
              <a:alpha val="15000"/>
            </a:srgbClr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read 2"/>
          <p:cNvSpPr/>
          <p:nvPr/>
        </p:nvSpPr>
        <p:spPr>
          <a:xfrm>
            <a:off x="4242816" y="4242816"/>
            <a:ext cx="1801368" cy="91440"/>
          </a:xfrm>
          <a:prstGeom prst="rect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2"/>
          <p:cNvSpPr/>
          <p:nvPr/>
        </p:nvSpPr>
        <p:spPr>
          <a:xfrm>
            <a:off x="4315968" y="4425696"/>
            <a:ext cx="292608" cy="292608"/>
          </a:xfrm>
          <a:prstGeom prst="ellipse">
            <a:avLst/>
          </a:prstGeom>
          <a:solidFill>
            <a:srgbClr val="D55E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315968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07408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organization standards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34256" y="4828032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NWB file</a:t>
            </a:r>
            <a:endParaRPr lang="en-US" sz="1050" dirty="0"/>
          </a:p>
        </p:txBody>
      </p:sp>
      <p:sp>
        <p:nvSpPr>
          <p:cNvPr id="20" name="Label level 2"/>
          <p:cNvSpPr txBox="1"/>
          <p:nvPr/>
        </p:nvSpPr>
        <p:spPr>
          <a:xfrm>
            <a:off x="4261104" y="3328416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files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 R1.3</a:t>
            </a:r>
            <a:endParaRPr lang="en-US" sz="1050" dirty="0"/>
          </a:p>
        </p:txBody>
      </p:sp>
      <p:sp>
        <p:nvSpPr>
          <p:cNvPr id="21" name="Level 3: Organized dataset"/>
          <p:cNvSpPr/>
          <p:nvPr/>
        </p:nvSpPr>
        <p:spPr>
          <a:xfrm>
            <a:off x="6135624" y="3529584"/>
            <a:ext cx="1801368" cy="2734056"/>
          </a:xfrm>
          <a:prstGeom prst="rect">
            <a:avLst/>
          </a:prstGeom>
          <a:solidFill>
            <a:srgbClr val="009E73">
              <a:alpha val="15000"/>
            </a:srgbClr>
          </a:solidFill>
          <a:ln w="127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read 3"/>
          <p:cNvSpPr/>
          <p:nvPr/>
        </p:nvSpPr>
        <p:spPr>
          <a:xfrm>
            <a:off x="6135624" y="3529584"/>
            <a:ext cx="1801368" cy="91440"/>
          </a:xfrm>
          <a:prstGeom prst="rect">
            <a:avLst/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adge 3"/>
          <p:cNvSpPr/>
          <p:nvPr/>
        </p:nvSpPr>
        <p:spPr>
          <a:xfrm>
            <a:off x="6208776" y="3712464"/>
            <a:ext cx="292608" cy="292608"/>
          </a:xfrm>
          <a:prstGeom prst="ellipse">
            <a:avLst/>
          </a:prstGeom>
          <a:solidFill>
            <a:srgbClr val="009E7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208776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739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organization standards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81344" y="425196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files organized in a BIDS dataset</a:t>
            </a:r>
            <a:endParaRPr lang="en-US" sz="1050" dirty="0"/>
          </a:p>
        </p:txBody>
      </p:sp>
      <p:sp>
        <p:nvSpPr>
          <p:cNvPr id="27" name="Label level 3"/>
          <p:cNvSpPr txBox="1"/>
          <p:nvPr/>
        </p:nvSpPr>
        <p:spPr>
          <a:xfrm>
            <a:off x="6153912" y="2615184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R1, R1.3, F2</a:t>
            </a:r>
            <a:endParaRPr lang="en-US" sz="1050" dirty="0"/>
          </a:p>
        </p:txBody>
      </p:sp>
      <p:sp>
        <p:nvSpPr>
          <p:cNvPr id="28" name="Level 4: Interoperable"/>
          <p:cNvSpPr/>
          <p:nvPr/>
        </p:nvSpPr>
        <p:spPr>
          <a:xfrm>
            <a:off x="8028432" y="2816352"/>
            <a:ext cx="1801368" cy="3447288"/>
          </a:xfrm>
          <a:prstGeom prst="rect">
            <a:avLst/>
          </a:prstGeom>
          <a:solidFill>
            <a:srgbClr val="CC79A7">
              <a:alpha val="15000"/>
            </a:srgbClr>
          </a:solidFill>
          <a:ln w="1270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read 4"/>
          <p:cNvSpPr/>
          <p:nvPr/>
        </p:nvSpPr>
        <p:spPr>
          <a:xfrm>
            <a:off x="8028432" y="2816352"/>
            <a:ext cx="1801368" cy="91440"/>
          </a:xfrm>
          <a:prstGeom prst="rect">
            <a:avLst/>
          </a:prstGeom>
          <a:solidFill>
            <a:srgbClr val="CC79A7"/>
          </a:solidFill>
          <a:ln w="1270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adge 4"/>
          <p:cNvSpPr/>
          <p:nvPr/>
        </p:nvSpPr>
        <p:spPr>
          <a:xfrm>
            <a:off x="8101584" y="2999232"/>
            <a:ext cx="292608" cy="292608"/>
          </a:xfrm>
          <a:prstGeom prst="ellipse">
            <a:avLst/>
          </a:prstGeom>
          <a:solidFill>
            <a:srgbClr val="CC79A7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101584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449056" y="2980944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&amp; terminologies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3401568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NCBI Taxonomy, atlas, and HED terms</a:t>
            </a:r>
            <a:endParaRPr lang="en-US" sz="1050" dirty="0"/>
          </a:p>
        </p:txBody>
      </p:sp>
      <p:sp>
        <p:nvSpPr>
          <p:cNvPr id="34" name="Label level 4"/>
          <p:cNvSpPr txBox="1"/>
          <p:nvPr/>
        </p:nvSpPr>
        <p:spPr>
          <a:xfrm>
            <a:off x="8046720" y="1901952"/>
            <a:ext cx="176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I2, I3</a:t>
            </a:r>
            <a:endParaRPr lang="en-US" sz="1050" dirty="0"/>
          </a:p>
        </p:txBody>
      </p:sp>
      <p:sp>
        <p:nvSpPr>
          <p:cNvPr id="35" name="Level 5: Findable and reusable record"/>
          <p:cNvSpPr/>
          <p:nvPr/>
        </p:nvSpPr>
        <p:spPr>
          <a:xfrm>
            <a:off x="9921240" y="2103120"/>
            <a:ext cx="1801368" cy="4160520"/>
          </a:xfrm>
          <a:prstGeom prst="rect">
            <a:avLst/>
          </a:prstGeom>
          <a:solidFill>
            <a:srgbClr val="0072B2">
              <a:alpha val="15000"/>
            </a:srgbClr>
          </a:solidFill>
          <a:ln w="127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read 5"/>
          <p:cNvSpPr/>
          <p:nvPr/>
        </p:nvSpPr>
        <p:spPr>
          <a:xfrm>
            <a:off x="9921240" y="2103120"/>
            <a:ext cx="1801368" cy="9144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adge 5"/>
          <p:cNvSpPr/>
          <p:nvPr/>
        </p:nvSpPr>
        <p:spPr>
          <a:xfrm>
            <a:off x="9994392" y="2286000"/>
            <a:ext cx="292608" cy="292608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99439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341864" y="226771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archives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012680" y="2688336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with a DOI and detailed metadata on EMBER</a:t>
            </a:r>
            <a:endParaRPr lang="en-US" sz="1050" dirty="0"/>
          </a:p>
        </p:txBody>
      </p:sp>
      <p:sp>
        <p:nvSpPr>
          <p:cNvPr id="41" name="Label level 5"/>
          <p:cNvSpPr txBox="1"/>
          <p:nvPr/>
        </p:nvSpPr>
        <p:spPr>
          <a:xfrm>
            <a:off x="9921240" y="1188720"/>
            <a:ext cx="2002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and reusable record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FAIR: </a:t>
            </a: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F1–F4, A1–A2, R1.1, R1.2</a:t>
            </a:r>
            <a:endParaRPr lang="en-US" sz="1050" dirty="0"/>
          </a:p>
        </p:txBody>
      </p:sp>
      <p:sp>
        <p:nvSpPr>
          <p:cNvPr id="42" name="Schema languages: machine-checkable"/>
          <p:cNvSpPr/>
          <p:nvPr/>
        </p:nvSpPr>
        <p:spPr>
          <a:xfrm>
            <a:off x="4315968" y="5806440"/>
            <a:ext cx="35478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Badge 6"/>
          <p:cNvSpPr/>
          <p:nvPr/>
        </p:nvSpPr>
        <p:spPr>
          <a:xfrm>
            <a:off x="4407408" y="5852160"/>
            <a:ext cx="256032" cy="256032"/>
          </a:xfrm>
          <a:prstGeom prst="ellipse">
            <a:avLst/>
          </a:prstGeom>
          <a:solidFill>
            <a:srgbClr val="56B4E9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407408" y="5852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764024" y="580644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languages: levels 2 and 3 machine-checkable</a:t>
            </a:r>
            <a:endParaRPr lang="en-US" sz="1200" dirty="0"/>
          </a:p>
        </p:txBody>
      </p:sp>
      <p:sp>
        <p:nvSpPr>
          <p:cNvPr id="46" name="Climbing arrow"/>
          <p:cNvSpPr/>
          <p:nvPr/>
        </p:nvSpPr>
        <p:spPr>
          <a:xfrm flipV="1">
            <a:off x="1189190" y="749808"/>
            <a:ext cx="9061234" cy="342900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Graphic 52" descr="Flag with solid fill">
            <a:extLst>
              <a:ext uri="{FF2B5EF4-FFF2-40B4-BE49-F238E27FC236}">
                <a16:creationId xmlns:a16="http://schemas.microsoft.com/office/drawing/2014/main" id="{244B8326-F86B-04DE-2F29-AD1E4E46A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584"/>
          <a:stretch>
            <a:fillRect/>
          </a:stretch>
        </p:blipFill>
        <p:spPr>
          <a:xfrm>
            <a:off x="10281372" y="350157"/>
            <a:ext cx="981385" cy="74993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586CD98-5D00-AD6D-7DC9-2FD4DC99641D}"/>
              </a:ext>
            </a:extLst>
          </p:cNvPr>
          <p:cNvSpPr txBox="1"/>
          <p:nvPr/>
        </p:nvSpPr>
        <p:spPr>
          <a:xfrm>
            <a:off x="10618176" y="488462"/>
            <a:ext cx="415926" cy="254000"/>
          </a:xfrm>
          <a:prstGeom prst="rect">
            <a:avLst/>
          </a:prstGeom>
          <a:noFill/>
        </p:spPr>
        <p:txBody>
          <a:bodyPr wrap="none" rtlCol="0">
            <a:prstTxWarp prst="textWave1">
              <a:avLst/>
            </a:prstTxWarp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FAIR</a:t>
            </a:r>
          </a:p>
        </p:txBody>
      </p:sp>
      <p:pic>
        <p:nvPicPr>
          <p:cNvPr id="56" name="Graphic 55" descr="Lock with solid fill">
            <a:extLst>
              <a:ext uri="{FF2B5EF4-FFF2-40B4-BE49-F238E27FC236}">
                <a16:creationId xmlns:a16="http://schemas.microsoft.com/office/drawing/2014/main" id="{621258FB-CC87-E563-0E26-70CA9490C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50" y="4006901"/>
            <a:ext cx="543217" cy="543217"/>
          </a:xfrm>
          <a:prstGeom prst="rect">
            <a:avLst/>
          </a:prstGeom>
        </p:spPr>
      </p:pic>
      <p:pic>
        <p:nvPicPr>
          <p:cNvPr id="58" name="Graphic 57" descr="Paper outline">
            <a:extLst>
              <a:ext uri="{FF2B5EF4-FFF2-40B4-BE49-F238E27FC236}">
                <a16:creationId xmlns:a16="http://schemas.microsoft.com/office/drawing/2014/main" id="{679330AB-F249-C596-4DF7-4FA885D1E5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2987"/>
          <a:stretch>
            <a:fillRect/>
          </a:stretch>
        </p:blipFill>
        <p:spPr>
          <a:xfrm>
            <a:off x="457200" y="3759355"/>
            <a:ext cx="731989" cy="841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616</Words>
  <Application>Microsoft Macintosh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Fig. 2 design: levels of FAIRness and the layers that enable them</dc:title>
  <dc:subject>PptxGenJS Presentation</dc:subject>
  <dc:creator>PptxGenJS</dc:creator>
  <cp:lastModifiedBy>Oliver Ruebel</cp:lastModifiedBy>
  <cp:revision>2</cp:revision>
  <dcterms:created xsi:type="dcterms:W3CDTF">2026-10-15T08:59:25Z</dcterms:created>
  <dcterms:modified xsi:type="dcterms:W3CDTF">2026-10-15T09:25:31Z</dcterms:modified>
</cp:coreProperties>
</file>