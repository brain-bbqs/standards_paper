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2 design draft: levels of FAIRness and the layers that enable them. Steps follow the visual style and layer numbers (1-6) of Fig. 1. Steps are linked to layers by colour and number badge rather than connector lines (TODO F7).
EXPLICIT MAPPING (check with a FAIR expert, TODO C6). FAIR principles: Wilkinson et al. 2016, Sci Data 3:160018. RDA indicators: RDA FAIR Data Maturity Model v1.0 (doi:10.15497/rda00050); IDs shown in the figure without the 'RDA-' prefix; RDA priority in brackets. Many indicators depend on several layers; Suppl. Table S2 lists all contributions. F2 and R1.2 are met jointly by levels 2-3 (content) and level 5 (exposure).
LEVEL 0, OPAQUE (NO STANDARD)
FAIR principles: none
RDA indicators: none
LEVEL 1, READABLE (5 DATA FORMATS)
FAIR principles:
  I1: (Meta)data use a formal, accessible, shared, and broadly applicable language for knowledge representation.
RDA indicators:
  RDA-I1-01D: Data uses knowledge representation expressed in standardised format [important]
LEVEL 2, INTERPRETABLE FILES (3 FILE ORGANIZATION STANDARDS)
FAIR principles:
  R1: (Meta)data are richly described with a plurality of accurate and relevant attributes.
  R1.3: (Meta)data meet domain-relevant community standards.
RDA indicators:
  RDA-R1.3-01D: Data complies with a community standard [essential]
  RDA-R1.3-02D: Data is expressed in compliance with a machine-understandable community standard [important]
  RDA-I1-02D: Data uses machine-understandable knowledge representation [important]
LEVEL 3, ORGANIZED DATASET (2 DATASET ORGANIZATION STANDARDS)
FAIR principles:
  R1: (Meta)data are richly described with a plurality of accurate and relevant attributes.
  R1.3: (Meta)data meet domain-relevant community standards.
  F2: Data are described with rich metadata (defined by R1).
RDA indicators:
  RDA-R1.3-01M: Metadata complies with a community standard [essential]
  RDA-R1.3-02M: Metadata is expressed in compliance with a machine-understandable community standard [essential]
  RDA-I1-01M: Metadata uses knowledge representation expressed in standardised format [important]
  RDA-I1-02M: Metadata uses machine-understandable knowledge representation [important]
  RDA-R1-01M: Plurality of accurate and relevant attributes are provided to allow reuse [essential]
LEVEL 4, INTEROPERABLE (4 ONTOLOGIES &amp; TERMINOLOGIES)
FAIR principles:
  I2: (Meta)data use vocabularies that follow FAIR principles.
  I3: (Meta)data include qualified references to other (meta)data.
RDA indicators:
  RDA-I2-01M: Metadata uses FAIR-compliant vocabularies [important]
  RDA-I2-01D: Data uses FAIR-compliant vocabularies [useful]
  RDA-I3-01M: Metadata includes references to other metadata [important]
  RDA-I3-02M: Metadata includes references to other data [useful]
  RDA-I3-03M: Metadata includes qualified references to other metadata [important]
  RDA-I3-04M: Metadata include qualified references to other data [useful]
  RDA-I3-01D: Data includes references to other data [useful]
  RDA-I3-02D: Data includes qualified references to other data [useful]
LEVEL 5, FINDABLE AND REUSABLE RECORD (1 DATA ARCHIVES)
FAIR principles:
  F1: (Meta)data are assigned a globally unique and persistent identifier.
  F2: Data are described with rich metadata (defined by R1).
  F3: Metadata clearly and explicitly include the identifier of the data they describe.
  F4: (Meta)data are registered or indexed in a searchable resource.
  A1: (Meta)data are retrievable by their identifier using a standardised communications protocol.
  A1.1: The protocol is open, free, and universally implementable.
  A1.2: The protocol allows for an authentication and authorisation procedure, where necessary.
  A2: Metadata are accessible, even when the data are no longer available.
  R1.1: (Meta)data are released with a clear and accessible data usage licence.
  R1.2: (Meta)data are associated with detailed provenance.
RDA indicators:
  RDA-F1-01M: Metadata is identified by a persistent identifier [essential]
  RDA-F1-01D: Data is identified by a persistent identifier [essential]
  RDA-F1-02M: Metadata is identified by a globally unique identifier [essential]
  RDA-F1-02D: Data is identified by a globally unique identifier [essential]
  RDA-F2-01M: Rich metadata is provided to allow discovery [essential]
  RDA-F3-01M: Metadata includes the identifier for the data [essential]
  RDA-F4-01M: Metadata is offered in such a way that it can be harvested and indexed [essential]
  RDA-A1-01M: Metadata contains information to enable the user to get access to the data [important]
  RDA-A1-02M: Metadata can be accessed manually (i.e. with human intervention) [essential]
  RDA-A1-02D: Data can be accessed manually (i.e. with human intervention) [essential]
  RDA-A1-03M: Metadata identifier resolves to a metadata record [essential]
  RDA-A1-03D: Data identifier resolves to a digital object [essential]
  RDA-A1-04M: Metadata is accessed through standardised protocol [essential]
  RDA-A1-04D: Data is accessible through standardised protocol [essential]
  RDA-A1-05D: Data can be accessed automatically (i.e. by a computer program) [important]
  RDA-A1.1-01M: Metadata is accessible through a free access protocol [essential]
  RDA-A1.1-01D: Data is accessible through a free access protocol [important]
  RDA-A1.2-01D: Data is accessible through an access protocol that supports authentication and authorisation [useful]
  RDA-A2-01M: Metadata is guaranteed to remain available after data is no longer available [essential]
  RDA-R1.1-01M: Metadata includes information about the licence under which the data can be reused [essential]
  RDA-R1.1-02M: Metadata refers to a standard reuse licence [important]
  RDA-R1.1-03M: Metadata refers to a machine-understandable reuse licence [important]
  RDA-R1.2-01M: Metadata includes provenance information according to community-specific standards [important]
  RDA-R1.2-02M: Metadata includes provenance information according to a cross-domain language [useful]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 0: Opaque"/>
          <p:cNvSpPr/>
          <p:nvPr/>
        </p:nvSpPr>
        <p:spPr>
          <a:xfrm>
            <a:off x="457200" y="5669280"/>
            <a:ext cx="1801368" cy="59436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3" name="Tread 0"/>
          <p:cNvSpPr/>
          <p:nvPr/>
        </p:nvSpPr>
        <p:spPr>
          <a:xfrm>
            <a:off x="457200" y="5669280"/>
            <a:ext cx="1801368" cy="91440"/>
          </a:xfrm>
          <a:prstGeom prst="rect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833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.bin voltage traces</a:t>
            </a:r>
            <a:endParaRPr lang="en-US" sz="900" dirty="0"/>
          </a:p>
        </p:txBody>
      </p:sp>
      <p:sp>
        <p:nvSpPr>
          <p:cNvPr id="6" name="Label level 0"/>
          <p:cNvSpPr txBox="1"/>
          <p:nvPr/>
        </p:nvSpPr>
        <p:spPr>
          <a:xfrm>
            <a:off x="475488" y="4462272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0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950" dirty="0"/>
          </a:p>
        </p:txBody>
      </p:sp>
      <p:sp>
        <p:nvSpPr>
          <p:cNvPr id="7" name="Level 1: Readable"/>
          <p:cNvSpPr/>
          <p:nvPr/>
        </p:nvSpPr>
        <p:spPr>
          <a:xfrm>
            <a:off x="2350008" y="4956048"/>
            <a:ext cx="1801368" cy="1307592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8" name="Tread 1"/>
          <p:cNvSpPr/>
          <p:nvPr/>
        </p:nvSpPr>
        <p:spPr>
          <a:xfrm>
            <a:off x="2350008" y="4956048"/>
            <a:ext cx="1801368" cy="91440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9" name="Badge 5"/>
          <p:cNvSpPr/>
          <p:nvPr/>
        </p:nvSpPr>
        <p:spPr>
          <a:xfrm>
            <a:off x="2423160" y="5138928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231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5120640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554126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 HDF5 file</a:t>
            </a:r>
            <a:endParaRPr lang="en-US" sz="900" dirty="0"/>
          </a:p>
        </p:txBody>
      </p:sp>
      <p:sp>
        <p:nvSpPr>
          <p:cNvPr id="13" name="Label level 1"/>
          <p:cNvSpPr txBox="1"/>
          <p:nvPr/>
        </p:nvSpPr>
        <p:spPr>
          <a:xfrm>
            <a:off x="2368296" y="3749040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I1-01D</a:t>
            </a:r>
            <a:endParaRPr lang="en-US" sz="950" dirty="0"/>
          </a:p>
        </p:txBody>
      </p:sp>
      <p:sp>
        <p:nvSpPr>
          <p:cNvPr id="14" name="Level 2: Interpretable files"/>
          <p:cNvSpPr/>
          <p:nvPr/>
        </p:nvSpPr>
        <p:spPr>
          <a:xfrm>
            <a:off x="4242816" y="4242816"/>
            <a:ext cx="1801368" cy="2020824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5" name="Tread 2"/>
          <p:cNvSpPr/>
          <p:nvPr/>
        </p:nvSpPr>
        <p:spPr>
          <a:xfrm>
            <a:off x="4242816" y="4242816"/>
            <a:ext cx="1801368" cy="91440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6" name="Badge 3"/>
          <p:cNvSpPr/>
          <p:nvPr/>
        </p:nvSpPr>
        <p:spPr>
          <a:xfrm>
            <a:off x="4315968" y="4425696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407408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334256" y="4828032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NWB file</a:t>
            </a:r>
            <a:endParaRPr lang="en-US" sz="900" dirty="0"/>
          </a:p>
        </p:txBody>
      </p:sp>
      <p:sp>
        <p:nvSpPr>
          <p:cNvPr id="20" name="Label level 2"/>
          <p:cNvSpPr txBox="1"/>
          <p:nvPr/>
        </p:nvSpPr>
        <p:spPr>
          <a:xfrm>
            <a:off x="4261104" y="3035808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files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R1.3-01D, R1.3-02D,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I1-02D</a:t>
            </a:r>
            <a:endParaRPr lang="en-US" sz="950" dirty="0"/>
          </a:p>
        </p:txBody>
      </p:sp>
      <p:sp>
        <p:nvSpPr>
          <p:cNvPr id="21" name="Level 3: Organized dataset"/>
          <p:cNvSpPr/>
          <p:nvPr/>
        </p:nvSpPr>
        <p:spPr>
          <a:xfrm>
            <a:off x="6135624" y="3529584"/>
            <a:ext cx="1801368" cy="2734056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2" name="Tread 3"/>
          <p:cNvSpPr/>
          <p:nvPr/>
        </p:nvSpPr>
        <p:spPr>
          <a:xfrm>
            <a:off x="6135624" y="3529584"/>
            <a:ext cx="1801368" cy="91440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3" name="Badge 2"/>
          <p:cNvSpPr/>
          <p:nvPr/>
        </p:nvSpPr>
        <p:spPr>
          <a:xfrm>
            <a:off x="6208776" y="3712464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08776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56248" y="3694176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227064" y="4114800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or DANDI-layout dataset</a:t>
            </a:r>
            <a:endParaRPr lang="en-US" sz="900" dirty="0"/>
          </a:p>
        </p:txBody>
      </p:sp>
      <p:sp>
        <p:nvSpPr>
          <p:cNvPr id="27" name="Label level 3"/>
          <p:cNvSpPr txBox="1"/>
          <p:nvPr/>
        </p:nvSpPr>
        <p:spPr>
          <a:xfrm>
            <a:off x="6153912" y="2322576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Organized dataset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R1.3, F2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R1.3-01M/02M,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I1-01M/02M, R1-01M</a:t>
            </a:r>
            <a:endParaRPr lang="en-US" sz="950" dirty="0"/>
          </a:p>
        </p:txBody>
      </p:sp>
      <p:sp>
        <p:nvSpPr>
          <p:cNvPr id="28" name="Level 4: Interoperable"/>
          <p:cNvSpPr/>
          <p:nvPr/>
        </p:nvSpPr>
        <p:spPr>
          <a:xfrm>
            <a:off x="8028432" y="2816352"/>
            <a:ext cx="1801368" cy="3447288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9" name="Tread 4"/>
          <p:cNvSpPr/>
          <p:nvPr/>
        </p:nvSpPr>
        <p:spPr>
          <a:xfrm>
            <a:off x="8028432" y="2816352"/>
            <a:ext cx="1801368" cy="91440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0" name="Badge 4"/>
          <p:cNvSpPr/>
          <p:nvPr/>
        </p:nvSpPr>
        <p:spPr>
          <a:xfrm>
            <a:off x="8101584" y="299923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449056" y="298094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19872" y="340156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NCBI Taxonomy, atlas, and HED terms</a:t>
            </a:r>
            <a:endParaRPr lang="en-US" sz="900" dirty="0"/>
          </a:p>
        </p:txBody>
      </p:sp>
      <p:sp>
        <p:nvSpPr>
          <p:cNvPr id="34" name="Label level 4"/>
          <p:cNvSpPr txBox="1"/>
          <p:nvPr/>
        </p:nvSpPr>
        <p:spPr>
          <a:xfrm>
            <a:off x="8046720" y="1609344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Interoperable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I2, I3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I2-01M/D, I3-01M to 04M,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I3-01D/02D</a:t>
            </a:r>
            <a:endParaRPr lang="en-US" sz="950" dirty="0"/>
          </a:p>
        </p:txBody>
      </p:sp>
      <p:sp>
        <p:nvSpPr>
          <p:cNvPr id="35" name="Level 5: Findable and reusable record"/>
          <p:cNvSpPr/>
          <p:nvPr/>
        </p:nvSpPr>
        <p:spPr>
          <a:xfrm>
            <a:off x="9921240" y="2103120"/>
            <a:ext cx="1801368" cy="4160520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6" name="Tread 5"/>
          <p:cNvSpPr/>
          <p:nvPr/>
        </p:nvSpPr>
        <p:spPr>
          <a:xfrm>
            <a:off x="9921240" y="2103120"/>
            <a:ext cx="1801368" cy="91440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7" name="Badge 1"/>
          <p:cNvSpPr/>
          <p:nvPr/>
        </p:nvSpPr>
        <p:spPr>
          <a:xfrm>
            <a:off x="9994392" y="2286000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99439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41864" y="2267712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688336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with a DOI on DANDI or EMBER</a:t>
            </a:r>
            <a:endParaRPr lang="en-US" sz="900" dirty="0"/>
          </a:p>
        </p:txBody>
      </p:sp>
      <p:sp>
        <p:nvSpPr>
          <p:cNvPr id="41" name="Label level 5"/>
          <p:cNvSpPr txBox="1"/>
          <p:nvPr/>
        </p:nvSpPr>
        <p:spPr>
          <a:xfrm>
            <a:off x="9939528" y="896112"/>
            <a:ext cx="176479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</a:t>
            </a:r>
            <a:endParaRPr lang="en-US" sz="95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and reusable record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F1–F4, A1–A2, R1.1, R1.2</a:t>
            </a:r>
            <a:endParaRPr lang="en-US" sz="950" dirty="0"/>
          </a:p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RDA: </a:t>
            </a:r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F, A, R1.1, R1.2 indicators</a:t>
            </a:r>
            <a:endParaRPr lang="en-US" sz="950" dirty="0"/>
          </a:p>
        </p:txBody>
      </p:sp>
      <p:sp>
        <p:nvSpPr>
          <p:cNvPr id="42" name="Schema languages: machine-checkable"/>
          <p:cNvSpPr/>
          <p:nvPr/>
        </p:nvSpPr>
        <p:spPr>
          <a:xfrm>
            <a:off x="4315968" y="5806440"/>
            <a:ext cx="35478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43" name="Badge 6"/>
          <p:cNvSpPr/>
          <p:nvPr/>
        </p:nvSpPr>
        <p:spPr>
          <a:xfrm>
            <a:off x="4407408" y="5852160"/>
            <a:ext cx="256032" cy="256032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07408" y="5852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718304" y="580644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languages: levels 2 and 3 machine-checkable</a:t>
            </a:r>
            <a:endParaRPr lang="en-US" sz="950" dirty="0"/>
          </a:p>
        </p:txBody>
      </p:sp>
      <p:sp>
        <p:nvSpPr>
          <p:cNvPr id="46" name="Climbing arrow"/>
          <p:cNvSpPr/>
          <p:nvPr/>
        </p:nvSpPr>
        <p:spPr>
          <a:xfrm flipV="1">
            <a:off x="822960" y="758952"/>
            <a:ext cx="9262872" cy="3355848"/>
          </a:xfrm>
          <a:prstGeom prst="line">
            <a:avLst/>
          </a:prstGeom>
          <a:noFill/>
          <a:ln w="381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47" name="Flag pole"/>
          <p:cNvSpPr/>
          <p:nvPr/>
        </p:nvSpPr>
        <p:spPr>
          <a:xfrm>
            <a:off x="10195560" y="301752"/>
            <a:ext cx="0" cy="50292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48" name="Flag"/>
          <p:cNvSpPr/>
          <p:nvPr/>
        </p:nvSpPr>
        <p:spPr>
          <a:xfrm rot="5400000">
            <a:off x="10213848" y="320040"/>
            <a:ext cx="274320" cy="219456"/>
          </a:xfrm>
          <a:prstGeom prst="triangle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49" name="Climbing label"/>
          <p:cNvSpPr txBox="1"/>
          <p:nvPr/>
        </p:nvSpPr>
        <p:spPr>
          <a:xfrm>
            <a:off x="457200" y="9144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Climbing the levels: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become easier to find,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understand, combine, and reuse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38251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1–6 are the layers of Fig. 1 and Table 1. FAIR = FAIR principles mainly addressed; RDA = main RDA FAIR Data Maturity Model indicators (prefix omitted; M metadata, D data). Definitions in the speaker notes; full mapping in Table 2 and Suppl. Table S2.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2 design: levels of FAIRness and the layers that enable them</dc:title>
  <dc:subject>PptxGenJS Presentation</dc:subject>
  <dc:creator>PptxGenJS</dc:creator>
  <cp:lastModifiedBy>PptxGenJS</cp:lastModifiedBy>
  <cp:revision>1</cp:revision>
  <dcterms:created xsi:type="dcterms:W3CDTF">2026-10-15T08:47:59Z</dcterms:created>
  <dcterms:modified xsi:type="dcterms:W3CDTF">2026-10-15T08:47:59Z</dcterms:modified>
</cp:coreProperties>
</file>