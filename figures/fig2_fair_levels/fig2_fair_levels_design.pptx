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 draft for Fig. 2. Left: layer stack (Table 1 order) with schema languages as a side column. Right: six levels of FAIRness as a staircase; each step coloured by the layer that adds it, labelled with FAIR principles and main RDA indicators (Table 2), with the example dataset inside. Colour links steps to layers instead of connector lines (TODO F7).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365760"/>
            <a:ext cx="3566160" cy="320040"/>
          </a:xfrm>
          <a:prstGeom prst="rect">
            <a:avLst/>
          </a:prstGeom>
          <a:noFill/>
          <a:ln/>
        </p:spPr>
        <p:txBody>
          <a:bodyPr wrap="square" lIns="0" tIns="0" rIns="0" bIns="0" rtlCol="0" anchor="ctr"/>
          <a:lstStyle/>
          <a:p>
            <a:pPr indent="0" marL="0">
              <a:buNone/>
            </a:pPr>
            <a:r>
              <a:rPr lang="en-US" sz="1500" b="1" dirty="0">
                <a:solidFill>
                  <a:srgbClr val="1F2933"/>
                </a:solidFill>
                <a:latin typeface="Arial" pitchFamily="34" charset="0"/>
                <a:ea typeface="Arial" pitchFamily="34" charset="-122"/>
                <a:cs typeface="Arial" pitchFamily="34" charset="-120"/>
              </a:rPr>
              <a:t>Layers of the ecosystem</a:t>
            </a:r>
            <a:endParaRPr lang="en-US" sz="1500" dirty="0"/>
          </a:p>
        </p:txBody>
      </p:sp>
      <p:sp>
        <p:nvSpPr>
          <p:cNvPr id="3" name="Layer: Data archives"/>
          <p:cNvSpPr/>
          <p:nvPr/>
        </p:nvSpPr>
        <p:spPr>
          <a:xfrm>
            <a:off x="365760" y="914400"/>
            <a:ext cx="2514600" cy="868680"/>
          </a:xfrm>
          <a:prstGeom prst="roundRect">
            <a:avLst>
              <a:gd name="adj" fmla="val 6316"/>
            </a:avLst>
          </a:prstGeom>
          <a:solidFill>
            <a:srgbClr val="0072B2"/>
          </a:solidFill>
          <a:ln w="12700">
            <a:solidFill>
              <a:srgbClr val="0072B2"/>
            </a:solidFill>
            <a:prstDash val="solid"/>
          </a:ln>
        </p:spPr>
      </p:sp>
      <p:sp>
        <p:nvSpPr>
          <p:cNvPr id="4" name="Text 2"/>
          <p:cNvSpPr txBox="1"/>
          <p:nvPr/>
        </p:nvSpPr>
        <p:spPr>
          <a:xfrm>
            <a:off x="502920" y="1024128"/>
            <a:ext cx="2240280" cy="384048"/>
          </a:xfrm>
          <a:prstGeom prst="rect">
            <a:avLst/>
          </a:prstGeom>
          <a:noFill/>
          <a:ln/>
        </p:spPr>
        <p:txBody>
          <a:bodyPr wrap="square" lIns="0" tIns="0" rIns="0" bIns="0" rtlCol="0" anchor="t"/>
          <a:lstStyle/>
          <a:p>
            <a:pPr indent="0" marL="0">
              <a:buNone/>
            </a:pPr>
            <a:r>
              <a:rPr lang="en-US" sz="1250" b="1" dirty="0">
                <a:solidFill>
                  <a:srgbClr val="FFFFFF"/>
                </a:solidFill>
                <a:latin typeface="Arial" pitchFamily="34" charset="0"/>
                <a:ea typeface="Arial" pitchFamily="34" charset="-122"/>
                <a:cs typeface="Arial" pitchFamily="34" charset="-120"/>
              </a:rPr>
              <a:t>Data archives</a:t>
            </a:r>
            <a:endParaRPr lang="en-US" sz="1250" dirty="0"/>
          </a:p>
        </p:txBody>
      </p:sp>
      <p:sp>
        <p:nvSpPr>
          <p:cNvPr id="5" name="Text 3"/>
          <p:cNvSpPr txBox="1"/>
          <p:nvPr/>
        </p:nvSpPr>
        <p:spPr>
          <a:xfrm>
            <a:off x="502920" y="1444752"/>
            <a:ext cx="2240280" cy="256032"/>
          </a:xfrm>
          <a:prstGeom prst="rect">
            <a:avLst/>
          </a:prstGeom>
          <a:noFill/>
          <a:ln/>
        </p:spPr>
        <p:txBody>
          <a:bodyPr wrap="square" lIns="0" tIns="0" rIns="0" bIns="0" rtlCol="0" anchor="t"/>
          <a:lstStyle/>
          <a:p>
            <a:pPr indent="0" marL="0">
              <a:buNone/>
            </a:pPr>
            <a:r>
              <a:rPr lang="en-US" sz="1000" dirty="0">
                <a:solidFill>
                  <a:srgbClr val="FFFFFF"/>
                </a:solidFill>
                <a:latin typeface="Arial" pitchFamily="34" charset="0"/>
                <a:ea typeface="Arial" pitchFamily="34" charset="-122"/>
                <a:cs typeface="Arial" pitchFamily="34" charset="-120"/>
              </a:rPr>
              <a:t>DANDI, EMBER, OpenNeuro</a:t>
            </a:r>
            <a:endParaRPr lang="en-US" sz="1000" dirty="0"/>
          </a:p>
        </p:txBody>
      </p:sp>
      <p:sp>
        <p:nvSpPr>
          <p:cNvPr id="6" name="Layer: Dataset organization standards"/>
          <p:cNvSpPr/>
          <p:nvPr/>
        </p:nvSpPr>
        <p:spPr>
          <a:xfrm>
            <a:off x="365760" y="1892808"/>
            <a:ext cx="2514600" cy="868680"/>
          </a:xfrm>
          <a:prstGeom prst="roundRect">
            <a:avLst>
              <a:gd name="adj" fmla="val 6316"/>
            </a:avLst>
          </a:prstGeom>
          <a:solidFill>
            <a:srgbClr val="009E73"/>
          </a:solidFill>
          <a:ln w="12700">
            <a:solidFill>
              <a:srgbClr val="009E73"/>
            </a:solidFill>
            <a:prstDash val="solid"/>
          </a:ln>
        </p:spPr>
      </p:sp>
      <p:sp>
        <p:nvSpPr>
          <p:cNvPr id="7" name="Text 5"/>
          <p:cNvSpPr txBox="1"/>
          <p:nvPr/>
        </p:nvSpPr>
        <p:spPr>
          <a:xfrm>
            <a:off x="502920" y="2002536"/>
            <a:ext cx="2240280" cy="384048"/>
          </a:xfrm>
          <a:prstGeom prst="rect">
            <a:avLst/>
          </a:prstGeom>
          <a:noFill/>
          <a:ln/>
        </p:spPr>
        <p:txBody>
          <a:bodyPr wrap="square" lIns="0" tIns="0" rIns="0" bIns="0" rtlCol="0" anchor="t"/>
          <a:lstStyle/>
          <a:p>
            <a:pPr indent="0" marL="0">
              <a:buNone/>
            </a:pPr>
            <a:r>
              <a:rPr lang="en-US" sz="1250" b="1" dirty="0">
                <a:solidFill>
                  <a:srgbClr val="FFFFFF"/>
                </a:solidFill>
                <a:latin typeface="Arial" pitchFamily="34" charset="0"/>
                <a:ea typeface="Arial" pitchFamily="34" charset="-122"/>
                <a:cs typeface="Arial" pitchFamily="34" charset="-120"/>
              </a:rPr>
              <a:t>Dataset organization standards</a:t>
            </a:r>
            <a:endParaRPr lang="en-US" sz="1250" dirty="0"/>
          </a:p>
        </p:txBody>
      </p:sp>
      <p:sp>
        <p:nvSpPr>
          <p:cNvPr id="8" name="Text 6"/>
          <p:cNvSpPr txBox="1"/>
          <p:nvPr/>
        </p:nvSpPr>
        <p:spPr>
          <a:xfrm>
            <a:off x="502920" y="2423160"/>
            <a:ext cx="2240280" cy="256032"/>
          </a:xfrm>
          <a:prstGeom prst="rect">
            <a:avLst/>
          </a:prstGeom>
          <a:noFill/>
          <a:ln/>
        </p:spPr>
        <p:txBody>
          <a:bodyPr wrap="square" lIns="0" tIns="0" rIns="0" bIns="0" rtlCol="0" anchor="t"/>
          <a:lstStyle/>
          <a:p>
            <a:pPr indent="0" marL="0">
              <a:buNone/>
            </a:pPr>
            <a:r>
              <a:rPr lang="en-US" sz="1000" dirty="0">
                <a:solidFill>
                  <a:srgbClr val="FFFFFF"/>
                </a:solidFill>
                <a:latin typeface="Arial" pitchFamily="34" charset="0"/>
                <a:ea typeface="Arial" pitchFamily="34" charset="-122"/>
                <a:cs typeface="Arial" pitchFamily="34" charset="-120"/>
              </a:rPr>
              <a:t>BIDS, Psych-DS, DANDI layout</a:t>
            </a:r>
            <a:endParaRPr lang="en-US" sz="1000" dirty="0"/>
          </a:p>
        </p:txBody>
      </p:sp>
      <p:sp>
        <p:nvSpPr>
          <p:cNvPr id="9" name="Layer: File organization standards"/>
          <p:cNvSpPr/>
          <p:nvPr/>
        </p:nvSpPr>
        <p:spPr>
          <a:xfrm>
            <a:off x="365760" y="2871216"/>
            <a:ext cx="2514600" cy="868680"/>
          </a:xfrm>
          <a:prstGeom prst="roundRect">
            <a:avLst>
              <a:gd name="adj" fmla="val 6316"/>
            </a:avLst>
          </a:prstGeom>
          <a:solidFill>
            <a:srgbClr val="D55E00"/>
          </a:solidFill>
          <a:ln w="12700">
            <a:solidFill>
              <a:srgbClr val="D55E00"/>
            </a:solidFill>
            <a:prstDash val="solid"/>
          </a:ln>
        </p:spPr>
      </p:sp>
      <p:sp>
        <p:nvSpPr>
          <p:cNvPr id="10" name="Text 8"/>
          <p:cNvSpPr txBox="1"/>
          <p:nvPr/>
        </p:nvSpPr>
        <p:spPr>
          <a:xfrm>
            <a:off x="502920" y="2980944"/>
            <a:ext cx="2240280" cy="384048"/>
          </a:xfrm>
          <a:prstGeom prst="rect">
            <a:avLst/>
          </a:prstGeom>
          <a:noFill/>
          <a:ln/>
        </p:spPr>
        <p:txBody>
          <a:bodyPr wrap="square" lIns="0" tIns="0" rIns="0" bIns="0" rtlCol="0" anchor="t"/>
          <a:lstStyle/>
          <a:p>
            <a:pPr indent="0" marL="0">
              <a:buNone/>
            </a:pPr>
            <a:r>
              <a:rPr lang="en-US" sz="1250" b="1" dirty="0">
                <a:solidFill>
                  <a:srgbClr val="FFFFFF"/>
                </a:solidFill>
                <a:latin typeface="Arial" pitchFamily="34" charset="0"/>
                <a:ea typeface="Arial" pitchFamily="34" charset="-122"/>
                <a:cs typeface="Arial" pitchFamily="34" charset="-120"/>
              </a:rPr>
              <a:t>File organization standards</a:t>
            </a:r>
            <a:endParaRPr lang="en-US" sz="1250" dirty="0"/>
          </a:p>
        </p:txBody>
      </p:sp>
      <p:sp>
        <p:nvSpPr>
          <p:cNvPr id="11" name="Text 9"/>
          <p:cNvSpPr txBox="1"/>
          <p:nvPr/>
        </p:nvSpPr>
        <p:spPr>
          <a:xfrm>
            <a:off x="502920" y="3401568"/>
            <a:ext cx="2240280" cy="256032"/>
          </a:xfrm>
          <a:prstGeom prst="rect">
            <a:avLst/>
          </a:prstGeom>
          <a:noFill/>
          <a:ln/>
        </p:spPr>
        <p:txBody>
          <a:bodyPr wrap="square" lIns="0" tIns="0" rIns="0" bIns="0" rtlCol="0" anchor="t"/>
          <a:lstStyle/>
          <a:p>
            <a:pPr indent="0" marL="0">
              <a:buNone/>
            </a:pPr>
            <a:r>
              <a:rPr lang="en-US" sz="1000" dirty="0">
                <a:solidFill>
                  <a:srgbClr val="FFFFFF"/>
                </a:solidFill>
                <a:latin typeface="Arial" pitchFamily="34" charset="0"/>
                <a:ea typeface="Arial" pitchFamily="34" charset="-122"/>
                <a:cs typeface="Arial" pitchFamily="34" charset="-120"/>
              </a:rPr>
              <a:t>NWB, OME-Zarr, NIX</a:t>
            </a:r>
            <a:endParaRPr lang="en-US" sz="1000" dirty="0"/>
          </a:p>
        </p:txBody>
      </p:sp>
      <p:sp>
        <p:nvSpPr>
          <p:cNvPr id="12" name="Layer: Ontologies &amp; terminologies"/>
          <p:cNvSpPr/>
          <p:nvPr/>
        </p:nvSpPr>
        <p:spPr>
          <a:xfrm>
            <a:off x="365760" y="3849624"/>
            <a:ext cx="2514600" cy="868680"/>
          </a:xfrm>
          <a:prstGeom prst="roundRect">
            <a:avLst>
              <a:gd name="adj" fmla="val 6316"/>
            </a:avLst>
          </a:prstGeom>
          <a:solidFill>
            <a:srgbClr val="CC79A7"/>
          </a:solidFill>
          <a:ln w="12700">
            <a:solidFill>
              <a:srgbClr val="CC79A7"/>
            </a:solidFill>
            <a:prstDash val="solid"/>
          </a:ln>
        </p:spPr>
      </p:sp>
      <p:sp>
        <p:nvSpPr>
          <p:cNvPr id="13" name="Text 11"/>
          <p:cNvSpPr txBox="1"/>
          <p:nvPr/>
        </p:nvSpPr>
        <p:spPr>
          <a:xfrm>
            <a:off x="502920" y="3959352"/>
            <a:ext cx="2240280" cy="384048"/>
          </a:xfrm>
          <a:prstGeom prst="rect">
            <a:avLst/>
          </a:prstGeom>
          <a:noFill/>
          <a:ln/>
        </p:spPr>
        <p:txBody>
          <a:bodyPr wrap="square" lIns="0" tIns="0" rIns="0" bIns="0" rtlCol="0" anchor="t"/>
          <a:lstStyle/>
          <a:p>
            <a:pPr indent="0" marL="0">
              <a:buNone/>
            </a:pPr>
            <a:r>
              <a:rPr lang="en-US" sz="1250" b="1" dirty="0">
                <a:solidFill>
                  <a:srgbClr val="FFFFFF"/>
                </a:solidFill>
                <a:latin typeface="Arial" pitchFamily="34" charset="0"/>
                <a:ea typeface="Arial" pitchFamily="34" charset="-122"/>
                <a:cs typeface="Arial" pitchFamily="34" charset="-120"/>
              </a:rPr>
              <a:t>Ontologies &amp; terminologies</a:t>
            </a:r>
            <a:endParaRPr lang="en-US" sz="1250" dirty="0"/>
          </a:p>
        </p:txBody>
      </p:sp>
      <p:sp>
        <p:nvSpPr>
          <p:cNvPr id="14" name="Text 12"/>
          <p:cNvSpPr txBox="1"/>
          <p:nvPr/>
        </p:nvSpPr>
        <p:spPr>
          <a:xfrm>
            <a:off x="502920" y="4379976"/>
            <a:ext cx="2240280" cy="256032"/>
          </a:xfrm>
          <a:prstGeom prst="rect">
            <a:avLst/>
          </a:prstGeom>
          <a:noFill/>
          <a:ln/>
        </p:spPr>
        <p:txBody>
          <a:bodyPr wrap="square" lIns="0" tIns="0" rIns="0" bIns="0" rtlCol="0" anchor="t"/>
          <a:lstStyle/>
          <a:p>
            <a:pPr indent="0" marL="0">
              <a:buNone/>
            </a:pPr>
            <a:r>
              <a:rPr lang="en-US" sz="1000" dirty="0">
                <a:solidFill>
                  <a:srgbClr val="FFFFFF"/>
                </a:solidFill>
                <a:latin typeface="Arial" pitchFamily="34" charset="0"/>
                <a:ea typeface="Arial" pitchFamily="34" charset="-122"/>
                <a:cs typeface="Arial" pitchFamily="34" charset="-120"/>
              </a:rPr>
              <a:t>NCBI Taxonomy, Uberon, HED</a:t>
            </a:r>
            <a:endParaRPr lang="en-US" sz="1000" dirty="0"/>
          </a:p>
        </p:txBody>
      </p:sp>
      <p:sp>
        <p:nvSpPr>
          <p:cNvPr id="15" name="Layer: Data formats"/>
          <p:cNvSpPr/>
          <p:nvPr/>
        </p:nvSpPr>
        <p:spPr>
          <a:xfrm>
            <a:off x="365760" y="4828032"/>
            <a:ext cx="2514600" cy="868680"/>
          </a:xfrm>
          <a:prstGeom prst="roundRect">
            <a:avLst>
              <a:gd name="adj" fmla="val 6316"/>
            </a:avLst>
          </a:prstGeom>
          <a:solidFill>
            <a:srgbClr val="E69F00"/>
          </a:solidFill>
          <a:ln w="12700">
            <a:solidFill>
              <a:srgbClr val="E69F00"/>
            </a:solidFill>
            <a:prstDash val="solid"/>
          </a:ln>
        </p:spPr>
      </p:sp>
      <p:sp>
        <p:nvSpPr>
          <p:cNvPr id="16" name="Text 14"/>
          <p:cNvSpPr txBox="1"/>
          <p:nvPr/>
        </p:nvSpPr>
        <p:spPr>
          <a:xfrm>
            <a:off x="502920" y="4937760"/>
            <a:ext cx="2240280" cy="384048"/>
          </a:xfrm>
          <a:prstGeom prst="rect">
            <a:avLst/>
          </a:prstGeom>
          <a:noFill/>
          <a:ln/>
        </p:spPr>
        <p:txBody>
          <a:bodyPr wrap="square" lIns="0" tIns="0" rIns="0" bIns="0" rtlCol="0" anchor="t"/>
          <a:lstStyle/>
          <a:p>
            <a:pPr indent="0" marL="0">
              <a:buNone/>
            </a:pPr>
            <a:r>
              <a:rPr lang="en-US" sz="1250" b="1" dirty="0">
                <a:solidFill>
                  <a:srgbClr val="1A1A1A"/>
                </a:solidFill>
                <a:latin typeface="Arial" pitchFamily="34" charset="0"/>
                <a:ea typeface="Arial" pitchFamily="34" charset="-122"/>
                <a:cs typeface="Arial" pitchFamily="34" charset="-120"/>
              </a:rPr>
              <a:t>Data formats</a:t>
            </a:r>
            <a:endParaRPr lang="en-US" sz="1250" dirty="0"/>
          </a:p>
        </p:txBody>
      </p:sp>
      <p:sp>
        <p:nvSpPr>
          <p:cNvPr id="17" name="Text 15"/>
          <p:cNvSpPr txBox="1"/>
          <p:nvPr/>
        </p:nvSpPr>
        <p:spPr>
          <a:xfrm>
            <a:off x="502920" y="5358384"/>
            <a:ext cx="2240280" cy="256032"/>
          </a:xfrm>
          <a:prstGeom prst="rect">
            <a:avLst/>
          </a:prstGeom>
          <a:noFill/>
          <a:ln/>
        </p:spPr>
        <p:txBody>
          <a:bodyPr wrap="square" lIns="0" tIns="0" rIns="0" bIns="0" rtlCol="0" anchor="t"/>
          <a:lstStyle/>
          <a:p>
            <a:pPr indent="0" marL="0">
              <a:buNone/>
            </a:pPr>
            <a:r>
              <a:rPr lang="en-US" sz="1000" dirty="0">
                <a:solidFill>
                  <a:srgbClr val="1A1A1A"/>
                </a:solidFill>
                <a:latin typeface="Arial" pitchFamily="34" charset="0"/>
                <a:ea typeface="Arial" pitchFamily="34" charset="-122"/>
                <a:cs typeface="Arial" pitchFamily="34" charset="-120"/>
              </a:rPr>
              <a:t>HDF5, Zarr, NIfTI, CSV</a:t>
            </a:r>
            <a:endParaRPr lang="en-US" sz="1000" dirty="0"/>
          </a:p>
        </p:txBody>
      </p:sp>
      <p:sp>
        <p:nvSpPr>
          <p:cNvPr id="18" name="Layer: Schema languages"/>
          <p:cNvSpPr/>
          <p:nvPr/>
        </p:nvSpPr>
        <p:spPr>
          <a:xfrm>
            <a:off x="2971800" y="1892808"/>
            <a:ext cx="960120" cy="1847088"/>
          </a:xfrm>
          <a:prstGeom prst="roundRect">
            <a:avLst>
              <a:gd name="adj" fmla="val 5714"/>
            </a:avLst>
          </a:prstGeom>
          <a:solidFill>
            <a:srgbClr val="56B4E9"/>
          </a:solidFill>
          <a:ln w="12700">
            <a:solidFill>
              <a:srgbClr val="56B4E9"/>
            </a:solidFill>
            <a:prstDash val="solid"/>
          </a:ln>
        </p:spPr>
      </p:sp>
      <p:sp>
        <p:nvSpPr>
          <p:cNvPr id="19" name="Text 17"/>
          <p:cNvSpPr txBox="1"/>
          <p:nvPr/>
        </p:nvSpPr>
        <p:spPr>
          <a:xfrm>
            <a:off x="3044952" y="2002536"/>
            <a:ext cx="822960" cy="457200"/>
          </a:xfrm>
          <a:prstGeom prst="rect">
            <a:avLst/>
          </a:prstGeom>
          <a:noFill/>
          <a:ln/>
        </p:spPr>
        <p:txBody>
          <a:bodyPr wrap="square" lIns="0" tIns="0" rIns="0" bIns="0" rtlCol="0" anchor="t"/>
          <a:lstStyle/>
          <a:p>
            <a:pPr indent="0" marL="0">
              <a:buNone/>
            </a:pPr>
            <a:r>
              <a:rPr lang="en-US" sz="1100" b="1" dirty="0">
                <a:solidFill>
                  <a:srgbClr val="1A1A1A"/>
                </a:solidFill>
                <a:latin typeface="Arial" pitchFamily="34" charset="0"/>
                <a:ea typeface="Arial" pitchFamily="34" charset="-122"/>
                <a:cs typeface="Arial" pitchFamily="34" charset="-120"/>
              </a:rPr>
              <a:t>Schema languages</a:t>
            </a:r>
            <a:endParaRPr lang="en-US" sz="1100" dirty="0"/>
          </a:p>
        </p:txBody>
      </p:sp>
      <p:sp>
        <p:nvSpPr>
          <p:cNvPr id="20" name="Text 18"/>
          <p:cNvSpPr txBox="1"/>
          <p:nvPr/>
        </p:nvSpPr>
        <p:spPr>
          <a:xfrm>
            <a:off x="3044952" y="2532888"/>
            <a:ext cx="822960" cy="685800"/>
          </a:xfrm>
          <a:prstGeom prst="rect">
            <a:avLst/>
          </a:prstGeom>
          <a:noFill/>
          <a:ln/>
        </p:spPr>
        <p:txBody>
          <a:bodyPr wrap="square" lIns="0" tIns="0" rIns="0" bIns="0" rtlCol="0" anchor="t"/>
          <a:lstStyle/>
          <a:p>
            <a:pPr indent="0" marL="0">
              <a:buNone/>
            </a:pPr>
            <a:r>
              <a:rPr lang="en-US" sz="950" dirty="0">
                <a:solidFill>
                  <a:srgbClr val="1A1A1A"/>
                </a:solidFill>
                <a:latin typeface="Arial" pitchFamily="34" charset="0"/>
                <a:ea typeface="Arial" pitchFamily="34" charset="-122"/>
                <a:cs typeface="Arial" pitchFamily="34" charset="-120"/>
              </a:rPr>
              <a:t>LinkML, JSON Schema, HDMF</a:t>
            </a:r>
            <a:endParaRPr lang="en-US" sz="950" dirty="0"/>
          </a:p>
        </p:txBody>
      </p:sp>
      <p:sp>
        <p:nvSpPr>
          <p:cNvPr id="21" name="Text 19"/>
          <p:cNvSpPr txBox="1"/>
          <p:nvPr/>
        </p:nvSpPr>
        <p:spPr>
          <a:xfrm>
            <a:off x="365760" y="5852160"/>
            <a:ext cx="3566160" cy="411480"/>
          </a:xfrm>
          <a:prstGeom prst="rect">
            <a:avLst/>
          </a:prstGeom>
          <a:noFill/>
          <a:ln/>
        </p:spPr>
        <p:txBody>
          <a:bodyPr wrap="square" lIns="0" tIns="0" rIns="0" bIns="0" rtlCol="0" anchor="t"/>
          <a:lstStyle/>
          <a:p>
            <a:pPr indent="0" marL="0">
              <a:buNone/>
            </a:pPr>
            <a:r>
              <a:rPr lang="en-US" sz="1000" i="1" dirty="0">
                <a:solidFill>
                  <a:srgbClr val="5B6770"/>
                </a:solidFill>
                <a:latin typeface="Arial" pitchFamily="34" charset="0"/>
                <a:ea typeface="Arial" pitchFamily="34" charset="-122"/>
                <a:cs typeface="Arial" pitchFamily="34" charset="-120"/>
              </a:rPr>
              <a:t>Each step on the right is coloured by the layer that adds it.</a:t>
            </a:r>
            <a:endParaRPr lang="en-US" sz="1000" dirty="0"/>
          </a:p>
        </p:txBody>
      </p:sp>
      <p:sp>
        <p:nvSpPr>
          <p:cNvPr id="22" name="Text 20"/>
          <p:cNvSpPr txBox="1"/>
          <p:nvPr/>
        </p:nvSpPr>
        <p:spPr>
          <a:xfrm>
            <a:off x="4343400" y="365760"/>
            <a:ext cx="5486400" cy="320040"/>
          </a:xfrm>
          <a:prstGeom prst="rect">
            <a:avLst/>
          </a:prstGeom>
          <a:noFill/>
          <a:ln/>
        </p:spPr>
        <p:txBody>
          <a:bodyPr wrap="square" lIns="0" tIns="0" rIns="0" bIns="0" rtlCol="0" anchor="ctr"/>
          <a:lstStyle/>
          <a:p>
            <a:pPr indent="0" marL="0">
              <a:buNone/>
            </a:pPr>
            <a:r>
              <a:rPr lang="en-US" sz="1500" b="1" dirty="0">
                <a:solidFill>
                  <a:srgbClr val="1F2933"/>
                </a:solidFill>
                <a:latin typeface="Arial" pitchFamily="34" charset="0"/>
                <a:ea typeface="Arial" pitchFamily="34" charset="-122"/>
                <a:cs typeface="Arial" pitchFamily="34" charset="-120"/>
              </a:rPr>
              <a:t>Levels of FAIRness</a:t>
            </a:r>
            <a:endParaRPr lang="en-US" sz="1500" dirty="0"/>
          </a:p>
        </p:txBody>
      </p:sp>
      <p:sp>
        <p:nvSpPr>
          <p:cNvPr id="23" name="Level 0: Opaque"/>
          <p:cNvSpPr/>
          <p:nvPr/>
        </p:nvSpPr>
        <p:spPr>
          <a:xfrm>
            <a:off x="4343400" y="5806440"/>
            <a:ext cx="1216152" cy="548640"/>
          </a:xfrm>
          <a:prstGeom prst="rect">
            <a:avLst/>
          </a:prstGeom>
          <a:solidFill>
            <a:srgbClr val="9AA5B1"/>
          </a:solidFill>
          <a:ln w="12700">
            <a:solidFill>
              <a:srgbClr val="FFFFFF"/>
            </a:solidFill>
            <a:prstDash val="solid"/>
          </a:ln>
        </p:spPr>
      </p:sp>
      <p:sp>
        <p:nvSpPr>
          <p:cNvPr id="24" name="Text 22"/>
          <p:cNvSpPr txBox="1"/>
          <p:nvPr/>
        </p:nvSpPr>
        <p:spPr>
          <a:xfrm>
            <a:off x="4416552" y="5861304"/>
            <a:ext cx="1069848" cy="201168"/>
          </a:xfrm>
          <a:prstGeom prst="rect">
            <a:avLst/>
          </a:prstGeom>
          <a:noFill/>
          <a:ln/>
        </p:spPr>
        <p:txBody>
          <a:bodyPr wrap="square" lIns="0" tIns="0" rIns="0" bIns="0" rtlCol="0" anchor="t"/>
          <a:lstStyle/>
          <a:p>
            <a:pPr indent="0" marL="0">
              <a:buNone/>
            </a:pPr>
            <a:r>
              <a:rPr lang="en-US" sz="850" b="1" dirty="0">
                <a:solidFill>
                  <a:srgbClr val="1A1A1A"/>
                </a:solidFill>
                <a:latin typeface="Arial" pitchFamily="34" charset="0"/>
                <a:ea typeface="Arial" pitchFamily="34" charset="-122"/>
                <a:cs typeface="Arial" pitchFamily="34" charset="-120"/>
              </a:rPr>
              <a:t>No standard</a:t>
            </a:r>
            <a:endParaRPr lang="en-US" sz="850" dirty="0"/>
          </a:p>
        </p:txBody>
      </p:sp>
      <p:sp>
        <p:nvSpPr>
          <p:cNvPr id="25" name="Text 23"/>
          <p:cNvSpPr txBox="1"/>
          <p:nvPr/>
        </p:nvSpPr>
        <p:spPr>
          <a:xfrm>
            <a:off x="4416552" y="6080760"/>
            <a:ext cx="1069848" cy="228600"/>
          </a:xfrm>
          <a:prstGeom prst="rect">
            <a:avLst/>
          </a:prstGeom>
          <a:noFill/>
          <a:ln/>
        </p:spPr>
        <p:txBody>
          <a:bodyPr wrap="square" lIns="0" tIns="0" rIns="0" bIns="0" rtlCol="0" anchor="t"/>
          <a:lstStyle/>
          <a:p>
            <a:pPr indent="0" marL="0">
              <a:buNone/>
            </a:pPr>
            <a:r>
              <a:rPr lang="en-US" sz="850" i="1" dirty="0">
                <a:solidFill>
                  <a:srgbClr val="1A1A1A"/>
                </a:solidFill>
                <a:latin typeface="Arial" pitchFamily="34" charset="0"/>
                <a:ea typeface="Arial" pitchFamily="34" charset="-122"/>
                <a:cs typeface="Arial" pitchFamily="34" charset="-120"/>
              </a:rPr>
              <a:t>Raw .bin voltage traces</a:t>
            </a:r>
            <a:endParaRPr lang="en-US" sz="850" dirty="0"/>
          </a:p>
        </p:txBody>
      </p:sp>
      <p:sp>
        <p:nvSpPr>
          <p:cNvPr id="26" name="Label level 0"/>
          <p:cNvSpPr txBox="1"/>
          <p:nvPr/>
        </p:nvSpPr>
        <p:spPr>
          <a:xfrm>
            <a:off x="4361688" y="4343400"/>
            <a:ext cx="1179576" cy="1399032"/>
          </a:xfrm>
          <a:prstGeom prst="rect">
            <a:avLst/>
          </a:prstGeom>
          <a:noFill/>
          <a:ln/>
        </p:spPr>
        <p:txBody>
          <a:bodyPr wrap="square" lIns="0" tIns="0" rIns="0" bIns="0" rtlCol="0" anchor="b"/>
          <a:lstStyle/>
          <a:p>
            <a:pPr indent="0" marL="0">
              <a:buNone/>
            </a:pPr>
            <a:r>
              <a:rPr lang="en-US" sz="900" dirty="0">
                <a:solidFill>
                  <a:srgbClr val="5B6770"/>
                </a:solidFill>
                <a:latin typeface="Arial" pitchFamily="34" charset="0"/>
                <a:ea typeface="Arial" pitchFamily="34" charset="-122"/>
                <a:cs typeface="Arial" pitchFamily="34" charset="-120"/>
              </a:rPr>
              <a:t>Level 0</a:t>
            </a:r>
            <a:endParaRPr lang="en-US" sz="900" dirty="0"/>
          </a:p>
          <a:p>
            <a:pPr indent="0" marL="0">
              <a:buNone/>
            </a:pPr>
            <a:r>
              <a:rPr lang="en-US" sz="1100" b="1" dirty="0">
                <a:solidFill>
                  <a:srgbClr val="1F2933"/>
                </a:solidFill>
                <a:latin typeface="Arial" pitchFamily="34" charset="0"/>
                <a:ea typeface="Arial" pitchFamily="34" charset="-122"/>
                <a:cs typeface="Arial" pitchFamily="34" charset="-120"/>
              </a:rPr>
              <a:t>Opaque</a:t>
            </a:r>
            <a:endParaRPr lang="en-US" sz="900" dirty="0"/>
          </a:p>
          <a:p>
            <a:pPr indent="0" marL="0">
              <a:buNone/>
            </a:pPr>
            <a:r>
              <a:rPr lang="en-US" sz="850" dirty="0">
                <a:solidFill>
                  <a:srgbClr val="5B6770"/>
                </a:solidFill>
                <a:latin typeface="Arial" pitchFamily="34" charset="0"/>
                <a:ea typeface="Arial" pitchFamily="34" charset="-122"/>
                <a:cs typeface="Arial" pitchFamily="34" charset="-120"/>
              </a:rPr>
              <a:t>FAIR: </a:t>
            </a:r>
            <a:pPr indent="0" marL="0">
              <a:buNone/>
            </a:pPr>
            <a:r>
              <a:rPr lang="en-US" sz="850" dirty="0">
                <a:solidFill>
                  <a:srgbClr val="1F2933"/>
                </a:solidFill>
                <a:latin typeface="Arial" pitchFamily="34" charset="0"/>
                <a:ea typeface="Arial" pitchFamily="34" charset="-122"/>
                <a:cs typeface="Arial" pitchFamily="34" charset="-120"/>
              </a:rPr>
              <a:t>none</a:t>
            </a:r>
            <a:endParaRPr lang="en-US" sz="900" dirty="0"/>
          </a:p>
          <a:p>
            <a:pPr indent="0" marL="0">
              <a:buNone/>
            </a:pPr>
            <a:r>
              <a:rPr lang="en-US" sz="850" dirty="0">
                <a:solidFill>
                  <a:srgbClr val="5B6770"/>
                </a:solidFill>
                <a:latin typeface="Arial" pitchFamily="34" charset="0"/>
                <a:ea typeface="Arial" pitchFamily="34" charset="-122"/>
                <a:cs typeface="Arial" pitchFamily="34" charset="-120"/>
              </a:rPr>
              <a:t>RDA: </a:t>
            </a:r>
            <a:pPr indent="0" marL="0">
              <a:buNone/>
            </a:pPr>
            <a:r>
              <a:rPr lang="en-US" sz="850" dirty="0">
                <a:solidFill>
                  <a:srgbClr val="1F2933"/>
                </a:solidFill>
                <a:latin typeface="Arial" pitchFamily="34" charset="0"/>
                <a:ea typeface="Arial" pitchFamily="34" charset="-122"/>
                <a:cs typeface="Arial" pitchFamily="34" charset="-120"/>
              </a:rPr>
              <a:t>none</a:t>
            </a:r>
            <a:endParaRPr lang="en-US" sz="900" dirty="0"/>
          </a:p>
        </p:txBody>
      </p:sp>
      <p:sp>
        <p:nvSpPr>
          <p:cNvPr id="27" name="Level 1: Readable"/>
          <p:cNvSpPr/>
          <p:nvPr/>
        </p:nvSpPr>
        <p:spPr>
          <a:xfrm>
            <a:off x="5596128" y="5074920"/>
            <a:ext cx="1216152" cy="1280160"/>
          </a:xfrm>
          <a:prstGeom prst="rect">
            <a:avLst/>
          </a:prstGeom>
          <a:solidFill>
            <a:srgbClr val="E69F00"/>
          </a:solidFill>
          <a:ln w="12700">
            <a:solidFill>
              <a:srgbClr val="FFFFFF"/>
            </a:solidFill>
            <a:prstDash val="solid"/>
          </a:ln>
        </p:spPr>
      </p:sp>
      <p:sp>
        <p:nvSpPr>
          <p:cNvPr id="28" name="Text 26"/>
          <p:cNvSpPr txBox="1"/>
          <p:nvPr/>
        </p:nvSpPr>
        <p:spPr>
          <a:xfrm>
            <a:off x="5669280" y="5129784"/>
            <a:ext cx="1069848" cy="384048"/>
          </a:xfrm>
          <a:prstGeom prst="rect">
            <a:avLst/>
          </a:prstGeom>
          <a:noFill/>
          <a:ln/>
        </p:spPr>
        <p:txBody>
          <a:bodyPr wrap="square" lIns="0" tIns="0" rIns="0" bIns="0" rtlCol="0" anchor="t"/>
          <a:lstStyle/>
          <a:p>
            <a:pPr indent="0" marL="0">
              <a:buNone/>
            </a:pPr>
            <a:r>
              <a:rPr lang="en-US" sz="850" b="1" dirty="0">
                <a:solidFill>
                  <a:srgbClr val="1A1A1A"/>
                </a:solidFill>
                <a:latin typeface="Arial" pitchFamily="34" charset="0"/>
                <a:ea typeface="Arial" pitchFamily="34" charset="-122"/>
                <a:cs typeface="Arial" pitchFamily="34" charset="-120"/>
              </a:rPr>
              <a:t>Data formats</a:t>
            </a:r>
            <a:endParaRPr lang="en-US" sz="850" dirty="0"/>
          </a:p>
        </p:txBody>
      </p:sp>
      <p:sp>
        <p:nvSpPr>
          <p:cNvPr id="29" name="Text 27"/>
          <p:cNvSpPr txBox="1"/>
          <p:nvPr/>
        </p:nvSpPr>
        <p:spPr>
          <a:xfrm>
            <a:off x="5669280" y="5532120"/>
            <a:ext cx="1069848" cy="457200"/>
          </a:xfrm>
          <a:prstGeom prst="rect">
            <a:avLst/>
          </a:prstGeom>
          <a:noFill/>
          <a:ln/>
        </p:spPr>
        <p:txBody>
          <a:bodyPr wrap="square" lIns="0" tIns="0" rIns="0" bIns="0" rtlCol="0" anchor="t"/>
          <a:lstStyle/>
          <a:p>
            <a:pPr indent="0" marL="0">
              <a:buNone/>
            </a:pPr>
            <a:r>
              <a:rPr lang="en-US" sz="850" i="1" dirty="0">
                <a:solidFill>
                  <a:srgbClr val="1A1A1A"/>
                </a:solidFill>
                <a:latin typeface="Arial" pitchFamily="34" charset="0"/>
                <a:ea typeface="Arial" pitchFamily="34" charset="-122"/>
                <a:cs typeface="Arial" pitchFamily="34" charset="-120"/>
              </a:rPr>
              <a:t>Bare HDF5 file</a:t>
            </a:r>
            <a:endParaRPr lang="en-US" sz="850" dirty="0"/>
          </a:p>
        </p:txBody>
      </p:sp>
      <p:sp>
        <p:nvSpPr>
          <p:cNvPr id="30" name="Label level 1"/>
          <p:cNvSpPr txBox="1"/>
          <p:nvPr/>
        </p:nvSpPr>
        <p:spPr>
          <a:xfrm>
            <a:off x="5614416" y="3611880"/>
            <a:ext cx="1179576" cy="1399032"/>
          </a:xfrm>
          <a:prstGeom prst="rect">
            <a:avLst/>
          </a:prstGeom>
          <a:noFill/>
          <a:ln/>
        </p:spPr>
        <p:txBody>
          <a:bodyPr wrap="square" lIns="0" tIns="0" rIns="0" bIns="0" rtlCol="0" anchor="b"/>
          <a:lstStyle/>
          <a:p>
            <a:pPr indent="0" marL="0">
              <a:buNone/>
            </a:pPr>
            <a:r>
              <a:rPr lang="en-US" sz="900" dirty="0">
                <a:solidFill>
                  <a:srgbClr val="5B6770"/>
                </a:solidFill>
                <a:latin typeface="Arial" pitchFamily="34" charset="0"/>
                <a:ea typeface="Arial" pitchFamily="34" charset="-122"/>
                <a:cs typeface="Arial" pitchFamily="34" charset="-120"/>
              </a:rPr>
              <a:t>Level 1</a:t>
            </a:r>
            <a:endParaRPr lang="en-US" sz="900" dirty="0"/>
          </a:p>
          <a:p>
            <a:pPr indent="0" marL="0">
              <a:buNone/>
            </a:pPr>
            <a:r>
              <a:rPr lang="en-US" sz="1100" b="1" dirty="0">
                <a:solidFill>
                  <a:srgbClr val="1F2933"/>
                </a:solidFill>
                <a:latin typeface="Arial" pitchFamily="34" charset="0"/>
                <a:ea typeface="Arial" pitchFamily="34" charset="-122"/>
                <a:cs typeface="Arial" pitchFamily="34" charset="-120"/>
              </a:rPr>
              <a:t>Readable</a:t>
            </a:r>
            <a:endParaRPr lang="en-US" sz="900" dirty="0"/>
          </a:p>
          <a:p>
            <a:pPr indent="0" marL="0">
              <a:buNone/>
            </a:pPr>
            <a:r>
              <a:rPr lang="en-US" sz="850" dirty="0">
                <a:solidFill>
                  <a:srgbClr val="5B6770"/>
                </a:solidFill>
                <a:latin typeface="Arial" pitchFamily="34" charset="0"/>
                <a:ea typeface="Arial" pitchFamily="34" charset="-122"/>
                <a:cs typeface="Arial" pitchFamily="34" charset="-120"/>
              </a:rPr>
              <a:t>FAIR: </a:t>
            </a:r>
            <a:pPr indent="0" marL="0">
              <a:buNone/>
            </a:pPr>
            <a:r>
              <a:rPr lang="en-US" sz="850" dirty="0">
                <a:solidFill>
                  <a:srgbClr val="1F2933"/>
                </a:solidFill>
                <a:latin typeface="Arial" pitchFamily="34" charset="0"/>
                <a:ea typeface="Arial" pitchFamily="34" charset="-122"/>
                <a:cs typeface="Arial" pitchFamily="34" charset="-120"/>
              </a:rPr>
              <a:t>I1</a:t>
            </a:r>
            <a:endParaRPr lang="en-US" sz="900" dirty="0"/>
          </a:p>
          <a:p>
            <a:pPr indent="0" marL="0">
              <a:buNone/>
            </a:pPr>
            <a:r>
              <a:rPr lang="en-US" sz="850" dirty="0">
                <a:solidFill>
                  <a:srgbClr val="5B6770"/>
                </a:solidFill>
                <a:latin typeface="Arial" pitchFamily="34" charset="0"/>
                <a:ea typeface="Arial" pitchFamily="34" charset="-122"/>
                <a:cs typeface="Arial" pitchFamily="34" charset="-120"/>
              </a:rPr>
              <a:t>RDA: </a:t>
            </a:r>
            <a:pPr indent="0" marL="0">
              <a:buNone/>
            </a:pPr>
            <a:r>
              <a:rPr lang="en-US" sz="850" dirty="0">
                <a:solidFill>
                  <a:srgbClr val="1F2933"/>
                </a:solidFill>
                <a:latin typeface="Arial" pitchFamily="34" charset="0"/>
                <a:ea typeface="Arial" pitchFamily="34" charset="-122"/>
                <a:cs typeface="Arial" pitchFamily="34" charset="-120"/>
              </a:rPr>
              <a:t>I1-01D</a:t>
            </a:r>
            <a:endParaRPr lang="en-US" sz="900" dirty="0"/>
          </a:p>
        </p:txBody>
      </p:sp>
      <p:sp>
        <p:nvSpPr>
          <p:cNvPr id="31" name="Level 2: Interpretable files"/>
          <p:cNvSpPr/>
          <p:nvPr/>
        </p:nvSpPr>
        <p:spPr>
          <a:xfrm>
            <a:off x="6848856" y="4343400"/>
            <a:ext cx="1216152" cy="2011680"/>
          </a:xfrm>
          <a:prstGeom prst="rect">
            <a:avLst/>
          </a:prstGeom>
          <a:solidFill>
            <a:srgbClr val="D55E00"/>
          </a:solidFill>
          <a:ln w="12700">
            <a:solidFill>
              <a:srgbClr val="FFFFFF"/>
            </a:solidFill>
            <a:prstDash val="solid"/>
          </a:ln>
        </p:spPr>
      </p:sp>
      <p:sp>
        <p:nvSpPr>
          <p:cNvPr id="32" name="Text 30"/>
          <p:cNvSpPr txBox="1"/>
          <p:nvPr/>
        </p:nvSpPr>
        <p:spPr>
          <a:xfrm>
            <a:off x="6922008" y="4398264"/>
            <a:ext cx="1069848" cy="384048"/>
          </a:xfrm>
          <a:prstGeom prst="rect">
            <a:avLst/>
          </a:prstGeom>
          <a:noFill/>
          <a:ln/>
        </p:spPr>
        <p:txBody>
          <a:bodyPr wrap="square" lIns="0" tIns="0" rIns="0" bIns="0" rtlCol="0" anchor="t"/>
          <a:lstStyle/>
          <a:p>
            <a:pPr indent="0" marL="0">
              <a:buNone/>
            </a:pPr>
            <a:r>
              <a:rPr lang="en-US" sz="850" b="1" dirty="0">
                <a:solidFill>
                  <a:srgbClr val="FFFFFF"/>
                </a:solidFill>
                <a:latin typeface="Arial" pitchFamily="34" charset="0"/>
                <a:ea typeface="Arial" pitchFamily="34" charset="-122"/>
                <a:cs typeface="Arial" pitchFamily="34" charset="-120"/>
              </a:rPr>
              <a:t>File organization standards</a:t>
            </a:r>
            <a:endParaRPr lang="en-US" sz="850" dirty="0"/>
          </a:p>
        </p:txBody>
      </p:sp>
      <p:sp>
        <p:nvSpPr>
          <p:cNvPr id="33" name="Text 31"/>
          <p:cNvSpPr txBox="1"/>
          <p:nvPr/>
        </p:nvSpPr>
        <p:spPr>
          <a:xfrm>
            <a:off x="6922008" y="4800600"/>
            <a:ext cx="1069848" cy="457200"/>
          </a:xfrm>
          <a:prstGeom prst="rect">
            <a:avLst/>
          </a:prstGeom>
          <a:noFill/>
          <a:ln/>
        </p:spPr>
        <p:txBody>
          <a:bodyPr wrap="square" lIns="0" tIns="0" rIns="0" bIns="0" rtlCol="0" anchor="t"/>
          <a:lstStyle/>
          <a:p>
            <a:pPr indent="0" marL="0">
              <a:buNone/>
            </a:pPr>
            <a:r>
              <a:rPr lang="en-US" sz="850" i="1" dirty="0">
                <a:solidFill>
                  <a:srgbClr val="FFFFFF"/>
                </a:solidFill>
                <a:latin typeface="Arial" pitchFamily="34" charset="0"/>
                <a:ea typeface="Arial" pitchFamily="34" charset="-122"/>
                <a:cs typeface="Arial" pitchFamily="34" charset="-120"/>
              </a:rPr>
              <a:t>Validated NWB file</a:t>
            </a:r>
            <a:endParaRPr lang="en-US" sz="850" dirty="0"/>
          </a:p>
        </p:txBody>
      </p:sp>
      <p:sp>
        <p:nvSpPr>
          <p:cNvPr id="34" name="Label level 2"/>
          <p:cNvSpPr txBox="1"/>
          <p:nvPr/>
        </p:nvSpPr>
        <p:spPr>
          <a:xfrm>
            <a:off x="6867144" y="2880360"/>
            <a:ext cx="1179576" cy="1399032"/>
          </a:xfrm>
          <a:prstGeom prst="rect">
            <a:avLst/>
          </a:prstGeom>
          <a:noFill/>
          <a:ln/>
        </p:spPr>
        <p:txBody>
          <a:bodyPr wrap="square" lIns="0" tIns="0" rIns="0" bIns="0" rtlCol="0" anchor="b"/>
          <a:lstStyle/>
          <a:p>
            <a:pPr indent="0" marL="0">
              <a:buNone/>
            </a:pPr>
            <a:r>
              <a:rPr lang="en-US" sz="900" dirty="0">
                <a:solidFill>
                  <a:srgbClr val="5B6770"/>
                </a:solidFill>
                <a:latin typeface="Arial" pitchFamily="34" charset="0"/>
                <a:ea typeface="Arial" pitchFamily="34" charset="-122"/>
                <a:cs typeface="Arial" pitchFamily="34" charset="-120"/>
              </a:rPr>
              <a:t>Level 2</a:t>
            </a:r>
            <a:endParaRPr lang="en-US" sz="900" dirty="0"/>
          </a:p>
          <a:p>
            <a:pPr indent="0" marL="0">
              <a:buNone/>
            </a:pPr>
            <a:r>
              <a:rPr lang="en-US" sz="1100" b="1" dirty="0">
                <a:solidFill>
                  <a:srgbClr val="1F2933"/>
                </a:solidFill>
                <a:latin typeface="Arial" pitchFamily="34" charset="0"/>
                <a:ea typeface="Arial" pitchFamily="34" charset="-122"/>
                <a:cs typeface="Arial" pitchFamily="34" charset="-120"/>
              </a:rPr>
              <a:t>Interpretable files</a:t>
            </a:r>
            <a:endParaRPr lang="en-US" sz="900" dirty="0"/>
          </a:p>
          <a:p>
            <a:pPr indent="0" marL="0">
              <a:buNone/>
            </a:pPr>
            <a:r>
              <a:rPr lang="en-US" sz="850" dirty="0">
                <a:solidFill>
                  <a:srgbClr val="5B6770"/>
                </a:solidFill>
                <a:latin typeface="Arial" pitchFamily="34" charset="0"/>
                <a:ea typeface="Arial" pitchFamily="34" charset="-122"/>
                <a:cs typeface="Arial" pitchFamily="34" charset="-120"/>
              </a:rPr>
              <a:t>FAIR: </a:t>
            </a:r>
            <a:pPr indent="0" marL="0">
              <a:buNone/>
            </a:pPr>
            <a:r>
              <a:rPr lang="en-US" sz="850" dirty="0">
                <a:solidFill>
                  <a:srgbClr val="1F2933"/>
                </a:solidFill>
                <a:latin typeface="Arial" pitchFamily="34" charset="0"/>
                <a:ea typeface="Arial" pitchFamily="34" charset="-122"/>
                <a:cs typeface="Arial" pitchFamily="34" charset="-120"/>
              </a:rPr>
              <a:t>R1, R1.3</a:t>
            </a:r>
            <a:endParaRPr lang="en-US" sz="900" dirty="0"/>
          </a:p>
          <a:p>
            <a:pPr indent="0" marL="0">
              <a:buNone/>
            </a:pPr>
            <a:r>
              <a:rPr lang="en-US" sz="850" dirty="0">
                <a:solidFill>
                  <a:srgbClr val="5B6770"/>
                </a:solidFill>
                <a:latin typeface="Arial" pitchFamily="34" charset="0"/>
                <a:ea typeface="Arial" pitchFamily="34" charset="-122"/>
                <a:cs typeface="Arial" pitchFamily="34" charset="-120"/>
              </a:rPr>
              <a:t>RDA: </a:t>
            </a:r>
            <a:pPr indent="0" marL="0">
              <a:buNone/>
            </a:pPr>
            <a:r>
              <a:rPr lang="en-US" sz="850" dirty="0">
                <a:solidFill>
                  <a:srgbClr val="1F2933"/>
                </a:solidFill>
                <a:latin typeface="Arial" pitchFamily="34" charset="0"/>
                <a:ea typeface="Arial" pitchFamily="34" charset="-122"/>
                <a:cs typeface="Arial" pitchFamily="34" charset="-120"/>
              </a:rPr>
              <a:t>R1.3-01D,</a:t>
            </a:r>
            <a:endParaRPr lang="en-US" sz="900" dirty="0"/>
          </a:p>
          <a:p>
            <a:pPr indent="0" marL="0">
              <a:buNone/>
            </a:pPr>
            <a:r>
              <a:rPr lang="en-US" sz="850" dirty="0">
                <a:solidFill>
                  <a:srgbClr val="1F2933"/>
                </a:solidFill>
                <a:latin typeface="Arial" pitchFamily="34" charset="0"/>
                <a:ea typeface="Arial" pitchFamily="34" charset="-122"/>
                <a:cs typeface="Arial" pitchFamily="34" charset="-120"/>
              </a:rPr>
              <a:t>R1.3-02D, I1-02D</a:t>
            </a:r>
            <a:endParaRPr lang="en-US" sz="900" dirty="0"/>
          </a:p>
        </p:txBody>
      </p:sp>
      <p:sp>
        <p:nvSpPr>
          <p:cNvPr id="35" name="Level 3: Organized dataset"/>
          <p:cNvSpPr/>
          <p:nvPr/>
        </p:nvSpPr>
        <p:spPr>
          <a:xfrm>
            <a:off x="8101584" y="3611880"/>
            <a:ext cx="1216152" cy="2743200"/>
          </a:xfrm>
          <a:prstGeom prst="rect">
            <a:avLst/>
          </a:prstGeom>
          <a:solidFill>
            <a:srgbClr val="009E73"/>
          </a:solidFill>
          <a:ln w="12700">
            <a:solidFill>
              <a:srgbClr val="FFFFFF"/>
            </a:solidFill>
            <a:prstDash val="solid"/>
          </a:ln>
        </p:spPr>
      </p:sp>
      <p:sp>
        <p:nvSpPr>
          <p:cNvPr id="36" name="Text 34"/>
          <p:cNvSpPr txBox="1"/>
          <p:nvPr/>
        </p:nvSpPr>
        <p:spPr>
          <a:xfrm>
            <a:off x="8174736" y="3666744"/>
            <a:ext cx="1069848" cy="384048"/>
          </a:xfrm>
          <a:prstGeom prst="rect">
            <a:avLst/>
          </a:prstGeom>
          <a:noFill/>
          <a:ln/>
        </p:spPr>
        <p:txBody>
          <a:bodyPr wrap="square" lIns="0" tIns="0" rIns="0" bIns="0" rtlCol="0" anchor="t"/>
          <a:lstStyle/>
          <a:p>
            <a:pPr indent="0" marL="0">
              <a:buNone/>
            </a:pPr>
            <a:r>
              <a:rPr lang="en-US" sz="850" b="1" dirty="0">
                <a:solidFill>
                  <a:srgbClr val="FFFFFF"/>
                </a:solidFill>
                <a:latin typeface="Arial" pitchFamily="34" charset="0"/>
                <a:ea typeface="Arial" pitchFamily="34" charset="-122"/>
                <a:cs typeface="Arial" pitchFamily="34" charset="-120"/>
              </a:rPr>
              <a:t>Dataset organization standards</a:t>
            </a:r>
            <a:endParaRPr lang="en-US" sz="850" dirty="0"/>
          </a:p>
        </p:txBody>
      </p:sp>
      <p:sp>
        <p:nvSpPr>
          <p:cNvPr id="37" name="Text 35"/>
          <p:cNvSpPr txBox="1"/>
          <p:nvPr/>
        </p:nvSpPr>
        <p:spPr>
          <a:xfrm>
            <a:off x="8174736" y="4069080"/>
            <a:ext cx="1069848" cy="457200"/>
          </a:xfrm>
          <a:prstGeom prst="rect">
            <a:avLst/>
          </a:prstGeom>
          <a:noFill/>
          <a:ln/>
        </p:spPr>
        <p:txBody>
          <a:bodyPr wrap="square" lIns="0" tIns="0" rIns="0" bIns="0" rtlCol="0" anchor="t"/>
          <a:lstStyle/>
          <a:p>
            <a:pPr indent="0" marL="0">
              <a:buNone/>
            </a:pPr>
            <a:r>
              <a:rPr lang="en-US" sz="850" i="1" dirty="0">
                <a:solidFill>
                  <a:srgbClr val="FFFFFF"/>
                </a:solidFill>
                <a:latin typeface="Arial" pitchFamily="34" charset="0"/>
                <a:ea typeface="Arial" pitchFamily="34" charset="-122"/>
                <a:cs typeface="Arial" pitchFamily="34" charset="-120"/>
              </a:rPr>
              <a:t>BIDS or DANDI-layout dataset</a:t>
            </a:r>
            <a:endParaRPr lang="en-US" sz="850" dirty="0"/>
          </a:p>
        </p:txBody>
      </p:sp>
      <p:sp>
        <p:nvSpPr>
          <p:cNvPr id="38" name="Label level 3"/>
          <p:cNvSpPr txBox="1"/>
          <p:nvPr/>
        </p:nvSpPr>
        <p:spPr>
          <a:xfrm>
            <a:off x="8119872" y="2148840"/>
            <a:ext cx="1179576" cy="1399032"/>
          </a:xfrm>
          <a:prstGeom prst="rect">
            <a:avLst/>
          </a:prstGeom>
          <a:noFill/>
          <a:ln/>
        </p:spPr>
        <p:txBody>
          <a:bodyPr wrap="square" lIns="0" tIns="0" rIns="0" bIns="0" rtlCol="0" anchor="b"/>
          <a:lstStyle/>
          <a:p>
            <a:pPr indent="0" marL="0">
              <a:buNone/>
            </a:pPr>
            <a:r>
              <a:rPr lang="en-US" sz="900" dirty="0">
                <a:solidFill>
                  <a:srgbClr val="5B6770"/>
                </a:solidFill>
                <a:latin typeface="Arial" pitchFamily="34" charset="0"/>
                <a:ea typeface="Arial" pitchFamily="34" charset="-122"/>
                <a:cs typeface="Arial" pitchFamily="34" charset="-120"/>
              </a:rPr>
              <a:t>Level 3</a:t>
            </a:r>
            <a:endParaRPr lang="en-US" sz="900" dirty="0"/>
          </a:p>
          <a:p>
            <a:pPr indent="0" marL="0">
              <a:buNone/>
            </a:pPr>
            <a:r>
              <a:rPr lang="en-US" sz="1100" b="1" dirty="0">
                <a:solidFill>
                  <a:srgbClr val="1F2933"/>
                </a:solidFill>
                <a:latin typeface="Arial" pitchFamily="34" charset="0"/>
                <a:ea typeface="Arial" pitchFamily="34" charset="-122"/>
                <a:cs typeface="Arial" pitchFamily="34" charset="-120"/>
              </a:rPr>
              <a:t>Organized dataset</a:t>
            </a:r>
            <a:endParaRPr lang="en-US" sz="900" dirty="0"/>
          </a:p>
          <a:p>
            <a:pPr indent="0" marL="0">
              <a:buNone/>
            </a:pPr>
            <a:r>
              <a:rPr lang="en-US" sz="850" dirty="0">
                <a:solidFill>
                  <a:srgbClr val="5B6770"/>
                </a:solidFill>
                <a:latin typeface="Arial" pitchFamily="34" charset="0"/>
                <a:ea typeface="Arial" pitchFamily="34" charset="-122"/>
                <a:cs typeface="Arial" pitchFamily="34" charset="-120"/>
              </a:rPr>
              <a:t>FAIR: </a:t>
            </a:r>
            <a:pPr indent="0" marL="0">
              <a:buNone/>
            </a:pPr>
            <a:r>
              <a:rPr lang="en-US" sz="850" dirty="0">
                <a:solidFill>
                  <a:srgbClr val="1F2933"/>
                </a:solidFill>
                <a:latin typeface="Arial" pitchFamily="34" charset="0"/>
                <a:ea typeface="Arial" pitchFamily="34" charset="-122"/>
                <a:cs typeface="Arial" pitchFamily="34" charset="-120"/>
              </a:rPr>
              <a:t>R1, R1.3, F2</a:t>
            </a:r>
            <a:endParaRPr lang="en-US" sz="900" dirty="0"/>
          </a:p>
          <a:p>
            <a:pPr indent="0" marL="0">
              <a:buNone/>
            </a:pPr>
            <a:r>
              <a:rPr lang="en-US" sz="850" dirty="0">
                <a:solidFill>
                  <a:srgbClr val="5B6770"/>
                </a:solidFill>
                <a:latin typeface="Arial" pitchFamily="34" charset="0"/>
                <a:ea typeface="Arial" pitchFamily="34" charset="-122"/>
                <a:cs typeface="Arial" pitchFamily="34" charset="-120"/>
              </a:rPr>
              <a:t>RDA: </a:t>
            </a:r>
            <a:pPr indent="0" marL="0">
              <a:buNone/>
            </a:pPr>
            <a:r>
              <a:rPr lang="en-US" sz="850" dirty="0">
                <a:solidFill>
                  <a:srgbClr val="1F2933"/>
                </a:solidFill>
                <a:latin typeface="Arial" pitchFamily="34" charset="0"/>
                <a:ea typeface="Arial" pitchFamily="34" charset="-122"/>
                <a:cs typeface="Arial" pitchFamily="34" charset="-120"/>
              </a:rPr>
              <a:t>R1.3-01M/02M,</a:t>
            </a:r>
            <a:endParaRPr lang="en-US" sz="900" dirty="0"/>
          </a:p>
          <a:p>
            <a:pPr indent="0" marL="0">
              <a:buNone/>
            </a:pPr>
            <a:r>
              <a:rPr lang="en-US" sz="850" dirty="0">
                <a:solidFill>
                  <a:srgbClr val="1F2933"/>
                </a:solidFill>
                <a:latin typeface="Arial" pitchFamily="34" charset="0"/>
                <a:ea typeface="Arial" pitchFamily="34" charset="-122"/>
                <a:cs typeface="Arial" pitchFamily="34" charset="-120"/>
              </a:rPr>
              <a:t>I1-01M/02M, R1-01M</a:t>
            </a:r>
            <a:endParaRPr lang="en-US" sz="900" dirty="0"/>
          </a:p>
        </p:txBody>
      </p:sp>
      <p:sp>
        <p:nvSpPr>
          <p:cNvPr id="39" name="Level 4: Interoperable"/>
          <p:cNvSpPr/>
          <p:nvPr/>
        </p:nvSpPr>
        <p:spPr>
          <a:xfrm>
            <a:off x="9354312" y="2880360"/>
            <a:ext cx="1216152" cy="3474720"/>
          </a:xfrm>
          <a:prstGeom prst="rect">
            <a:avLst/>
          </a:prstGeom>
          <a:solidFill>
            <a:srgbClr val="CC79A7"/>
          </a:solidFill>
          <a:ln w="12700">
            <a:solidFill>
              <a:srgbClr val="FFFFFF"/>
            </a:solidFill>
            <a:prstDash val="solid"/>
          </a:ln>
        </p:spPr>
      </p:sp>
      <p:sp>
        <p:nvSpPr>
          <p:cNvPr id="40" name="Text 38"/>
          <p:cNvSpPr txBox="1"/>
          <p:nvPr/>
        </p:nvSpPr>
        <p:spPr>
          <a:xfrm>
            <a:off x="9427464" y="2935224"/>
            <a:ext cx="1069848" cy="384048"/>
          </a:xfrm>
          <a:prstGeom prst="rect">
            <a:avLst/>
          </a:prstGeom>
          <a:noFill/>
          <a:ln/>
        </p:spPr>
        <p:txBody>
          <a:bodyPr wrap="square" lIns="0" tIns="0" rIns="0" bIns="0" rtlCol="0" anchor="t"/>
          <a:lstStyle/>
          <a:p>
            <a:pPr indent="0" marL="0">
              <a:buNone/>
            </a:pPr>
            <a:r>
              <a:rPr lang="en-US" sz="850" b="1" dirty="0">
                <a:solidFill>
                  <a:srgbClr val="FFFFFF"/>
                </a:solidFill>
                <a:latin typeface="Arial" pitchFamily="34" charset="0"/>
                <a:ea typeface="Arial" pitchFamily="34" charset="-122"/>
                <a:cs typeface="Arial" pitchFamily="34" charset="-120"/>
              </a:rPr>
              <a:t>Ontologies &amp; terminologies</a:t>
            </a:r>
            <a:endParaRPr lang="en-US" sz="850" dirty="0"/>
          </a:p>
        </p:txBody>
      </p:sp>
      <p:sp>
        <p:nvSpPr>
          <p:cNvPr id="41" name="Text 39"/>
          <p:cNvSpPr txBox="1"/>
          <p:nvPr/>
        </p:nvSpPr>
        <p:spPr>
          <a:xfrm>
            <a:off x="9427464" y="3337560"/>
            <a:ext cx="1069848" cy="457200"/>
          </a:xfrm>
          <a:prstGeom prst="rect">
            <a:avLst/>
          </a:prstGeom>
          <a:noFill/>
          <a:ln/>
        </p:spPr>
        <p:txBody>
          <a:bodyPr wrap="square" lIns="0" tIns="0" rIns="0" bIns="0" rtlCol="0" anchor="t"/>
          <a:lstStyle/>
          <a:p>
            <a:pPr indent="0" marL="0">
              <a:buNone/>
            </a:pPr>
            <a:r>
              <a:rPr lang="en-US" sz="850" i="1" dirty="0">
                <a:solidFill>
                  <a:srgbClr val="FFFFFF"/>
                </a:solidFill>
                <a:latin typeface="Arial" pitchFamily="34" charset="0"/>
                <a:ea typeface="Arial" pitchFamily="34" charset="-122"/>
                <a:cs typeface="Arial" pitchFamily="34" charset="-120"/>
              </a:rPr>
              <a:t>+ NCBI Taxonomy, atlas, and HED terms</a:t>
            </a:r>
            <a:endParaRPr lang="en-US" sz="850" dirty="0"/>
          </a:p>
        </p:txBody>
      </p:sp>
      <p:sp>
        <p:nvSpPr>
          <p:cNvPr id="42" name="Label level 4"/>
          <p:cNvSpPr txBox="1"/>
          <p:nvPr/>
        </p:nvSpPr>
        <p:spPr>
          <a:xfrm>
            <a:off x="9372600" y="1417320"/>
            <a:ext cx="1179576" cy="1399032"/>
          </a:xfrm>
          <a:prstGeom prst="rect">
            <a:avLst/>
          </a:prstGeom>
          <a:noFill/>
          <a:ln/>
        </p:spPr>
        <p:txBody>
          <a:bodyPr wrap="square" lIns="0" tIns="0" rIns="0" bIns="0" rtlCol="0" anchor="b"/>
          <a:lstStyle/>
          <a:p>
            <a:pPr indent="0" marL="0">
              <a:buNone/>
            </a:pPr>
            <a:r>
              <a:rPr lang="en-US" sz="900" dirty="0">
                <a:solidFill>
                  <a:srgbClr val="5B6770"/>
                </a:solidFill>
                <a:latin typeface="Arial" pitchFamily="34" charset="0"/>
                <a:ea typeface="Arial" pitchFamily="34" charset="-122"/>
                <a:cs typeface="Arial" pitchFamily="34" charset="-120"/>
              </a:rPr>
              <a:t>Level 4</a:t>
            </a:r>
            <a:endParaRPr lang="en-US" sz="900" dirty="0"/>
          </a:p>
          <a:p>
            <a:pPr indent="0" marL="0">
              <a:buNone/>
            </a:pPr>
            <a:r>
              <a:rPr lang="en-US" sz="1100" b="1" dirty="0">
                <a:solidFill>
                  <a:srgbClr val="1F2933"/>
                </a:solidFill>
                <a:latin typeface="Arial" pitchFamily="34" charset="0"/>
                <a:ea typeface="Arial" pitchFamily="34" charset="-122"/>
                <a:cs typeface="Arial" pitchFamily="34" charset="-120"/>
              </a:rPr>
              <a:t>Interoperable</a:t>
            </a:r>
            <a:endParaRPr lang="en-US" sz="900" dirty="0"/>
          </a:p>
          <a:p>
            <a:pPr indent="0" marL="0">
              <a:buNone/>
            </a:pPr>
            <a:r>
              <a:rPr lang="en-US" sz="850" dirty="0">
                <a:solidFill>
                  <a:srgbClr val="5B6770"/>
                </a:solidFill>
                <a:latin typeface="Arial" pitchFamily="34" charset="0"/>
                <a:ea typeface="Arial" pitchFamily="34" charset="-122"/>
                <a:cs typeface="Arial" pitchFamily="34" charset="-120"/>
              </a:rPr>
              <a:t>FAIR: </a:t>
            </a:r>
            <a:pPr indent="0" marL="0">
              <a:buNone/>
            </a:pPr>
            <a:r>
              <a:rPr lang="en-US" sz="850" dirty="0">
                <a:solidFill>
                  <a:srgbClr val="1F2933"/>
                </a:solidFill>
                <a:latin typeface="Arial" pitchFamily="34" charset="0"/>
                <a:ea typeface="Arial" pitchFamily="34" charset="-122"/>
                <a:cs typeface="Arial" pitchFamily="34" charset="-120"/>
              </a:rPr>
              <a:t>I2, I3</a:t>
            </a:r>
            <a:endParaRPr lang="en-US" sz="900" dirty="0"/>
          </a:p>
          <a:p>
            <a:pPr indent="0" marL="0">
              <a:buNone/>
            </a:pPr>
            <a:r>
              <a:rPr lang="en-US" sz="850" dirty="0">
                <a:solidFill>
                  <a:srgbClr val="5B6770"/>
                </a:solidFill>
                <a:latin typeface="Arial" pitchFamily="34" charset="0"/>
                <a:ea typeface="Arial" pitchFamily="34" charset="-122"/>
                <a:cs typeface="Arial" pitchFamily="34" charset="-120"/>
              </a:rPr>
              <a:t>RDA: </a:t>
            </a:r>
            <a:pPr indent="0" marL="0">
              <a:buNone/>
            </a:pPr>
            <a:r>
              <a:rPr lang="en-US" sz="850" dirty="0">
                <a:solidFill>
                  <a:srgbClr val="1F2933"/>
                </a:solidFill>
                <a:latin typeface="Arial" pitchFamily="34" charset="0"/>
                <a:ea typeface="Arial" pitchFamily="34" charset="-122"/>
                <a:cs typeface="Arial" pitchFamily="34" charset="-120"/>
              </a:rPr>
              <a:t>I2-01M/D,</a:t>
            </a:r>
            <a:endParaRPr lang="en-US" sz="900" dirty="0"/>
          </a:p>
          <a:p>
            <a:pPr indent="0" marL="0">
              <a:buNone/>
            </a:pPr>
            <a:r>
              <a:rPr lang="en-US" sz="850" dirty="0">
                <a:solidFill>
                  <a:srgbClr val="1F2933"/>
                </a:solidFill>
                <a:latin typeface="Arial" pitchFamily="34" charset="0"/>
                <a:ea typeface="Arial" pitchFamily="34" charset="-122"/>
                <a:cs typeface="Arial" pitchFamily="34" charset="-120"/>
              </a:rPr>
              <a:t>I3-01M to 04M,</a:t>
            </a:r>
            <a:endParaRPr lang="en-US" sz="900" dirty="0"/>
          </a:p>
          <a:p>
            <a:pPr indent="0" marL="0">
              <a:buNone/>
            </a:pPr>
            <a:r>
              <a:rPr lang="en-US" sz="850" dirty="0">
                <a:solidFill>
                  <a:srgbClr val="1F2933"/>
                </a:solidFill>
                <a:latin typeface="Arial" pitchFamily="34" charset="0"/>
                <a:ea typeface="Arial" pitchFamily="34" charset="-122"/>
                <a:cs typeface="Arial" pitchFamily="34" charset="-120"/>
              </a:rPr>
              <a:t>I3-01D/02D</a:t>
            </a:r>
            <a:endParaRPr lang="en-US" sz="900" dirty="0"/>
          </a:p>
        </p:txBody>
      </p:sp>
      <p:sp>
        <p:nvSpPr>
          <p:cNvPr id="43" name="Level 5: Findable and reusable record"/>
          <p:cNvSpPr/>
          <p:nvPr/>
        </p:nvSpPr>
        <p:spPr>
          <a:xfrm>
            <a:off x="10607040" y="2148840"/>
            <a:ext cx="1216152" cy="4206240"/>
          </a:xfrm>
          <a:prstGeom prst="rect">
            <a:avLst/>
          </a:prstGeom>
          <a:solidFill>
            <a:srgbClr val="0072B2"/>
          </a:solidFill>
          <a:ln w="12700">
            <a:solidFill>
              <a:srgbClr val="FFFFFF"/>
            </a:solidFill>
            <a:prstDash val="solid"/>
          </a:ln>
        </p:spPr>
      </p:sp>
      <p:sp>
        <p:nvSpPr>
          <p:cNvPr id="44" name="Text 42"/>
          <p:cNvSpPr txBox="1"/>
          <p:nvPr/>
        </p:nvSpPr>
        <p:spPr>
          <a:xfrm>
            <a:off x="10680192" y="2203704"/>
            <a:ext cx="1069848" cy="384048"/>
          </a:xfrm>
          <a:prstGeom prst="rect">
            <a:avLst/>
          </a:prstGeom>
          <a:noFill/>
          <a:ln/>
        </p:spPr>
        <p:txBody>
          <a:bodyPr wrap="square" lIns="0" tIns="0" rIns="0" bIns="0" rtlCol="0" anchor="t"/>
          <a:lstStyle/>
          <a:p>
            <a:pPr indent="0" marL="0">
              <a:buNone/>
            </a:pPr>
            <a:r>
              <a:rPr lang="en-US" sz="850" b="1" dirty="0">
                <a:solidFill>
                  <a:srgbClr val="FFFFFF"/>
                </a:solidFill>
                <a:latin typeface="Arial" pitchFamily="34" charset="0"/>
                <a:ea typeface="Arial" pitchFamily="34" charset="-122"/>
                <a:cs typeface="Arial" pitchFamily="34" charset="-120"/>
              </a:rPr>
              <a:t>Data archives</a:t>
            </a:r>
            <a:endParaRPr lang="en-US" sz="850" dirty="0"/>
          </a:p>
        </p:txBody>
      </p:sp>
      <p:sp>
        <p:nvSpPr>
          <p:cNvPr id="45" name="Text 43"/>
          <p:cNvSpPr txBox="1"/>
          <p:nvPr/>
        </p:nvSpPr>
        <p:spPr>
          <a:xfrm>
            <a:off x="10680192" y="2606040"/>
            <a:ext cx="1069848" cy="457200"/>
          </a:xfrm>
          <a:prstGeom prst="rect">
            <a:avLst/>
          </a:prstGeom>
          <a:noFill/>
          <a:ln/>
        </p:spPr>
        <p:txBody>
          <a:bodyPr wrap="square" lIns="0" tIns="0" rIns="0" bIns="0" rtlCol="0" anchor="t"/>
          <a:lstStyle/>
          <a:p>
            <a:pPr indent="0" marL="0">
              <a:buNone/>
            </a:pPr>
            <a:r>
              <a:rPr lang="en-US" sz="850" i="1" dirty="0">
                <a:solidFill>
                  <a:srgbClr val="FFFFFF"/>
                </a:solidFill>
                <a:latin typeface="Arial" pitchFamily="34" charset="0"/>
                <a:ea typeface="Arial" pitchFamily="34" charset="-122"/>
                <a:cs typeface="Arial" pitchFamily="34" charset="-120"/>
              </a:rPr>
              <a:t>DOI on DANDI or EMBER</a:t>
            </a:r>
            <a:endParaRPr lang="en-US" sz="850" dirty="0"/>
          </a:p>
        </p:txBody>
      </p:sp>
      <p:sp>
        <p:nvSpPr>
          <p:cNvPr id="46" name="Label level 5"/>
          <p:cNvSpPr txBox="1"/>
          <p:nvPr/>
        </p:nvSpPr>
        <p:spPr>
          <a:xfrm>
            <a:off x="10625328" y="685800"/>
            <a:ext cx="1179576" cy="1399032"/>
          </a:xfrm>
          <a:prstGeom prst="rect">
            <a:avLst/>
          </a:prstGeom>
          <a:noFill/>
          <a:ln/>
        </p:spPr>
        <p:txBody>
          <a:bodyPr wrap="square" lIns="0" tIns="0" rIns="0" bIns="0" rtlCol="0" anchor="b"/>
          <a:lstStyle/>
          <a:p>
            <a:pPr indent="0" marL="0">
              <a:buNone/>
            </a:pPr>
            <a:r>
              <a:rPr lang="en-US" sz="900" dirty="0">
                <a:solidFill>
                  <a:srgbClr val="5B6770"/>
                </a:solidFill>
                <a:latin typeface="Arial" pitchFamily="34" charset="0"/>
                <a:ea typeface="Arial" pitchFamily="34" charset="-122"/>
                <a:cs typeface="Arial" pitchFamily="34" charset="-120"/>
              </a:rPr>
              <a:t>Level 5</a:t>
            </a:r>
            <a:endParaRPr lang="en-US" sz="900" dirty="0"/>
          </a:p>
          <a:p>
            <a:pPr indent="0" marL="0">
              <a:buNone/>
            </a:pPr>
            <a:r>
              <a:rPr lang="en-US" sz="1100" b="1" dirty="0">
                <a:solidFill>
                  <a:srgbClr val="1F2933"/>
                </a:solidFill>
                <a:latin typeface="Arial" pitchFamily="34" charset="0"/>
                <a:ea typeface="Arial" pitchFamily="34" charset="-122"/>
                <a:cs typeface="Arial" pitchFamily="34" charset="-120"/>
              </a:rPr>
              <a:t>Findable and reusable record</a:t>
            </a:r>
            <a:endParaRPr lang="en-US" sz="900" dirty="0"/>
          </a:p>
          <a:p>
            <a:pPr indent="0" marL="0">
              <a:buNone/>
            </a:pPr>
            <a:r>
              <a:rPr lang="en-US" sz="850" dirty="0">
                <a:solidFill>
                  <a:srgbClr val="5B6770"/>
                </a:solidFill>
                <a:latin typeface="Arial" pitchFamily="34" charset="0"/>
                <a:ea typeface="Arial" pitchFamily="34" charset="-122"/>
                <a:cs typeface="Arial" pitchFamily="34" charset="-120"/>
              </a:rPr>
              <a:t>FAIR: </a:t>
            </a:r>
            <a:pPr indent="0" marL="0">
              <a:buNone/>
            </a:pPr>
            <a:r>
              <a:rPr lang="en-US" sz="850" dirty="0">
                <a:solidFill>
                  <a:srgbClr val="1F2933"/>
                </a:solidFill>
                <a:latin typeface="Arial" pitchFamily="34" charset="0"/>
                <a:ea typeface="Arial" pitchFamily="34" charset="-122"/>
                <a:cs typeface="Arial" pitchFamily="34" charset="-120"/>
              </a:rPr>
              <a:t>F1–F4, A1–A2,</a:t>
            </a:r>
            <a:endParaRPr lang="en-US" sz="900" dirty="0"/>
          </a:p>
          <a:p>
            <a:pPr indent="0" marL="0">
              <a:buNone/>
            </a:pPr>
            <a:r>
              <a:rPr lang="en-US" sz="850" dirty="0">
                <a:solidFill>
                  <a:srgbClr val="1F2933"/>
                </a:solidFill>
                <a:latin typeface="Arial" pitchFamily="34" charset="0"/>
                <a:ea typeface="Arial" pitchFamily="34" charset="-122"/>
                <a:cs typeface="Arial" pitchFamily="34" charset="-120"/>
              </a:rPr>
              <a:t>R1.1, R1.2</a:t>
            </a:r>
            <a:endParaRPr lang="en-US" sz="900" dirty="0"/>
          </a:p>
          <a:p>
            <a:pPr indent="0" marL="0">
              <a:buNone/>
            </a:pPr>
            <a:r>
              <a:rPr lang="en-US" sz="850" dirty="0">
                <a:solidFill>
                  <a:srgbClr val="5B6770"/>
                </a:solidFill>
                <a:latin typeface="Arial" pitchFamily="34" charset="0"/>
                <a:ea typeface="Arial" pitchFamily="34" charset="-122"/>
                <a:cs typeface="Arial" pitchFamily="34" charset="-120"/>
              </a:rPr>
              <a:t>RDA: </a:t>
            </a:r>
            <a:pPr indent="0" marL="0">
              <a:buNone/>
            </a:pPr>
            <a:r>
              <a:rPr lang="en-US" sz="850" dirty="0">
                <a:solidFill>
                  <a:srgbClr val="1F2933"/>
                </a:solidFill>
                <a:latin typeface="Arial" pitchFamily="34" charset="0"/>
                <a:ea typeface="Arial" pitchFamily="34" charset="-122"/>
                <a:cs typeface="Arial" pitchFamily="34" charset="-120"/>
              </a:rPr>
              <a:t>all F, A, R1.1,</a:t>
            </a:r>
            <a:endParaRPr lang="en-US" sz="900" dirty="0"/>
          </a:p>
          <a:p>
            <a:pPr indent="0" marL="0">
              <a:buNone/>
            </a:pPr>
            <a:r>
              <a:rPr lang="en-US" sz="850" dirty="0">
                <a:solidFill>
                  <a:srgbClr val="1F2933"/>
                </a:solidFill>
                <a:latin typeface="Arial" pitchFamily="34" charset="0"/>
                <a:ea typeface="Arial" pitchFamily="34" charset="-122"/>
                <a:cs typeface="Arial" pitchFamily="34" charset="-120"/>
              </a:rPr>
              <a:t>R1.2 indicators</a:t>
            </a:r>
            <a:endParaRPr lang="en-US" sz="900" dirty="0"/>
          </a:p>
        </p:txBody>
      </p:sp>
      <p:sp>
        <p:nvSpPr>
          <p:cNvPr id="47" name="Schema languages bracket"/>
          <p:cNvSpPr/>
          <p:nvPr/>
        </p:nvSpPr>
        <p:spPr>
          <a:xfrm>
            <a:off x="6894576" y="5971032"/>
            <a:ext cx="2377440" cy="310896"/>
          </a:xfrm>
          <a:prstGeom prst="roundRect">
            <a:avLst>
              <a:gd name="adj" fmla="val 14706"/>
            </a:avLst>
          </a:prstGeom>
          <a:solidFill>
            <a:srgbClr val="56B4E9"/>
          </a:solidFill>
          <a:ln w="12700">
            <a:solidFill>
              <a:srgbClr val="FFFFFF"/>
            </a:solidFill>
            <a:prstDash val="solid"/>
          </a:ln>
        </p:spPr>
      </p:sp>
      <p:sp>
        <p:nvSpPr>
          <p:cNvPr id="48" name="Text 46"/>
          <p:cNvSpPr txBox="1"/>
          <p:nvPr/>
        </p:nvSpPr>
        <p:spPr>
          <a:xfrm>
            <a:off x="6894576" y="5971032"/>
            <a:ext cx="2377440" cy="310896"/>
          </a:xfrm>
          <a:prstGeom prst="rect">
            <a:avLst/>
          </a:prstGeom>
          <a:noFill/>
          <a:ln/>
        </p:spPr>
        <p:txBody>
          <a:bodyPr wrap="square" lIns="0" tIns="0" rIns="0" bIns="0" rtlCol="0" anchor="ctr"/>
          <a:lstStyle/>
          <a:p>
            <a:pPr algn="ctr" indent="0" marL="0">
              <a:buNone/>
            </a:pPr>
            <a:r>
              <a:rPr lang="en-US" sz="850" b="1" dirty="0">
                <a:solidFill>
                  <a:srgbClr val="1A1A1A"/>
                </a:solidFill>
                <a:latin typeface="Arial" pitchFamily="34" charset="0"/>
                <a:ea typeface="Arial" pitchFamily="34" charset="-122"/>
                <a:cs typeface="Arial" pitchFamily="34" charset="-120"/>
              </a:rPr>
              <a:t>Schema languages: machine-checkable</a:t>
            </a:r>
            <a:endParaRPr lang="en-US" sz="850" dirty="0"/>
          </a:p>
        </p:txBody>
      </p:sp>
      <p:sp>
        <p:nvSpPr>
          <p:cNvPr id="49" name="Text 47"/>
          <p:cNvSpPr txBox="1"/>
          <p:nvPr/>
        </p:nvSpPr>
        <p:spPr>
          <a:xfrm>
            <a:off x="365760" y="6473952"/>
            <a:ext cx="11430000" cy="228600"/>
          </a:xfrm>
          <a:prstGeom prst="rect">
            <a:avLst/>
          </a:prstGeom>
          <a:noFill/>
          <a:ln/>
        </p:spPr>
        <p:txBody>
          <a:bodyPr wrap="square" lIns="0" tIns="0" rIns="0" bIns="0" rtlCol="0" anchor="ctr"/>
          <a:lstStyle/>
          <a:p>
            <a:pPr indent="0" marL="0">
              <a:buNone/>
            </a:pPr>
            <a:r>
              <a:rPr lang="en-US" sz="900" dirty="0">
                <a:solidFill>
                  <a:srgbClr val="5B6770"/>
                </a:solidFill>
                <a:latin typeface="Arial" pitchFamily="34" charset="0"/>
                <a:ea typeface="Arial" pitchFamily="34" charset="-122"/>
                <a:cs typeface="Arial" pitchFamily="34" charset="-120"/>
              </a:rPr>
              <a:t>FAIR = FAIR principles mainly addressed; RDA = main RDA FAIR Data Maturity Model indicators (prefix omitted; M metadata, D data). Full mapping: Table 2 and Suppl. Table S2.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Fig. 2 design: layers of the ecosystem and levels of FAIRness</dc:title>
  <dc:subject>PptxGenJS Presentation</dc:subject>
  <dc:creator>PptxGenJS</dc:creator>
  <cp:lastModifiedBy>PptxGenJS</cp:lastModifiedBy>
  <cp:revision>1</cp:revision>
  <dcterms:created xsi:type="dcterms:W3CDTF">2026-10-15T08:35:44Z</dcterms:created>
  <dcterms:modified xsi:type="dcterms:W3CDTF">2026-10-15T08:35:44Z</dcterms:modified>
</cp:coreProperties>
</file>