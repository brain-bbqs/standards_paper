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draft for Fig. 1 (task F2). One screen of a generic video-sharing app; each numbered element maps to a layer of the ecosystem map (Table 1 order) with neuroscience examples. Final artwork: replace the mock-up with designer artwork, keep the layer colours (Okabe-Ito) consistent with Figs. 2 and 5, and avoid any real platform's name, logo, or look.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standards ecosystem seen through a video-sharing app</a:t>
            </a:r>
            <a:endParaRPr lang="en-US" sz="24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 design draft: generic app (no real platform name, logo, or look); numbers follow the layer order of Table 1</a:t>
            </a:r>
            <a:endParaRPr lang="en-US" sz="1100" dirty="0"/>
          </a:p>
        </p:txBody>
      </p:sp>
      <p:sp>
        <p:nvSpPr>
          <p:cNvPr id="4" name="App window"/>
          <p:cNvSpPr/>
          <p:nvPr/>
        </p:nvSpPr>
        <p:spPr>
          <a:xfrm>
            <a:off x="3886200" y="1188720"/>
            <a:ext cx="4434840" cy="51206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875">
            <a:solidFill>
              <a:srgbClr val="C9D1D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pp logo"/>
          <p:cNvSpPr/>
          <p:nvPr/>
        </p:nvSpPr>
        <p:spPr>
          <a:xfrm>
            <a:off x="4389120" y="1353312"/>
            <a:ext cx="384048" cy="274320"/>
          </a:xfrm>
          <a:prstGeom prst="roundRect">
            <a:avLst>
              <a:gd name="adj" fmla="val 20000"/>
            </a:avLst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526280" y="1426464"/>
            <a:ext cx="128016" cy="12801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earch box"/>
          <p:cNvSpPr/>
          <p:nvPr/>
        </p:nvSpPr>
        <p:spPr>
          <a:xfrm>
            <a:off x="4937760" y="1353312"/>
            <a:ext cx="3063240" cy="274320"/>
          </a:xfrm>
          <a:prstGeom prst="roundRect">
            <a:avLst>
              <a:gd name="adj" fmla="val 50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74920" y="1353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Search:  mouse foraging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1792224"/>
            <a:ext cx="4434840" cy="0"/>
          </a:xfrm>
          <a:prstGeom prst="line">
            <a:avLst/>
          </a:prstGeom>
          <a:noFill/>
          <a:ln w="12700">
            <a:solidFill>
              <a:srgbClr val="C9D1D9"/>
            </a:solidFill>
            <a:prstDash val="solid"/>
          </a:ln>
        </p:spPr>
      </p:sp>
      <p:sp>
        <p:nvSpPr>
          <p:cNvPr id="10" name="Video player"/>
          <p:cNvSpPr/>
          <p:nvPr/>
        </p:nvSpPr>
        <p:spPr>
          <a:xfrm>
            <a:off x="4069080" y="1920240"/>
            <a:ext cx="4069080" cy="1691640"/>
          </a:xfrm>
          <a:prstGeom prst="rect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5902452" y="2267712"/>
            <a:ext cx="438912" cy="384048"/>
          </a:xfrm>
          <a:prstGeom prst="triangle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06240" y="20116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DE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S1E2_open_field.mp4</a:t>
            </a:r>
            <a:endParaRPr lang="en-US" sz="900" dirty="0"/>
          </a:p>
        </p:txBody>
      </p:sp>
      <p:sp>
        <p:nvSpPr>
          <p:cNvPr id="13" name="Codec chip"/>
          <p:cNvSpPr/>
          <p:nvPr/>
        </p:nvSpPr>
        <p:spPr>
          <a:xfrm>
            <a:off x="6766560" y="2011680"/>
            <a:ext cx="91440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20116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H.264 · AV1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85292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8DE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937760" y="2907792"/>
            <a:ext cx="3017520" cy="100584"/>
          </a:xfrm>
          <a:prstGeom prst="rect">
            <a:avLst/>
          </a:prstGeom>
          <a:solidFill>
            <a:srgbClr val="4A505A"/>
          </a:solidFill>
          <a:ln w="12700">
            <a:solidFill>
              <a:srgbClr val="4A50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0" y="2907792"/>
            <a:ext cx="2776118" cy="100584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308152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8DE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937760" y="3136392"/>
            <a:ext cx="3017520" cy="100584"/>
          </a:xfrm>
          <a:prstGeom prst="rect">
            <a:avLst/>
          </a:prstGeom>
          <a:solidFill>
            <a:srgbClr val="4A505A"/>
          </a:solidFill>
          <a:ln w="12700">
            <a:solidFill>
              <a:srgbClr val="4A50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3136392"/>
            <a:ext cx="2414016" cy="100584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331012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8DE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937760" y="3364992"/>
            <a:ext cx="3017520" cy="100584"/>
          </a:xfrm>
          <a:prstGeom prst="rect">
            <a:avLst/>
          </a:prstGeom>
          <a:solidFill>
            <a:srgbClr val="4A505A"/>
          </a:solidFill>
          <a:ln w="12700">
            <a:solidFill>
              <a:srgbClr val="4A50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37760" y="3364992"/>
            <a:ext cx="1659636" cy="100584"/>
          </a:xfrm>
          <a:prstGeom prst="rect">
            <a:avLst/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44768" y="2825496"/>
            <a:ext cx="0" cy="71323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69080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S1E2 · Foraging in the open field</a:t>
            </a:r>
            <a:endParaRPr lang="en-US" sz="1200" dirty="0"/>
          </a:p>
        </p:txBody>
      </p:sp>
      <p:sp>
        <p:nvSpPr>
          <p:cNvPr id="26" name="Tag Science &amp; Nature"/>
          <p:cNvSpPr/>
          <p:nvPr/>
        </p:nvSpPr>
        <p:spPr>
          <a:xfrm>
            <a:off x="4069080" y="4059936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E4E7EB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69080" y="40599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&amp; Nature</a:t>
            </a:r>
            <a:endParaRPr lang="en-US" sz="900" dirty="0"/>
          </a:p>
        </p:txBody>
      </p:sp>
      <p:sp>
        <p:nvSpPr>
          <p:cNvPr id="28" name="Tag #mouse"/>
          <p:cNvSpPr/>
          <p:nvPr/>
        </p:nvSpPr>
        <p:spPr>
          <a:xfrm>
            <a:off x="5468112" y="4059936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68112" y="4059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#mouse</a:t>
            </a:r>
            <a:endParaRPr lang="en-US" sz="900" dirty="0"/>
          </a:p>
        </p:txBody>
      </p:sp>
      <p:sp>
        <p:nvSpPr>
          <p:cNvPr id="30" name="Tag #foraging"/>
          <p:cNvSpPr/>
          <p:nvPr/>
        </p:nvSpPr>
        <p:spPr>
          <a:xfrm>
            <a:off x="6181344" y="4059936"/>
            <a:ext cx="845820" cy="237744"/>
          </a:xfrm>
          <a:prstGeom prst="roundRect">
            <a:avLst>
              <a:gd name="adj" fmla="val 50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81344" y="4059936"/>
            <a:ext cx="845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#foraging</a:t>
            </a:r>
            <a:endParaRPr lang="en-US" sz="900" dirty="0"/>
          </a:p>
        </p:txBody>
      </p:sp>
      <p:sp>
        <p:nvSpPr>
          <p:cNvPr id="32" name="Tag #behavior"/>
          <p:cNvSpPr/>
          <p:nvPr/>
        </p:nvSpPr>
        <p:spPr>
          <a:xfrm>
            <a:off x="7100316" y="4059936"/>
            <a:ext cx="845820" cy="237744"/>
          </a:xfrm>
          <a:prstGeom prst="roundRect">
            <a:avLst>
              <a:gd name="adj" fmla="val 50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00316" y="4059936"/>
            <a:ext cx="8458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#behavior</a:t>
            </a:r>
            <a:endParaRPr lang="en-US" sz="900" dirty="0"/>
          </a:p>
        </p:txBody>
      </p:sp>
      <p:sp>
        <p:nvSpPr>
          <p:cNvPr id="34" name="Series panel"/>
          <p:cNvSpPr/>
          <p:nvPr/>
        </p:nvSpPr>
        <p:spPr>
          <a:xfrm>
            <a:off x="4069080" y="4407408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206240" y="448056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Series: Mouse foraging · Season 1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251960" y="4709160"/>
            <a:ext cx="3703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S1E1 · Habituation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160520" y="4892040"/>
            <a:ext cx="3886200" cy="210312"/>
          </a:xfrm>
          <a:prstGeom prst="rect">
            <a:avLst/>
          </a:prstGeom>
          <a:solidFill>
            <a:srgbClr val="E4E7EB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251960" y="4901184"/>
            <a:ext cx="3703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S1E2 · Foraging in the open field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5093208"/>
            <a:ext cx="3703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S1E3 · Social foraging</a:t>
            </a:r>
            <a:endParaRPr lang="en-US" sz="950" dirty="0"/>
          </a:p>
        </p:txBody>
      </p:sp>
      <p:sp>
        <p:nvSpPr>
          <p:cNvPr id="40" name="Upload form"/>
          <p:cNvSpPr/>
          <p:nvPr/>
        </p:nvSpPr>
        <p:spPr>
          <a:xfrm>
            <a:off x="4069080" y="5413248"/>
            <a:ext cx="4069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C9D1D9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4206240" y="54772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video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206240" y="5715000"/>
            <a:ext cx="1143000" cy="219456"/>
          </a:xfrm>
          <a:prstGeom prst="rect">
            <a:avLst/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270248" y="571500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*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40680" y="5715000"/>
            <a:ext cx="1143000" cy="219456"/>
          </a:xfrm>
          <a:prstGeom prst="rect">
            <a:avLst/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504688" y="571500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▾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675120" y="5715000"/>
            <a:ext cx="1143000" cy="219456"/>
          </a:xfrm>
          <a:prstGeom prst="rect">
            <a:avLst/>
          </a:prstGeom>
          <a:solidFill>
            <a:srgbClr val="F3F5F7"/>
          </a:solidFill>
          <a:ln w="12700">
            <a:solidFill>
              <a:srgbClr val="C9D1D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739128" y="571500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206240" y="596188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Fields and rules defined by a specification</a:t>
            </a:r>
            <a:endParaRPr lang="en-US" sz="850" dirty="0"/>
          </a:p>
        </p:txBody>
      </p:sp>
      <p:sp>
        <p:nvSpPr>
          <p:cNvPr id="49" name="Callout 1: Data archives"/>
          <p:cNvSpPr/>
          <p:nvPr/>
        </p:nvSpPr>
        <p:spPr>
          <a:xfrm>
            <a:off x="457200" y="11887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0072B2">
              <a:alpha val="12000"/>
            </a:srgbClr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50" name="Badge 1"/>
          <p:cNvSpPr/>
          <p:nvPr/>
        </p:nvSpPr>
        <p:spPr>
          <a:xfrm>
            <a:off x="594360" y="1335024"/>
            <a:ext cx="310896" cy="310896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94360" y="1335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" y="12801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21792" y="177393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hosts, searches, and streams the videos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621792" y="224942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DANDI, EMBER, OpenNeuro</a:t>
            </a:r>
            <a:endParaRPr lang="en-US" sz="1150" dirty="0"/>
          </a:p>
        </p:txBody>
      </p:sp>
      <p:sp>
        <p:nvSpPr>
          <p:cNvPr id="55" name="Connector 1"/>
          <p:cNvSpPr/>
          <p:nvPr/>
        </p:nvSpPr>
        <p:spPr>
          <a:xfrm flipH="1">
            <a:off x="3566160" y="1490472"/>
            <a:ext cx="612648" cy="429768"/>
          </a:xfrm>
          <a:prstGeom prst="line">
            <a:avLst/>
          </a:prstGeom>
          <a:noFill/>
          <a:ln w="19050">
            <a:solidFill>
              <a:srgbClr val="0072B2"/>
            </a:solidFill>
            <a:prstDash val="solid"/>
          </a:ln>
        </p:spPr>
      </p:sp>
      <p:sp>
        <p:nvSpPr>
          <p:cNvPr id="56" name="Badge 1"/>
          <p:cNvSpPr/>
          <p:nvPr/>
        </p:nvSpPr>
        <p:spPr>
          <a:xfrm>
            <a:off x="4041648" y="1353312"/>
            <a:ext cx="274320" cy="274320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041648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8" name="Callout 2: Dataset organization standards"/>
          <p:cNvSpPr/>
          <p:nvPr/>
        </p:nvSpPr>
        <p:spPr>
          <a:xfrm>
            <a:off x="457200" y="45720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009E73">
              <a:alpha val="12000"/>
            </a:srgbClr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59" name="Badge 2"/>
          <p:cNvSpPr/>
          <p:nvPr/>
        </p:nvSpPr>
        <p:spPr>
          <a:xfrm>
            <a:off x="594360" y="4718304"/>
            <a:ext cx="310896" cy="310896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94360" y="4718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05840" y="466344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1792" y="515721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series with numbered episodes (S1E1, S1E2)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21792" y="563270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BIDS, Psych-DS</a:t>
            </a:r>
            <a:endParaRPr lang="en-US" sz="1150" dirty="0"/>
          </a:p>
        </p:txBody>
      </p:sp>
      <p:sp>
        <p:nvSpPr>
          <p:cNvPr id="64" name="Connector 2"/>
          <p:cNvSpPr/>
          <p:nvPr/>
        </p:nvSpPr>
        <p:spPr>
          <a:xfrm flipH="1">
            <a:off x="3566160" y="4864608"/>
            <a:ext cx="502920" cy="438912"/>
          </a:xfrm>
          <a:prstGeom prst="line">
            <a:avLst/>
          </a:prstGeom>
          <a:noFill/>
          <a:ln w="19050">
            <a:solidFill>
              <a:srgbClr val="009E73"/>
            </a:solidFill>
            <a:prstDash val="solid"/>
          </a:ln>
        </p:spPr>
      </p:sp>
      <p:sp>
        <p:nvSpPr>
          <p:cNvPr id="65" name="Badge 2"/>
          <p:cNvSpPr/>
          <p:nvPr/>
        </p:nvSpPr>
        <p:spPr>
          <a:xfrm>
            <a:off x="3931920" y="4727448"/>
            <a:ext cx="274320" cy="274320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931920" y="4727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7" name="Callout 3: File organization standards"/>
          <p:cNvSpPr/>
          <p:nvPr/>
        </p:nvSpPr>
        <p:spPr>
          <a:xfrm>
            <a:off x="457200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D55E00">
              <a:alpha val="12000"/>
            </a:srgbClr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68" name="Badge 3"/>
          <p:cNvSpPr/>
          <p:nvPr/>
        </p:nvSpPr>
        <p:spPr>
          <a:xfrm>
            <a:off x="594360" y="3026664"/>
            <a:ext cx="310896" cy="310896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436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1005840" y="29718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1792" y="346557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MP4 file keeps video, audio, and subtitles in sync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621792" y="394106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NWB, OME-Zarr</a:t>
            </a:r>
            <a:endParaRPr lang="en-US" sz="1150" dirty="0"/>
          </a:p>
        </p:txBody>
      </p:sp>
      <p:sp>
        <p:nvSpPr>
          <p:cNvPr id="73" name="Connector 3"/>
          <p:cNvSpPr/>
          <p:nvPr/>
        </p:nvSpPr>
        <p:spPr>
          <a:xfrm flipH="1">
            <a:off x="3566160" y="3108960"/>
            <a:ext cx="502920" cy="502920"/>
          </a:xfrm>
          <a:prstGeom prst="line">
            <a:avLst/>
          </a:prstGeom>
          <a:noFill/>
          <a:ln w="19050">
            <a:solidFill>
              <a:srgbClr val="D55E00"/>
            </a:solidFill>
            <a:prstDash val="solid"/>
          </a:ln>
        </p:spPr>
      </p:sp>
      <p:sp>
        <p:nvSpPr>
          <p:cNvPr id="74" name="Badge 3"/>
          <p:cNvSpPr/>
          <p:nvPr/>
        </p:nvSpPr>
        <p:spPr>
          <a:xfrm>
            <a:off x="3931920" y="2971800"/>
            <a:ext cx="274320" cy="274320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39319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6" name="Callout 4: Ontologies &amp; terminologies"/>
          <p:cNvSpPr/>
          <p:nvPr/>
        </p:nvSpPr>
        <p:spPr>
          <a:xfrm>
            <a:off x="8625535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CC79A7">
              <a:alpha val="12000"/>
            </a:srgbClr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77" name="Badge 4"/>
          <p:cNvSpPr/>
          <p:nvPr/>
        </p:nvSpPr>
        <p:spPr>
          <a:xfrm>
            <a:off x="8762695" y="3026664"/>
            <a:ext cx="310896" cy="310896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62695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9174175" y="29718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8790127" y="346557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Categories and hashtags give content a shared meaning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8790127" y="394106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Taxonomy, HED</a:t>
            </a:r>
            <a:endParaRPr lang="en-US" sz="1150" dirty="0"/>
          </a:p>
        </p:txBody>
      </p:sp>
      <p:sp>
        <p:nvSpPr>
          <p:cNvPr id="82" name="Connector 4"/>
          <p:cNvSpPr/>
          <p:nvPr/>
        </p:nvSpPr>
        <p:spPr>
          <a:xfrm flipH="1">
            <a:off x="8110728" y="3611880"/>
            <a:ext cx="514807" cy="566928"/>
          </a:xfrm>
          <a:prstGeom prst="line">
            <a:avLst/>
          </a:prstGeom>
          <a:noFill/>
          <a:ln w="19050">
            <a:solidFill>
              <a:srgbClr val="CC79A7"/>
            </a:solidFill>
            <a:prstDash val="solid"/>
          </a:ln>
        </p:spPr>
      </p:sp>
      <p:sp>
        <p:nvSpPr>
          <p:cNvPr id="83" name="Badge 4"/>
          <p:cNvSpPr/>
          <p:nvPr/>
        </p:nvSpPr>
        <p:spPr>
          <a:xfrm>
            <a:off x="7973568" y="4041648"/>
            <a:ext cx="274320" cy="274320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973568" y="4041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85" name="Callout 5: Data formats"/>
          <p:cNvSpPr/>
          <p:nvPr/>
        </p:nvSpPr>
        <p:spPr>
          <a:xfrm>
            <a:off x="8625535" y="11887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E69F00">
              <a:alpha val="12000"/>
            </a:srgbClr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86" name="Badge 5"/>
          <p:cNvSpPr/>
          <p:nvPr/>
        </p:nvSpPr>
        <p:spPr>
          <a:xfrm>
            <a:off x="8762695" y="1335024"/>
            <a:ext cx="310896" cy="310896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762695" y="1335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9174175" y="12801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790127" y="177393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codec (H.264, AV1) encodes the bytes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8790127" y="224942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HDF5, Zarr</a:t>
            </a:r>
            <a:endParaRPr lang="en-US" sz="1150" dirty="0"/>
          </a:p>
        </p:txBody>
      </p:sp>
      <p:sp>
        <p:nvSpPr>
          <p:cNvPr id="91" name="Connector 5"/>
          <p:cNvSpPr/>
          <p:nvPr/>
        </p:nvSpPr>
        <p:spPr>
          <a:xfrm flipH="1">
            <a:off x="7863840" y="1920240"/>
            <a:ext cx="761695" cy="210312"/>
          </a:xfrm>
          <a:prstGeom prst="line">
            <a:avLst/>
          </a:prstGeom>
          <a:noFill/>
          <a:ln w="19050">
            <a:solidFill>
              <a:srgbClr val="E69F00"/>
            </a:solidFill>
            <a:prstDash val="solid"/>
          </a:ln>
        </p:spPr>
      </p:sp>
      <p:sp>
        <p:nvSpPr>
          <p:cNvPr id="92" name="Badge 5"/>
          <p:cNvSpPr/>
          <p:nvPr/>
        </p:nvSpPr>
        <p:spPr>
          <a:xfrm>
            <a:off x="7726680" y="1993392"/>
            <a:ext cx="274320" cy="274320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726680" y="1993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94" name="Callout 6: Schema languages"/>
          <p:cNvSpPr/>
          <p:nvPr/>
        </p:nvSpPr>
        <p:spPr>
          <a:xfrm>
            <a:off x="8625535" y="45720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56B4E9">
              <a:alpha val="12000"/>
            </a:srgbClr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95" name="Badge 6"/>
          <p:cNvSpPr/>
          <p:nvPr/>
        </p:nvSpPr>
        <p:spPr>
          <a:xfrm>
            <a:off x="8762695" y="4718304"/>
            <a:ext cx="310896" cy="310896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62695" y="4718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9174175" y="466344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8790127" y="5157216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upload form's fields and rules come from a specification</a:t>
            </a:r>
            <a:endParaRPr lang="en-US" sz="1100" dirty="0"/>
          </a:p>
        </p:txBody>
      </p:sp>
      <p:sp>
        <p:nvSpPr>
          <p:cNvPr id="99" name="Text 97"/>
          <p:cNvSpPr txBox="1"/>
          <p:nvPr/>
        </p:nvSpPr>
        <p:spPr>
          <a:xfrm>
            <a:off x="8790127" y="5632704"/>
            <a:ext cx="2807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Neuroscience: </a:t>
            </a:r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LinkML, JSON Schema</a:t>
            </a:r>
            <a:endParaRPr lang="en-US" sz="1150" dirty="0"/>
          </a:p>
        </p:txBody>
      </p:sp>
      <p:sp>
        <p:nvSpPr>
          <p:cNvPr id="100" name="Connector 6"/>
          <p:cNvSpPr/>
          <p:nvPr/>
        </p:nvSpPr>
        <p:spPr>
          <a:xfrm flipH="1">
            <a:off x="8138160" y="5303520"/>
            <a:ext cx="487375" cy="548640"/>
          </a:xfrm>
          <a:prstGeom prst="line">
            <a:avLst/>
          </a:prstGeom>
          <a:noFill/>
          <a:ln w="19050">
            <a:solidFill>
              <a:srgbClr val="56B4E9"/>
            </a:solidFill>
            <a:prstDash val="solid"/>
          </a:ln>
        </p:spPr>
      </p:sp>
      <p:sp>
        <p:nvSpPr>
          <p:cNvPr id="101" name="Badge 6"/>
          <p:cNvSpPr/>
          <p:nvPr/>
        </p:nvSpPr>
        <p:spPr>
          <a:xfrm>
            <a:off x="8001000" y="5715000"/>
            <a:ext cx="274320" cy="274320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800100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03" name="Source note"/>
          <p:cNvSpPr txBox="1"/>
          <p:nvPr/>
        </p:nvSpPr>
        <p:spPr>
          <a:xfrm>
            <a:off x="457200" y="64922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definitions: Table 1 · Legend: draft/12_figures_tables.md · Analogy adapted from the SfN 2025 poster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1 design: the data standards ecosystem seen through a video-sharing app</dc:title>
  <dc:subject>PptxGenJS Presentation</dc:subject>
  <dc:creator>PptxGenJS</dc:creator>
  <cp:lastModifiedBy>PptxGenJS</cp:lastModifiedBy>
  <cp:revision>1</cp:revision>
  <dcterms:created xsi:type="dcterms:W3CDTF">2026-10-15T06:56:16Z</dcterms:created>
  <dcterms:modified xsi:type="dcterms:W3CDTF">2026-10-15T06:56:16Z</dcterms:modified>
</cp:coreProperties>
</file>