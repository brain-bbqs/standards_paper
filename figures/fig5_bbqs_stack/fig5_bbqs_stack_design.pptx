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Fig. 5 design draft (spec: draft/12_figures_tables.md).
Rows: the five stacked layers in Table 1 order (1 data formats at the bottom to 5 data archives at the top), styled like the steps of Fig. 2. Schema languages (6) are shown as a box over rows 2-3, as in Fig. 2, listing which language defines which BBQS standard.
Paths: typical BBQS data climb from raw data (grey, as Level 0 in Fig. 2) through the recommended technologies to EMBER: video + pose + ephys -&gt; HDF5/Zarr + MP4 -&gt; NWB -&gt; DANDI layout -&gt; EMBER; MRI + EEG + events -&gt; NIfTI + JSON/TSV -&gt; BIDS (+ HED) -&gt; EMBER; questionnaires and task responses -&gt; CSV + JSON -&gt; Psych-DS -&gt; EMBER.
Arrows pass rows without a BBQS technology (e.g., BIDS and Psych-DS paths cross the file organization row; the Psych-DS path has no terminology).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yer 1: Data formats"/>
          <p:cNvSpPr/>
          <p:nvPr/>
        </p:nvSpPr>
        <p:spPr>
          <a:xfrm>
            <a:off x="274320" y="4937760"/>
            <a:ext cx="11640312" cy="1051560"/>
          </a:xfrm>
          <a:prstGeom prst="rect">
            <a:avLst/>
          </a:prstGeom>
          <a:solidFill>
            <a:srgbClr val="E69F00">
              <a:alpha val="15000"/>
            </a:srgbClr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3" name="Tread 1"/>
          <p:cNvSpPr/>
          <p:nvPr/>
        </p:nvSpPr>
        <p:spPr>
          <a:xfrm>
            <a:off x="274320" y="4937760"/>
            <a:ext cx="11640312" cy="73152"/>
          </a:xfrm>
          <a:prstGeom prst="rect">
            <a:avLst/>
          </a:prstGeom>
          <a:solidFill>
            <a:srgbClr val="E69F00"/>
          </a:solidFill>
          <a:ln w="12700">
            <a:solidFill>
              <a:srgbClr val="E69F00"/>
            </a:solidFill>
            <a:prstDash val="solid"/>
          </a:ln>
        </p:spPr>
      </p:sp>
      <p:sp>
        <p:nvSpPr>
          <p:cNvPr id="4" name="Badge 1"/>
          <p:cNvSpPr/>
          <p:nvPr/>
        </p:nvSpPr>
        <p:spPr>
          <a:xfrm>
            <a:off x="411480" y="5184648"/>
            <a:ext cx="292608" cy="292608"/>
          </a:xfrm>
          <a:prstGeom prst="ellipse">
            <a:avLst/>
          </a:prstGeom>
          <a:solidFill>
            <a:srgbClr val="E69F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51846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formats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95528" y="544068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data to storage</a:t>
            </a:r>
            <a:endParaRPr lang="en-US" sz="1050" dirty="0"/>
          </a:p>
        </p:txBody>
      </p:sp>
      <p:sp>
        <p:nvSpPr>
          <p:cNvPr id="8" name="Layer 2: File organization standards"/>
          <p:cNvSpPr/>
          <p:nvPr/>
        </p:nvSpPr>
        <p:spPr>
          <a:xfrm>
            <a:off x="274320" y="3794760"/>
            <a:ext cx="11640312" cy="1051560"/>
          </a:xfrm>
          <a:prstGeom prst="rect">
            <a:avLst/>
          </a:prstGeom>
          <a:solidFill>
            <a:srgbClr val="D55E00">
              <a:alpha val="15000"/>
            </a:srgbClr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9" name="Tread 2"/>
          <p:cNvSpPr/>
          <p:nvPr/>
        </p:nvSpPr>
        <p:spPr>
          <a:xfrm>
            <a:off x="274320" y="3794760"/>
            <a:ext cx="11640312" cy="73152"/>
          </a:xfrm>
          <a:prstGeom prst="rect">
            <a:avLst/>
          </a:prstGeom>
          <a:solidFill>
            <a:srgbClr val="D55E00"/>
          </a:solidFill>
          <a:ln w="12700">
            <a:solidFill>
              <a:srgbClr val="D55E00"/>
            </a:solidFill>
            <a:prstDash val="solid"/>
          </a:ln>
        </p:spPr>
      </p:sp>
      <p:sp>
        <p:nvSpPr>
          <p:cNvPr id="10" name="Badge 2"/>
          <p:cNvSpPr/>
          <p:nvPr/>
        </p:nvSpPr>
        <p:spPr>
          <a:xfrm>
            <a:off x="411480" y="4041648"/>
            <a:ext cx="292608" cy="292608"/>
          </a:xfrm>
          <a:prstGeom prst="ellipse">
            <a:avLst/>
          </a:prstGeom>
          <a:solidFill>
            <a:srgbClr val="D55E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40416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organization standards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" y="448056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data within a file</a:t>
            </a:r>
            <a:endParaRPr lang="en-US" sz="1050" dirty="0"/>
          </a:p>
        </p:txBody>
      </p:sp>
      <p:sp>
        <p:nvSpPr>
          <p:cNvPr id="14" name="Layer 3: Dataset organization standards"/>
          <p:cNvSpPr/>
          <p:nvPr/>
        </p:nvSpPr>
        <p:spPr>
          <a:xfrm>
            <a:off x="274320" y="2651760"/>
            <a:ext cx="11640312" cy="1051560"/>
          </a:xfrm>
          <a:prstGeom prst="rect">
            <a:avLst/>
          </a:prstGeom>
          <a:solidFill>
            <a:srgbClr val="009E73">
              <a:alpha val="15000"/>
            </a:srgbClr>
          </a:solidFill>
          <a:ln w="12700">
            <a:solidFill>
              <a:srgbClr val="009E73"/>
            </a:solidFill>
            <a:prstDash val="solid"/>
          </a:ln>
        </p:spPr>
      </p:sp>
      <p:sp>
        <p:nvSpPr>
          <p:cNvPr id="15" name="Tread 3"/>
          <p:cNvSpPr/>
          <p:nvPr/>
        </p:nvSpPr>
        <p:spPr>
          <a:xfrm>
            <a:off x="274320" y="2651760"/>
            <a:ext cx="11640312" cy="73152"/>
          </a:xfrm>
          <a:prstGeom prst="rect">
            <a:avLst/>
          </a:prstGeom>
          <a:solidFill>
            <a:srgbClr val="009E73"/>
          </a:solidFill>
          <a:ln w="12700">
            <a:solidFill>
              <a:srgbClr val="009E73"/>
            </a:solidFill>
            <a:prstDash val="solid"/>
          </a:ln>
        </p:spPr>
      </p:sp>
      <p:sp>
        <p:nvSpPr>
          <p:cNvPr id="16" name="Badge 3"/>
          <p:cNvSpPr/>
          <p:nvPr/>
        </p:nvSpPr>
        <p:spPr>
          <a:xfrm>
            <a:off x="411480" y="2898648"/>
            <a:ext cx="292608" cy="292608"/>
          </a:xfrm>
          <a:prstGeom prst="ellipse">
            <a:avLst/>
          </a:prstGeom>
          <a:solidFill>
            <a:srgbClr val="009E7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11480" y="2898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28986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 organization standards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95528" y="333756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collections of files</a:t>
            </a:r>
            <a:endParaRPr lang="en-US" sz="1050" dirty="0"/>
          </a:p>
        </p:txBody>
      </p:sp>
      <p:sp>
        <p:nvSpPr>
          <p:cNvPr id="20" name="Layer 4: Ontologies &amp; terminologies"/>
          <p:cNvSpPr/>
          <p:nvPr/>
        </p:nvSpPr>
        <p:spPr>
          <a:xfrm>
            <a:off x="274320" y="1508760"/>
            <a:ext cx="11640312" cy="1051560"/>
          </a:xfrm>
          <a:prstGeom prst="rect">
            <a:avLst/>
          </a:prstGeom>
          <a:solidFill>
            <a:srgbClr val="CC79A7">
              <a:alpha val="15000"/>
            </a:srgbClr>
          </a:solidFill>
          <a:ln w="12700">
            <a:solidFill>
              <a:srgbClr val="CC79A7"/>
            </a:solidFill>
            <a:prstDash val="solid"/>
          </a:ln>
        </p:spPr>
      </p:sp>
      <p:sp>
        <p:nvSpPr>
          <p:cNvPr id="21" name="Tread 4"/>
          <p:cNvSpPr/>
          <p:nvPr/>
        </p:nvSpPr>
        <p:spPr>
          <a:xfrm>
            <a:off x="274320" y="1508760"/>
            <a:ext cx="11640312" cy="73152"/>
          </a:xfrm>
          <a:prstGeom prst="rect">
            <a:avLst/>
          </a:prstGeom>
          <a:solidFill>
            <a:srgbClr val="CC79A7"/>
          </a:solidFill>
          <a:ln w="12700">
            <a:solidFill>
              <a:srgbClr val="CC79A7"/>
            </a:solidFill>
            <a:prstDash val="solid"/>
          </a:ln>
        </p:spPr>
      </p:sp>
      <p:sp>
        <p:nvSpPr>
          <p:cNvPr id="22" name="Badge 4"/>
          <p:cNvSpPr/>
          <p:nvPr/>
        </p:nvSpPr>
        <p:spPr>
          <a:xfrm>
            <a:off x="411480" y="1755648"/>
            <a:ext cx="292608" cy="292608"/>
          </a:xfrm>
          <a:prstGeom prst="ellipse">
            <a:avLst/>
          </a:prstGeom>
          <a:solidFill>
            <a:srgbClr val="CC79A7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11480" y="1755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95528" y="175564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Ontologies &amp; terminologies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" y="219456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meaning of terms</a:t>
            </a:r>
            <a:endParaRPr lang="en-US" sz="1050" dirty="0"/>
          </a:p>
        </p:txBody>
      </p:sp>
      <p:sp>
        <p:nvSpPr>
          <p:cNvPr id="26" name="Layer 5: Data archives"/>
          <p:cNvSpPr/>
          <p:nvPr/>
        </p:nvSpPr>
        <p:spPr>
          <a:xfrm>
            <a:off x="274320" y="365760"/>
            <a:ext cx="11640312" cy="1051560"/>
          </a:xfrm>
          <a:prstGeom prst="rect">
            <a:avLst/>
          </a:prstGeom>
          <a:solidFill>
            <a:srgbClr val="0072B2">
              <a:alpha val="15000"/>
            </a:srgbClr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27" name="Tread 5"/>
          <p:cNvSpPr/>
          <p:nvPr/>
        </p:nvSpPr>
        <p:spPr>
          <a:xfrm>
            <a:off x="274320" y="365760"/>
            <a:ext cx="11640312" cy="73152"/>
          </a:xfrm>
          <a:prstGeom prst="rect">
            <a:avLst/>
          </a:prstGeom>
          <a:solidFill>
            <a:srgbClr val="0072B2"/>
          </a:solidFill>
          <a:ln w="12700">
            <a:solidFill>
              <a:srgbClr val="0072B2"/>
            </a:solidFill>
            <a:prstDash val="solid"/>
          </a:ln>
        </p:spPr>
      </p:sp>
      <p:sp>
        <p:nvSpPr>
          <p:cNvPr id="28" name="Badge 5"/>
          <p:cNvSpPr/>
          <p:nvPr/>
        </p:nvSpPr>
        <p:spPr>
          <a:xfrm>
            <a:off x="411480" y="612648"/>
            <a:ext cx="292608" cy="292608"/>
          </a:xfrm>
          <a:prstGeom prst="ellipse">
            <a:avLst/>
          </a:prstGeom>
          <a:solidFill>
            <a:srgbClr val="0072B2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11480" y="612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95528" y="612648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archives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95528" y="86868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Publish, share, and discover</a:t>
            </a:r>
            <a:endParaRPr lang="en-US" sz="1050" dirty="0"/>
          </a:p>
        </p:txBody>
      </p:sp>
      <p:sp>
        <p:nvSpPr>
          <p:cNvPr id="32" name="Raw data A"/>
          <p:cNvSpPr/>
          <p:nvPr/>
        </p:nvSpPr>
        <p:spPr>
          <a:xfrm>
            <a:off x="2788920" y="6172200"/>
            <a:ext cx="1920240" cy="438912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788920" y="617220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· pose · ephys</a:t>
            </a:r>
            <a:endParaRPr lang="en-US" sz="1150" dirty="0"/>
          </a:p>
        </p:txBody>
      </p:sp>
      <p:sp>
        <p:nvSpPr>
          <p:cNvPr id="34" name="Raw data B"/>
          <p:cNvSpPr/>
          <p:nvPr/>
        </p:nvSpPr>
        <p:spPr>
          <a:xfrm>
            <a:off x="5029200" y="6172200"/>
            <a:ext cx="1920240" cy="438912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29200" y="617220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MRI · EEG · events</a:t>
            </a:r>
            <a:endParaRPr lang="en-US" sz="1150" dirty="0"/>
          </a:p>
        </p:txBody>
      </p:sp>
      <p:sp>
        <p:nvSpPr>
          <p:cNvPr id="36" name="Raw data C"/>
          <p:cNvSpPr/>
          <p:nvPr/>
        </p:nvSpPr>
        <p:spPr>
          <a:xfrm>
            <a:off x="7269480" y="6172200"/>
            <a:ext cx="1920240" cy="438912"/>
          </a:xfrm>
          <a:prstGeom prst="rect">
            <a:avLst/>
          </a:prstGeom>
          <a:solidFill>
            <a:srgbClr val="8A96A3">
              <a:alpha val="15000"/>
            </a:srgbClr>
          </a:solidFill>
          <a:ln w="12700">
            <a:solidFill>
              <a:srgbClr val="8A96A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269480" y="617220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Questionnaires · tasks</a:t>
            </a:r>
            <a:endParaRPr lang="en-US" sz="1150" dirty="0"/>
          </a:p>
        </p:txBody>
      </p:sp>
      <p:sp>
        <p:nvSpPr>
          <p:cNvPr id="38" name="Path A"/>
          <p:cNvSpPr/>
          <p:nvPr/>
        </p:nvSpPr>
        <p:spPr>
          <a:xfrm flipV="1">
            <a:off x="3749040" y="1165860"/>
            <a:ext cx="0" cy="5006340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39" name="Path B"/>
          <p:cNvSpPr/>
          <p:nvPr/>
        </p:nvSpPr>
        <p:spPr>
          <a:xfrm flipV="1">
            <a:off x="5989320" y="1165860"/>
            <a:ext cx="0" cy="5006340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40" name="Path C"/>
          <p:cNvSpPr/>
          <p:nvPr/>
        </p:nvSpPr>
        <p:spPr>
          <a:xfrm flipV="1">
            <a:off x="8229600" y="1165860"/>
            <a:ext cx="0" cy="5006340"/>
          </a:xfrm>
          <a:prstGeom prst="line">
            <a:avLst/>
          </a:prstGeom>
          <a:noFill/>
          <a:ln w="28575">
            <a:solidFill>
              <a:srgbClr val="44546A"/>
            </a:solidFill>
            <a:prstDash val="solid"/>
            <a:tailEnd type="triangle"/>
          </a:ln>
        </p:spPr>
      </p:sp>
      <p:sp>
        <p:nvSpPr>
          <p:cNvPr id="41" name="Formats A"/>
          <p:cNvSpPr/>
          <p:nvPr/>
        </p:nvSpPr>
        <p:spPr>
          <a:xfrm>
            <a:off x="2788920" y="5298948"/>
            <a:ext cx="192024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788920" y="5298948"/>
            <a:ext cx="1920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HDF5 / Zarr · MP4</a:t>
            </a:r>
            <a:endParaRPr lang="en-US" sz="1200" dirty="0"/>
          </a:p>
        </p:txBody>
      </p:sp>
      <p:sp>
        <p:nvSpPr>
          <p:cNvPr id="43" name="Formats B"/>
          <p:cNvSpPr/>
          <p:nvPr/>
        </p:nvSpPr>
        <p:spPr>
          <a:xfrm>
            <a:off x="5029200" y="5298948"/>
            <a:ext cx="192024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029200" y="5298948"/>
            <a:ext cx="1920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NIfTI · JSON / TSV</a:t>
            </a:r>
            <a:endParaRPr lang="en-US" sz="1200" dirty="0"/>
          </a:p>
        </p:txBody>
      </p:sp>
      <p:sp>
        <p:nvSpPr>
          <p:cNvPr id="45" name="Formats C"/>
          <p:cNvSpPr/>
          <p:nvPr/>
        </p:nvSpPr>
        <p:spPr>
          <a:xfrm>
            <a:off x="7269480" y="5298948"/>
            <a:ext cx="192024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5875">
            <a:solidFill>
              <a:srgbClr val="E69F0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269480" y="5298948"/>
            <a:ext cx="1920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· JSON</a:t>
            </a:r>
            <a:endParaRPr lang="en-US" sz="1200" dirty="0"/>
          </a:p>
        </p:txBody>
      </p:sp>
      <p:sp>
        <p:nvSpPr>
          <p:cNvPr id="47" name="NWB"/>
          <p:cNvSpPr/>
          <p:nvPr/>
        </p:nvSpPr>
        <p:spPr>
          <a:xfrm>
            <a:off x="2788920" y="4155948"/>
            <a:ext cx="192024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5875">
            <a:solidFill>
              <a:srgbClr val="D55E0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788920" y="4155948"/>
            <a:ext cx="1920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</a:t>
            </a:r>
            <a:endParaRPr lang="en-US" sz="1200" dirty="0"/>
          </a:p>
        </p:txBody>
      </p:sp>
      <p:sp>
        <p:nvSpPr>
          <p:cNvPr id="49" name="DANDI layout"/>
          <p:cNvSpPr/>
          <p:nvPr/>
        </p:nvSpPr>
        <p:spPr>
          <a:xfrm>
            <a:off x="2788920" y="3012948"/>
            <a:ext cx="192024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788920" y="3012948"/>
            <a:ext cx="1920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DANDI layout</a:t>
            </a:r>
            <a:endParaRPr lang="en-US" sz="1200" dirty="0"/>
          </a:p>
        </p:txBody>
      </p:sp>
      <p:sp>
        <p:nvSpPr>
          <p:cNvPr id="51" name="BIDS"/>
          <p:cNvSpPr/>
          <p:nvPr/>
        </p:nvSpPr>
        <p:spPr>
          <a:xfrm>
            <a:off x="5029200" y="3012948"/>
            <a:ext cx="192024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029200" y="3012948"/>
            <a:ext cx="1920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</a:t>
            </a:r>
            <a:endParaRPr lang="en-US" sz="1200" dirty="0"/>
          </a:p>
        </p:txBody>
      </p:sp>
      <p:sp>
        <p:nvSpPr>
          <p:cNvPr id="53" name="Psych-DS"/>
          <p:cNvSpPr/>
          <p:nvPr/>
        </p:nvSpPr>
        <p:spPr>
          <a:xfrm>
            <a:off x="7269480" y="3012948"/>
            <a:ext cx="1920240" cy="402336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5875">
            <a:solidFill>
              <a:srgbClr val="009E73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269480" y="3012948"/>
            <a:ext cx="192024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Psych-DS</a:t>
            </a:r>
            <a:endParaRPr lang="en-US" sz="1200" dirty="0"/>
          </a:p>
        </p:txBody>
      </p:sp>
      <p:sp>
        <p:nvSpPr>
          <p:cNvPr id="55" name="Terminologies"/>
          <p:cNvSpPr/>
          <p:nvPr/>
        </p:nvSpPr>
        <p:spPr>
          <a:xfrm>
            <a:off x="2788920" y="1687068"/>
            <a:ext cx="416052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2788920" y="1687068"/>
            <a:ext cx="41605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NCBI Taxonomy · brain atlases · Cell Ontology</a:t>
            </a:r>
            <a:endParaRPr lang="en-US" sz="1200" dirty="0"/>
          </a:p>
        </p:txBody>
      </p:sp>
      <p:sp>
        <p:nvSpPr>
          <p:cNvPr id="57" name="HED"/>
          <p:cNvSpPr/>
          <p:nvPr/>
        </p:nvSpPr>
        <p:spPr>
          <a:xfrm>
            <a:off x="2788920" y="2107692"/>
            <a:ext cx="416052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5875">
            <a:solidFill>
              <a:srgbClr val="CC79A7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2788920" y="2107692"/>
            <a:ext cx="41605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 </a:t>
            </a:r>
            <a:pPr algn="ctr" indent="0" marL="0">
              <a:buNone/>
            </a:pPr>
            <a:r>
              <a:rPr lang="en-US" sz="1050" b="1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annotations in BIDS and NWB</a:t>
            </a:r>
            <a:endParaRPr lang="en-US" sz="1200" dirty="0"/>
          </a:p>
        </p:txBody>
      </p:sp>
      <p:sp>
        <p:nvSpPr>
          <p:cNvPr id="59" name="EMBER"/>
          <p:cNvSpPr/>
          <p:nvPr/>
        </p:nvSpPr>
        <p:spPr>
          <a:xfrm>
            <a:off x="2788920" y="690372"/>
            <a:ext cx="640080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5875">
            <a:solidFill>
              <a:srgbClr val="0072B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788920" y="690372"/>
            <a:ext cx="64008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EMBER   </a:t>
            </a:r>
            <a:pPr algn="ctr" indent="0" marL="0">
              <a:buNone/>
            </a:pPr>
            <a:r>
              <a:rPr lang="en-US" sz="1050" b="1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accepts NWB, DANDI-layout, BIDS, and Psych-DS datasets</a:t>
            </a:r>
            <a:endParaRPr lang="en-US" sz="1200" dirty="0"/>
          </a:p>
        </p:txBody>
      </p:sp>
      <p:sp>
        <p:nvSpPr>
          <p:cNvPr id="61" name="Schema languages"/>
          <p:cNvSpPr/>
          <p:nvPr/>
        </p:nvSpPr>
        <p:spPr>
          <a:xfrm>
            <a:off x="9555480" y="3063240"/>
            <a:ext cx="221284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875">
            <a:solidFill>
              <a:srgbClr val="56B4E9"/>
            </a:solidFill>
            <a:prstDash val="solid"/>
          </a:ln>
        </p:spPr>
      </p:sp>
      <p:sp>
        <p:nvSpPr>
          <p:cNvPr id="62" name="Badge 6"/>
          <p:cNvSpPr/>
          <p:nvPr/>
        </p:nvSpPr>
        <p:spPr>
          <a:xfrm>
            <a:off x="9665208" y="3191256"/>
            <a:ext cx="292608" cy="292608"/>
          </a:xfrm>
          <a:prstGeom prst="ellipse">
            <a:avLst/>
          </a:prstGeom>
          <a:solidFill>
            <a:srgbClr val="56B4E9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9665208" y="3191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10030968" y="31546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languages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692640" y="3630168"/>
            <a:ext cx="1984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HDMF</a:t>
            </a:r>
            <a:pPr indent="0" marL="0">
              <a:spcAft>
                <a:spcPts val="700"/>
              </a:spcAft>
              <a:buNone/>
            </a:pPr>
            <a:r>
              <a:rPr lang="en-US" sz="11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defines </a:t>
            </a:r>
            <a:pPr indent="0" marL="0">
              <a:spcAft>
                <a:spcPts val="7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NWB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 schema</a:t>
            </a:r>
            <a:pPr indent="0" marL="0">
              <a:spcAft>
                <a:spcPts val="700"/>
              </a:spcAft>
              <a:buNone/>
            </a:pPr>
            <a:r>
              <a:rPr lang="en-US" sz="11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defines </a:t>
            </a:r>
            <a:pPr indent="0" marL="0">
              <a:spcAft>
                <a:spcPts val="7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BIDS</a:t>
            </a:r>
            <a:endParaRPr lang="en-US" sz="11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LinkML</a:t>
            </a:r>
            <a:pPr indent="0" marL="0">
              <a:spcAft>
                <a:spcPts val="700"/>
              </a:spcAft>
              <a:buNone/>
            </a:pPr>
            <a:r>
              <a:rPr lang="en-US" sz="1150" i="1" dirty="0">
                <a:solidFill>
                  <a:srgbClr val="5B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defines </a:t>
            </a:r>
            <a:pPr indent="0" marL="0">
              <a:spcAft>
                <a:spcPts val="700"/>
              </a:spcAft>
              <a:buNone/>
            </a:pPr>
            <a:r>
              <a:rPr lang="en-US" sz="115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Psych-DS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Fig. 5 — The BBQS standards stack</dc:title>
  <dc:subject>PptxGenJS Presentation</dc:subject>
  <dc:creator>PptxGenJS</dc:creator>
  <cp:lastModifiedBy>PptxGenJS</cp:lastModifiedBy>
  <cp:revision>1</cp:revision>
  <dcterms:created xsi:type="dcterms:W3CDTF">2026-10-16T16:40:54Z</dcterms:created>
  <dcterms:modified xsi:type="dcterms:W3CDTF">2026-10-16T16:40:54Z</dcterms:modified>
</cp:coreProperties>
</file>