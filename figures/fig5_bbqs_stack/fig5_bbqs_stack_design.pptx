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7864475"/>
  <p:notesSz cx="7864475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89" d="100"/>
          <a:sy n="189" d="100"/>
        </p:scale>
        <p:origin x="16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784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Fig. 5 design draft v4 (spec: draft/12_figures_tables.md). Sources: Table 3, BBQS standards guideline, Standards4BBQS forum slides (Oct 2026).
Stack: rows 1 data formats, 2 file organization, 3 dataset organization, 5 data archives. Ontologies &amp; terminologies (4) and schema languages (6) are side panels next to rows 2-3, which they both serve.
Paths: NWB (orange) runs from the data through NWB to EMBER; BIDS (green) and Psych-DS (slate) run from the data to EMBER. A green arrow from NWB to the BIDS path shows that BIDS can include NWB files.
NWB extensions and enhancement proposals are labelled by purpose: pose estimation (ndx-pose, NWBEP in preparation), structured behavior (ndx-structured-behavior), microscopy (NWBEP004), HED annotation (ndx-hed), fiber photometry, wearable devices, multi-subject (ndx-multisubjects, NWBEP in preparation), ethogram. A dashed green line joins Multi-subject to the planned multi-subject BEP (companion proposals). Standards boxes are outlined in the colour of their path (DANDI layout orange, Psych-DS slate).
Panel 6: HDMF defines NWB, the BIDS schema defines BIDS, LinkML defines Psych-DS and Neuro Termsets (translations of the Dandiset and NWB schemas to LinkML are planned), and JSON Schema generated from Pydantic models (dandi-schema; published in dandi/schema) defines DANDI layout and EMBER archive metadata.
Panel 4: each terminology is its own box; arrows show the terminologies Neuro Termsets draws on (Cell Ontology is not yet a term set).
Status: solid = recommended for BBQS today; dashed = extension or proposal in progress; grey dashed = needs a standard.
BBQS data: each data type appears once; thin lines join it to every standard it can use (Table 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gend ok"/>
          <p:cNvSpPr/>
          <p:nvPr/>
        </p:nvSpPr>
        <p:spPr>
          <a:xfrm>
            <a:off x="2057400" y="109728"/>
            <a:ext cx="420624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8A96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2569464" y="1097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for BBQS</a:t>
            </a:r>
            <a:endParaRPr lang="en-US" sz="1050" dirty="0"/>
          </a:p>
        </p:txBody>
      </p:sp>
      <p:sp>
        <p:nvSpPr>
          <p:cNvPr id="4" name="Legend wip"/>
          <p:cNvSpPr/>
          <p:nvPr/>
        </p:nvSpPr>
        <p:spPr>
          <a:xfrm>
            <a:off x="4352544" y="109728"/>
            <a:ext cx="420624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8A96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4864608" y="10972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 (extension or proposal)</a:t>
            </a:r>
            <a:endParaRPr lang="en-US" sz="1050" dirty="0"/>
          </a:p>
        </p:txBody>
      </p:sp>
      <p:sp>
        <p:nvSpPr>
          <p:cNvPr id="6" name="Legend gap"/>
          <p:cNvSpPr/>
          <p:nvPr/>
        </p:nvSpPr>
        <p:spPr>
          <a:xfrm>
            <a:off x="7424928" y="109728"/>
            <a:ext cx="420624" cy="256032"/>
          </a:xfrm>
          <a:prstGeom prst="roundRect">
            <a:avLst>
              <a:gd name="adj" fmla="val 21429"/>
            </a:avLst>
          </a:prstGeom>
          <a:solidFill>
            <a:srgbClr val="8A96A3">
              <a:alpha val="20000"/>
            </a:srgbClr>
          </a:solidFill>
          <a:ln w="15875">
            <a:solidFill>
              <a:srgbClr val="8A96A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936992" y="1097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standard</a:t>
            </a:r>
            <a:endParaRPr lang="en-US" sz="1050" dirty="0"/>
          </a:p>
        </p:txBody>
      </p:sp>
      <p:sp>
        <p:nvSpPr>
          <p:cNvPr id="8" name="Legend path"/>
          <p:cNvSpPr/>
          <p:nvPr/>
        </p:nvSpPr>
        <p:spPr>
          <a:xfrm>
            <a:off x="9308592" y="237744"/>
            <a:ext cx="457200" cy="0"/>
          </a:xfrm>
          <a:prstGeom prst="line">
            <a:avLst/>
          </a:prstGeom>
          <a:noFill/>
          <a:ln w="28575">
            <a:solidFill>
              <a:srgbClr val="4454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857232" y="1097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the archive</a:t>
            </a:r>
            <a:endParaRPr lang="en-US" sz="1050" dirty="0"/>
          </a:p>
        </p:txBody>
      </p:sp>
      <p:sp>
        <p:nvSpPr>
          <p:cNvPr id="10" name="Layer 5: Data archives"/>
          <p:cNvSpPr/>
          <p:nvPr/>
        </p:nvSpPr>
        <p:spPr>
          <a:xfrm>
            <a:off x="274320" y="493776"/>
            <a:ext cx="11640312" cy="768096"/>
          </a:xfrm>
          <a:prstGeom prst="rect">
            <a:avLst/>
          </a:prstGeom>
          <a:solidFill>
            <a:srgbClr val="0072B2">
              <a:alpha val="15000"/>
            </a:srgbClr>
          </a:solidFill>
          <a:ln w="12700">
            <a:solidFill>
              <a:srgbClr val="0072B2"/>
            </a:solidFill>
          </a:ln>
        </p:spPr>
        <p:txBody>
          <a:bodyPr wrap="square" lIns="566928" tIns="182880" rIns="9884664" bIns="4572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archives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Publish, share, and discover</a:t>
            </a:r>
            <a:endParaRPr lang="en-US" sz="1150" dirty="0"/>
          </a:p>
        </p:txBody>
      </p:sp>
      <p:sp>
        <p:nvSpPr>
          <p:cNvPr id="11" name="Layer 5 tread"/>
          <p:cNvSpPr/>
          <p:nvPr/>
        </p:nvSpPr>
        <p:spPr>
          <a:xfrm>
            <a:off x="274320" y="493776"/>
            <a:ext cx="11640312" cy="73152"/>
          </a:xfrm>
          <a:prstGeom prst="rect">
            <a:avLst/>
          </a:prstGeom>
          <a:solidFill>
            <a:srgbClr val="0072B2"/>
          </a:solidFill>
          <a:ln w="12700">
            <a:solidFill>
              <a:srgbClr val="0072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Badge 5"/>
          <p:cNvSpPr/>
          <p:nvPr/>
        </p:nvSpPr>
        <p:spPr>
          <a:xfrm>
            <a:off x="393192" y="676656"/>
            <a:ext cx="292608" cy="292608"/>
          </a:xfrm>
          <a:prstGeom prst="ellipse">
            <a:avLst/>
          </a:prstGeom>
          <a:solidFill>
            <a:srgbClr val="0072B2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50" dirty="0"/>
          </a:p>
        </p:txBody>
      </p:sp>
      <p:sp>
        <p:nvSpPr>
          <p:cNvPr id="13" name="Layer 3: Dataset organization standards"/>
          <p:cNvSpPr/>
          <p:nvPr/>
        </p:nvSpPr>
        <p:spPr>
          <a:xfrm>
            <a:off x="274320" y="1353312"/>
            <a:ext cx="8156448" cy="1965960"/>
          </a:xfrm>
          <a:prstGeom prst="rect">
            <a:avLst/>
          </a:prstGeom>
          <a:solidFill>
            <a:srgbClr val="009E73">
              <a:alpha val="15000"/>
            </a:srgbClr>
          </a:solidFill>
          <a:ln w="12700">
            <a:solidFill>
              <a:srgbClr val="009E73"/>
            </a:solidFill>
          </a:ln>
        </p:spPr>
        <p:txBody>
          <a:bodyPr wrap="square" lIns="566928" tIns="182880" rIns="6400800" bIns="4572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organization standards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collections of files</a:t>
            </a:r>
            <a:endParaRPr lang="en-US" sz="1150" dirty="0"/>
          </a:p>
        </p:txBody>
      </p:sp>
      <p:sp>
        <p:nvSpPr>
          <p:cNvPr id="14" name="Layer 3 tread"/>
          <p:cNvSpPr/>
          <p:nvPr/>
        </p:nvSpPr>
        <p:spPr>
          <a:xfrm>
            <a:off x="274320" y="1353312"/>
            <a:ext cx="8156448" cy="73152"/>
          </a:xfrm>
          <a:prstGeom prst="rect">
            <a:avLst/>
          </a:prstGeom>
          <a:solidFill>
            <a:srgbClr val="009E73"/>
          </a:solidFill>
          <a:ln w="1270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Badge 3"/>
          <p:cNvSpPr/>
          <p:nvPr/>
        </p:nvSpPr>
        <p:spPr>
          <a:xfrm>
            <a:off x="393192" y="1536192"/>
            <a:ext cx="292608" cy="292608"/>
          </a:xfrm>
          <a:prstGeom prst="ellipse">
            <a:avLst/>
          </a:prstGeom>
          <a:solidFill>
            <a:srgbClr val="009E73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Layer 2: File organization standards"/>
          <p:cNvSpPr/>
          <p:nvPr/>
        </p:nvSpPr>
        <p:spPr>
          <a:xfrm>
            <a:off x="274320" y="3410712"/>
            <a:ext cx="8156448" cy="2057400"/>
          </a:xfrm>
          <a:prstGeom prst="rect">
            <a:avLst/>
          </a:prstGeom>
          <a:solidFill>
            <a:srgbClr val="D55E00">
              <a:alpha val="15000"/>
            </a:srgbClr>
          </a:solidFill>
          <a:ln w="12700">
            <a:solidFill>
              <a:srgbClr val="D55E00"/>
            </a:solidFill>
          </a:ln>
        </p:spPr>
        <p:txBody>
          <a:bodyPr wrap="square" lIns="566928" tIns="182880" rIns="6400800" bIns="4572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organization standards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data within a file</a:t>
            </a:r>
            <a:endParaRPr lang="en-US" sz="1150" dirty="0"/>
          </a:p>
        </p:txBody>
      </p:sp>
      <p:sp>
        <p:nvSpPr>
          <p:cNvPr id="17" name="Layer 2 tread"/>
          <p:cNvSpPr/>
          <p:nvPr/>
        </p:nvSpPr>
        <p:spPr>
          <a:xfrm>
            <a:off x="274320" y="3410712"/>
            <a:ext cx="8156448" cy="73152"/>
          </a:xfrm>
          <a:prstGeom prst="rect">
            <a:avLst/>
          </a:prstGeom>
          <a:solidFill>
            <a:srgbClr val="D55E00"/>
          </a:solidFill>
          <a:ln w="1270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Badge 2"/>
          <p:cNvSpPr/>
          <p:nvPr/>
        </p:nvSpPr>
        <p:spPr>
          <a:xfrm>
            <a:off x="393192" y="3593592"/>
            <a:ext cx="292608" cy="292608"/>
          </a:xfrm>
          <a:prstGeom prst="ellipse">
            <a:avLst/>
          </a:prstGeom>
          <a:solidFill>
            <a:srgbClr val="D55E0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50" dirty="0"/>
          </a:p>
        </p:txBody>
      </p:sp>
      <p:sp>
        <p:nvSpPr>
          <p:cNvPr id="19" name="Layer 1: Data formats"/>
          <p:cNvSpPr/>
          <p:nvPr/>
        </p:nvSpPr>
        <p:spPr>
          <a:xfrm>
            <a:off x="274320" y="5559552"/>
            <a:ext cx="11640312" cy="969264"/>
          </a:xfrm>
          <a:prstGeom prst="rect">
            <a:avLst/>
          </a:prstGeom>
          <a:solidFill>
            <a:srgbClr val="E69F00">
              <a:alpha val="15000"/>
            </a:srgbClr>
          </a:solidFill>
          <a:ln w="12700">
            <a:solidFill>
              <a:srgbClr val="E69F00"/>
            </a:solidFill>
          </a:ln>
        </p:spPr>
        <p:txBody>
          <a:bodyPr wrap="square" lIns="566928" tIns="182880" rIns="9884664" bIns="4572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formats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data to storage</a:t>
            </a:r>
            <a:endParaRPr lang="en-US" sz="1150" dirty="0"/>
          </a:p>
        </p:txBody>
      </p:sp>
      <p:sp>
        <p:nvSpPr>
          <p:cNvPr id="20" name="Layer 1 tread"/>
          <p:cNvSpPr/>
          <p:nvPr/>
        </p:nvSpPr>
        <p:spPr>
          <a:xfrm>
            <a:off x="274320" y="5559552"/>
            <a:ext cx="11640312" cy="73152"/>
          </a:xfrm>
          <a:prstGeom prst="rect">
            <a:avLst/>
          </a:prstGeom>
          <a:solidFill>
            <a:srgbClr val="E69F00"/>
          </a:solidFill>
          <a:ln w="12700">
            <a:solidFill>
              <a:srgbClr val="E69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Badge 1"/>
          <p:cNvSpPr/>
          <p:nvPr/>
        </p:nvSpPr>
        <p:spPr>
          <a:xfrm>
            <a:off x="393192" y="5742432"/>
            <a:ext cx="292608" cy="292608"/>
          </a:xfrm>
          <a:prstGeom prst="ellipse">
            <a:avLst/>
          </a:prstGeom>
          <a:solidFill>
            <a:srgbClr val="E69F00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2" name="Layer 4: Ontologies &amp; terminologies"/>
          <p:cNvSpPr/>
          <p:nvPr/>
        </p:nvSpPr>
        <p:spPr>
          <a:xfrm>
            <a:off x="8503920" y="1353312"/>
            <a:ext cx="2011680" cy="4114800"/>
          </a:xfrm>
          <a:prstGeom prst="rect">
            <a:avLst/>
          </a:prstGeom>
          <a:solidFill>
            <a:srgbClr val="CC79A7">
              <a:alpha val="15000"/>
            </a:srgbClr>
          </a:solidFill>
          <a:ln w="12700">
            <a:solidFill>
              <a:srgbClr val="CC79A7"/>
            </a:solidFill>
          </a:ln>
        </p:spPr>
        <p:txBody>
          <a:bodyPr wrap="square" lIns="475488" tIns="182880" rIns="54864" bIns="4572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Ontologies &amp; terminologies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meaning of terms</a:t>
            </a:r>
            <a:endParaRPr lang="en-US" sz="1150" dirty="0"/>
          </a:p>
        </p:txBody>
      </p:sp>
      <p:sp>
        <p:nvSpPr>
          <p:cNvPr id="23" name="Layer 4 tread"/>
          <p:cNvSpPr/>
          <p:nvPr/>
        </p:nvSpPr>
        <p:spPr>
          <a:xfrm>
            <a:off x="8503920" y="1353312"/>
            <a:ext cx="2011680" cy="73152"/>
          </a:xfrm>
          <a:prstGeom prst="rect">
            <a:avLst/>
          </a:prstGeom>
          <a:solidFill>
            <a:srgbClr val="CC79A7"/>
          </a:solidFill>
          <a:ln w="12700">
            <a:solidFill>
              <a:srgbClr val="CC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Badge 4"/>
          <p:cNvSpPr/>
          <p:nvPr/>
        </p:nvSpPr>
        <p:spPr>
          <a:xfrm>
            <a:off x="8622792" y="1536192"/>
            <a:ext cx="292608" cy="292608"/>
          </a:xfrm>
          <a:prstGeom prst="ellipse">
            <a:avLst/>
          </a:prstGeom>
          <a:solidFill>
            <a:srgbClr val="CC79A7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50" dirty="0"/>
          </a:p>
        </p:txBody>
      </p:sp>
      <p:sp>
        <p:nvSpPr>
          <p:cNvPr id="25" name="Layer 6: Schema languages"/>
          <p:cNvSpPr/>
          <p:nvPr/>
        </p:nvSpPr>
        <p:spPr>
          <a:xfrm>
            <a:off x="10607040" y="1353312"/>
            <a:ext cx="1307592" cy="4114800"/>
          </a:xfrm>
          <a:prstGeom prst="rect">
            <a:avLst/>
          </a:prstGeom>
          <a:solidFill>
            <a:srgbClr val="56B4E9">
              <a:alpha val="15000"/>
            </a:srgbClr>
          </a:solidFill>
          <a:ln w="12700">
            <a:solidFill>
              <a:srgbClr val="56B4E9"/>
            </a:solidFill>
          </a:ln>
        </p:spPr>
        <p:txBody>
          <a:bodyPr wrap="square" lIns="475488" tIns="182880" rIns="54864" bIns="4572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languages</a:t>
            </a:r>
            <a:endParaRPr lang="en-US" sz="1150" dirty="0"/>
          </a:p>
          <a:p>
            <a:pPr marL="0" indent="0" algn="l">
              <a:spcAft>
                <a:spcPts val="300"/>
              </a:spcAft>
              <a:buNone/>
            </a:pPr>
            <a:r>
              <a:rPr lang="en-US" sz="10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the standards</a:t>
            </a:r>
            <a:endParaRPr lang="en-US" sz="1150" dirty="0"/>
          </a:p>
        </p:txBody>
      </p:sp>
      <p:sp>
        <p:nvSpPr>
          <p:cNvPr id="26" name="Layer 6 tread"/>
          <p:cNvSpPr/>
          <p:nvPr/>
        </p:nvSpPr>
        <p:spPr>
          <a:xfrm>
            <a:off x="10607040" y="1353312"/>
            <a:ext cx="1307592" cy="73152"/>
          </a:xfrm>
          <a:prstGeom prst="rect">
            <a:avLst/>
          </a:prstGeom>
          <a:solidFill>
            <a:srgbClr val="56B4E9"/>
          </a:solidFill>
          <a:ln w="12700">
            <a:solidFill>
              <a:srgbClr val="56B4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Badge 6"/>
          <p:cNvSpPr/>
          <p:nvPr/>
        </p:nvSpPr>
        <p:spPr>
          <a:xfrm>
            <a:off x="10725912" y="1536192"/>
            <a:ext cx="292608" cy="292608"/>
          </a:xfrm>
          <a:prstGeom prst="ellipse">
            <a:avLst/>
          </a:prstGeom>
          <a:solidFill>
            <a:srgbClr val="56B4E9"/>
          </a:solidFill>
          <a:ln w="15875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28" name="Path A: data to NWB"/>
          <p:cNvSpPr/>
          <p:nvPr/>
        </p:nvSpPr>
        <p:spPr>
          <a:xfrm flipV="1">
            <a:off x="3314700" y="4105656"/>
            <a:ext cx="0" cy="2816352"/>
          </a:xfrm>
          <a:prstGeom prst="line">
            <a:avLst/>
          </a:prstGeom>
          <a:noFill/>
          <a:ln w="28575">
            <a:solidFill>
              <a:srgbClr val="D55E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Path A: NWB to EMBER"/>
          <p:cNvSpPr/>
          <p:nvPr/>
        </p:nvSpPr>
        <p:spPr>
          <a:xfrm flipV="1">
            <a:off x="3314700" y="1124712"/>
            <a:ext cx="0" cy="2450592"/>
          </a:xfrm>
          <a:prstGeom prst="line">
            <a:avLst/>
          </a:prstGeom>
          <a:noFill/>
          <a:ln w="28575">
            <a:solidFill>
              <a:srgbClr val="D55E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Path B"/>
          <p:cNvSpPr/>
          <p:nvPr/>
        </p:nvSpPr>
        <p:spPr>
          <a:xfrm flipV="1">
            <a:off x="5897880" y="1124712"/>
            <a:ext cx="0" cy="5669280"/>
          </a:xfrm>
          <a:prstGeom prst="line">
            <a:avLst/>
          </a:prstGeom>
          <a:noFill/>
          <a:ln w="28575">
            <a:solidFill>
              <a:srgbClr val="009E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Path C"/>
          <p:cNvSpPr/>
          <p:nvPr/>
        </p:nvSpPr>
        <p:spPr>
          <a:xfrm flipV="1">
            <a:off x="7795260" y="1124712"/>
            <a:ext cx="0" cy="5541264"/>
          </a:xfrm>
          <a:prstGeom prst="line">
            <a:avLst/>
          </a:prstGeom>
          <a:noFill/>
          <a:ln w="28575">
            <a:solidFill>
              <a:srgbClr val="44546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NWB in BIDS"/>
          <p:cNvSpPr/>
          <p:nvPr/>
        </p:nvSpPr>
        <p:spPr>
          <a:xfrm>
            <a:off x="4572000" y="3840480"/>
            <a:ext cx="1325880" cy="0"/>
          </a:xfrm>
          <a:prstGeom prst="line">
            <a:avLst/>
          </a:prstGeom>
          <a:noFill/>
          <a:ln w="28575">
            <a:solidFill>
              <a:srgbClr val="009E7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3" name="EMBER"/>
          <p:cNvSpPr/>
          <p:nvPr/>
        </p:nvSpPr>
        <p:spPr>
          <a:xfrm>
            <a:off x="2057400" y="704088"/>
            <a:ext cx="974750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5875">
            <a:solidFill>
              <a:srgbClr val="0072B2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NWB, DANDI-layout, BIDS, and Psych-DS datasets, with privacy levels for identifiable human data</a:t>
            </a:r>
            <a:endParaRPr lang="en-US" sz="1000" dirty="0"/>
          </a:p>
        </p:txBody>
      </p:sp>
      <p:sp>
        <p:nvSpPr>
          <p:cNvPr id="34" name="HDF5 Zarr"/>
          <p:cNvSpPr/>
          <p:nvPr/>
        </p:nvSpPr>
        <p:spPr>
          <a:xfrm>
            <a:off x="2711196" y="5705856"/>
            <a:ext cx="120700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HDF5 · Zarr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NWB files</a:t>
            </a:r>
            <a:endParaRPr lang="en-US" sz="1000" dirty="0"/>
          </a:p>
        </p:txBody>
      </p:sp>
      <p:sp>
        <p:nvSpPr>
          <p:cNvPr id="35" name="Video formats"/>
          <p:cNvSpPr/>
          <p:nvPr/>
        </p:nvSpPr>
        <p:spPr>
          <a:xfrm>
            <a:off x="2711196" y="6126480"/>
            <a:ext cx="1207008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· AVI · MOV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video, linked</a:t>
            </a:r>
            <a:endParaRPr lang="en-US" sz="1000" dirty="0"/>
          </a:p>
        </p:txBody>
      </p:sp>
      <p:sp>
        <p:nvSpPr>
          <p:cNvPr id="36" name="NIfTI"/>
          <p:cNvSpPr/>
          <p:nvPr/>
        </p:nvSpPr>
        <p:spPr>
          <a:xfrm>
            <a:off x="4663440" y="5705856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NIfTI · OME-Zarr</a:t>
            </a:r>
            <a:endParaRPr lang="en-US" sz="10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MRI, PET, microscopy</a:t>
            </a:r>
            <a:endParaRPr lang="en-US" sz="1000" dirty="0"/>
          </a:p>
        </p:txBody>
      </p:sp>
      <p:sp>
        <p:nvSpPr>
          <p:cNvPr id="37" name="EDF"/>
          <p:cNvSpPr/>
          <p:nvPr/>
        </p:nvSpPr>
        <p:spPr>
          <a:xfrm>
            <a:off x="5989320" y="5705856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EDF · BrainVision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EEG, iEEG</a:t>
            </a:r>
            <a:endParaRPr lang="en-US" sz="1000" dirty="0"/>
          </a:p>
        </p:txBody>
      </p:sp>
      <p:sp>
        <p:nvSpPr>
          <p:cNvPr id="38" name="JSON TSV"/>
          <p:cNvSpPr/>
          <p:nvPr/>
        </p:nvSpPr>
        <p:spPr>
          <a:xfrm>
            <a:off x="4663440" y="612648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· TSV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metadata, tables</a:t>
            </a:r>
            <a:endParaRPr lang="en-US" sz="1000" dirty="0"/>
          </a:p>
        </p:txBody>
      </p:sp>
      <p:sp>
        <p:nvSpPr>
          <p:cNvPr id="39" name="BIDS media"/>
          <p:cNvSpPr/>
          <p:nvPr/>
        </p:nvSpPr>
        <p:spPr>
          <a:xfrm>
            <a:off x="5989320" y="612648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 · MP4 · PNG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PR #2367</a:t>
            </a:r>
            <a:endParaRPr lang="en-US" sz="1000" dirty="0"/>
          </a:p>
        </p:txBody>
      </p:sp>
      <p:sp>
        <p:nvSpPr>
          <p:cNvPr id="40" name="CSV JSON"/>
          <p:cNvSpPr/>
          <p:nvPr/>
        </p:nvSpPr>
        <p:spPr>
          <a:xfrm>
            <a:off x="7223760" y="5916168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44546A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· JSON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tables, metadata</a:t>
            </a:r>
            <a:endParaRPr lang="en-US" sz="1000" dirty="0"/>
          </a:p>
        </p:txBody>
      </p:sp>
      <p:sp>
        <p:nvSpPr>
          <p:cNvPr id="41" name="NWB"/>
          <p:cNvSpPr/>
          <p:nvPr/>
        </p:nvSpPr>
        <p:spPr>
          <a:xfrm>
            <a:off x="2057400" y="3575304"/>
            <a:ext cx="2514600" cy="530352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NWB</a:t>
            </a:r>
            <a:endParaRPr lang="en-US" sz="10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Ephys · ophys · stimulation · behavior · video links · events</a:t>
            </a:r>
            <a:endParaRPr lang="en-US" sz="1000" dirty="0"/>
          </a:p>
        </p:txBody>
      </p:sp>
      <p:sp>
        <p:nvSpPr>
          <p:cNvPr id="42" name="NWB extension: Pose estimation"/>
          <p:cNvSpPr/>
          <p:nvPr/>
        </p:nvSpPr>
        <p:spPr>
          <a:xfrm>
            <a:off x="2057400" y="4197096"/>
            <a:ext cx="114757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estimation</a:t>
            </a:r>
            <a:endParaRPr lang="en-US" sz="1000" dirty="0"/>
          </a:p>
        </p:txBody>
      </p:sp>
      <p:sp>
        <p:nvSpPr>
          <p:cNvPr id="43" name="NWB extension: Fiber photometry"/>
          <p:cNvSpPr/>
          <p:nvPr/>
        </p:nvSpPr>
        <p:spPr>
          <a:xfrm>
            <a:off x="3424428" y="4197096"/>
            <a:ext cx="114757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 photometry</a:t>
            </a:r>
            <a:endParaRPr lang="en-US" sz="1000" dirty="0"/>
          </a:p>
        </p:txBody>
      </p:sp>
      <p:sp>
        <p:nvSpPr>
          <p:cNvPr id="44" name="NWB extension: Structured behavior"/>
          <p:cNvSpPr/>
          <p:nvPr/>
        </p:nvSpPr>
        <p:spPr>
          <a:xfrm>
            <a:off x="2057400" y="4517136"/>
            <a:ext cx="114757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behavior</a:t>
            </a:r>
            <a:endParaRPr lang="en-US" sz="1000" dirty="0"/>
          </a:p>
        </p:txBody>
      </p:sp>
      <p:sp>
        <p:nvSpPr>
          <p:cNvPr id="45" name="NWB extension: Wearable devices"/>
          <p:cNvSpPr/>
          <p:nvPr/>
        </p:nvSpPr>
        <p:spPr>
          <a:xfrm>
            <a:off x="3424428" y="4517136"/>
            <a:ext cx="114757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devices</a:t>
            </a:r>
            <a:endParaRPr lang="en-US" sz="1000" dirty="0"/>
          </a:p>
        </p:txBody>
      </p:sp>
      <p:sp>
        <p:nvSpPr>
          <p:cNvPr id="46" name="NWB extension: Microscopy"/>
          <p:cNvSpPr/>
          <p:nvPr/>
        </p:nvSpPr>
        <p:spPr>
          <a:xfrm>
            <a:off x="2057400" y="4837176"/>
            <a:ext cx="114757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Microscopy</a:t>
            </a:r>
            <a:endParaRPr lang="en-US" sz="1000" dirty="0"/>
          </a:p>
        </p:txBody>
      </p:sp>
      <p:sp>
        <p:nvSpPr>
          <p:cNvPr id="47" name="NWB extension: Multi-subject"/>
          <p:cNvSpPr/>
          <p:nvPr/>
        </p:nvSpPr>
        <p:spPr>
          <a:xfrm>
            <a:off x="3424428" y="4837176"/>
            <a:ext cx="114757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Multi-subject</a:t>
            </a:r>
            <a:endParaRPr lang="en-US" sz="1000" dirty="0"/>
          </a:p>
        </p:txBody>
      </p:sp>
      <p:sp>
        <p:nvSpPr>
          <p:cNvPr id="48" name="NWB extension: HED annotation"/>
          <p:cNvSpPr/>
          <p:nvPr/>
        </p:nvSpPr>
        <p:spPr>
          <a:xfrm>
            <a:off x="2057400" y="5157216"/>
            <a:ext cx="114757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 annotation</a:t>
            </a:r>
            <a:endParaRPr lang="en-US" sz="1000" dirty="0"/>
          </a:p>
        </p:txBody>
      </p:sp>
      <p:sp>
        <p:nvSpPr>
          <p:cNvPr id="49" name="NWB extension: Ethogram"/>
          <p:cNvSpPr/>
          <p:nvPr/>
        </p:nvSpPr>
        <p:spPr>
          <a:xfrm>
            <a:off x="3424428" y="5157216"/>
            <a:ext cx="1147572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Ethogram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4645152" y="3867912"/>
            <a:ext cx="11978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0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can contain NWB files (BEP032)</a:t>
            </a:r>
            <a:endParaRPr lang="en-US" sz="950" dirty="0"/>
          </a:p>
        </p:txBody>
      </p:sp>
      <p:sp>
        <p:nvSpPr>
          <p:cNvPr id="51" name="DANDI layout"/>
          <p:cNvSpPr/>
          <p:nvPr/>
        </p:nvSpPr>
        <p:spPr>
          <a:xfrm>
            <a:off x="2057400" y="1517904"/>
            <a:ext cx="25146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55E00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DANDI layout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NWB file per subject and session</a:t>
            </a:r>
            <a:endParaRPr lang="en-US" sz="1000" dirty="0"/>
          </a:p>
        </p:txBody>
      </p:sp>
      <p:sp>
        <p:nvSpPr>
          <p:cNvPr id="52" name="BIDS"/>
          <p:cNvSpPr/>
          <p:nvPr/>
        </p:nvSpPr>
        <p:spPr>
          <a:xfrm>
            <a:off x="4663440" y="1517904"/>
            <a:ext cx="24688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</a:t>
            </a:r>
            <a:endParaRPr lang="en-US" sz="10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 · PET · EEG / MEG / iEEG · microscopy · motion · physiology · behavior and task events · stimuli</a:t>
            </a:r>
            <a:endParaRPr lang="en-US" sz="1000" dirty="0"/>
          </a:p>
        </p:txBody>
      </p:sp>
      <p:sp>
        <p:nvSpPr>
          <p:cNvPr id="53" name="BIDS BEP032"/>
          <p:cNvSpPr/>
          <p:nvPr/>
        </p:nvSpPr>
        <p:spPr>
          <a:xfrm>
            <a:off x="4663440" y="2340864"/>
            <a:ext cx="11247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BEP032</a:t>
            </a:r>
            <a:endParaRPr lang="en-US" sz="10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microelectrode ephys</a:t>
            </a:r>
            <a:endParaRPr lang="en-US" sz="1000" dirty="0"/>
          </a:p>
        </p:txBody>
      </p:sp>
      <p:sp>
        <p:nvSpPr>
          <p:cNvPr id="54" name="BIDS BEP047"/>
          <p:cNvSpPr/>
          <p:nvPr/>
        </p:nvSpPr>
        <p:spPr>
          <a:xfrm>
            <a:off x="6007608" y="2340864"/>
            <a:ext cx="11247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BEP047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recordings</a:t>
            </a:r>
            <a:endParaRPr lang="en-US" sz="1000" dirty="0"/>
          </a:p>
        </p:txBody>
      </p:sp>
      <p:sp>
        <p:nvSpPr>
          <p:cNvPr id="55" name="BIDS BEP020 · BEP042"/>
          <p:cNvSpPr/>
          <p:nvPr/>
        </p:nvSpPr>
        <p:spPr>
          <a:xfrm>
            <a:off x="4663440" y="2743200"/>
            <a:ext cx="11247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BEP020 · BEP042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tracking · EMG</a:t>
            </a:r>
            <a:endParaRPr lang="en-US" sz="1000" dirty="0"/>
          </a:p>
        </p:txBody>
      </p:sp>
      <p:sp>
        <p:nvSpPr>
          <p:cNvPr id="56" name="BIDS Multi-subject BEP"/>
          <p:cNvSpPr/>
          <p:nvPr/>
        </p:nvSpPr>
        <p:spPr>
          <a:xfrm>
            <a:off x="6007608" y="2743200"/>
            <a:ext cx="1124712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5875">
            <a:solidFill>
              <a:srgbClr val="009E73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Multi-subject BEP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1000" dirty="0"/>
          </a:p>
        </p:txBody>
      </p:sp>
      <p:sp>
        <p:nvSpPr>
          <p:cNvPr id="57" name="Psych-DS"/>
          <p:cNvSpPr/>
          <p:nvPr/>
        </p:nvSpPr>
        <p:spPr>
          <a:xfrm>
            <a:off x="7223760" y="1517904"/>
            <a:ext cx="11430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5875">
            <a:solidFill>
              <a:srgbClr val="44546A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Psych-DS</a:t>
            </a:r>
            <a:endParaRPr lang="en-US" sz="100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variable defined in JSON</a:t>
            </a:r>
            <a:endParaRPr lang="en-US" sz="1000" dirty="0"/>
          </a:p>
        </p:txBody>
      </p:sp>
      <p:sp>
        <p:nvSpPr>
          <p:cNvPr id="58" name="Companion proposals (horizontal)"/>
          <p:cNvSpPr/>
          <p:nvPr/>
        </p:nvSpPr>
        <p:spPr>
          <a:xfrm>
            <a:off x="4572000" y="4965192"/>
            <a:ext cx="1997964" cy="0"/>
          </a:xfrm>
          <a:prstGeom prst="line">
            <a:avLst/>
          </a:prstGeom>
          <a:noFill/>
          <a:ln w="12700">
            <a:solidFill>
              <a:srgbClr val="009E7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9" name="Companion proposals (vertical)"/>
          <p:cNvSpPr/>
          <p:nvPr/>
        </p:nvSpPr>
        <p:spPr>
          <a:xfrm>
            <a:off x="6569964" y="3090672"/>
            <a:ext cx="0" cy="1874520"/>
          </a:xfrm>
          <a:prstGeom prst="line">
            <a:avLst/>
          </a:prstGeom>
          <a:noFill/>
          <a:ln w="12700">
            <a:solidFill>
              <a:srgbClr val="009E73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4626864" y="50017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009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companion proposals</a:t>
            </a:r>
            <a:endParaRPr lang="en-US" sz="950" dirty="0"/>
          </a:p>
        </p:txBody>
      </p:sp>
      <p:sp>
        <p:nvSpPr>
          <p:cNvPr id="61" name="HED"/>
          <p:cNvSpPr/>
          <p:nvPr/>
        </p:nvSpPr>
        <p:spPr>
          <a:xfrm>
            <a:off x="8595360" y="2286000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C79A7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HED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annotates events in BIDS, NWB</a:t>
            </a:r>
            <a:endParaRPr lang="en-US" sz="1000" dirty="0"/>
          </a:p>
        </p:txBody>
      </p:sp>
      <p:sp>
        <p:nvSpPr>
          <p:cNvPr id="62" name="Neuro Termsets"/>
          <p:cNvSpPr/>
          <p:nvPr/>
        </p:nvSpPr>
        <p:spPr>
          <a:xfrm>
            <a:off x="8595360" y="2715768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CC79A7"/>
            </a:solidFill>
            <a:prstDash val="dash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 Termsets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sets for NWB and BIDS</a:t>
            </a:r>
            <a:endParaRPr lang="en-US" sz="1000" dirty="0"/>
          </a:p>
        </p:txBody>
      </p:sp>
      <p:sp>
        <p:nvSpPr>
          <p:cNvPr id="63" name="Terminology: NCBI Taxonomy"/>
          <p:cNvSpPr/>
          <p:nvPr/>
        </p:nvSpPr>
        <p:spPr>
          <a:xfrm>
            <a:off x="8814816" y="3154680"/>
            <a:ext cx="1609344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CC79A7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NCBI Taxonomy  </a:t>
            </a: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species</a:t>
            </a:r>
            <a:endParaRPr lang="en-US" sz="1000" dirty="0"/>
          </a:p>
        </p:txBody>
      </p:sp>
      <p:sp>
        <p:nvSpPr>
          <p:cNvPr id="64" name="Neuro Termsets uses NCBI Taxonomy"/>
          <p:cNvSpPr/>
          <p:nvPr/>
        </p:nvSpPr>
        <p:spPr>
          <a:xfrm>
            <a:off x="8695944" y="3278124"/>
            <a:ext cx="118872" cy="0"/>
          </a:xfrm>
          <a:prstGeom prst="line">
            <a:avLst/>
          </a:prstGeom>
          <a:noFill/>
          <a:ln w="12700">
            <a:solidFill>
              <a:srgbClr val="CC79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rminology: UBERON"/>
          <p:cNvSpPr/>
          <p:nvPr/>
        </p:nvSpPr>
        <p:spPr>
          <a:xfrm>
            <a:off x="8814816" y="3447288"/>
            <a:ext cx="1609344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CC79A7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UBERON  </a:t>
            </a: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anatomy</a:t>
            </a:r>
            <a:endParaRPr lang="en-US" sz="1000" dirty="0"/>
          </a:p>
        </p:txBody>
      </p:sp>
      <p:sp>
        <p:nvSpPr>
          <p:cNvPr id="66" name="Neuro Termsets uses UBERON"/>
          <p:cNvSpPr/>
          <p:nvPr/>
        </p:nvSpPr>
        <p:spPr>
          <a:xfrm>
            <a:off x="8695944" y="3570732"/>
            <a:ext cx="118872" cy="0"/>
          </a:xfrm>
          <a:prstGeom prst="line">
            <a:avLst/>
          </a:prstGeom>
          <a:noFill/>
          <a:ln w="12700">
            <a:solidFill>
              <a:srgbClr val="CC79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rminology: Allen atlases"/>
          <p:cNvSpPr/>
          <p:nvPr/>
        </p:nvSpPr>
        <p:spPr>
          <a:xfrm>
            <a:off x="8814816" y="3739896"/>
            <a:ext cx="1609344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CC79A7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 atlases  </a:t>
            </a: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regions</a:t>
            </a:r>
            <a:endParaRPr lang="en-US" sz="1000" dirty="0"/>
          </a:p>
        </p:txBody>
      </p:sp>
      <p:sp>
        <p:nvSpPr>
          <p:cNvPr id="68" name="Neuro Termsets uses Allen atlases"/>
          <p:cNvSpPr/>
          <p:nvPr/>
        </p:nvSpPr>
        <p:spPr>
          <a:xfrm>
            <a:off x="8695944" y="3863340"/>
            <a:ext cx="118872" cy="0"/>
          </a:xfrm>
          <a:prstGeom prst="line">
            <a:avLst/>
          </a:prstGeom>
          <a:noFill/>
          <a:ln w="12700">
            <a:solidFill>
              <a:srgbClr val="CC79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rminology: RRID"/>
          <p:cNvSpPr/>
          <p:nvPr/>
        </p:nvSpPr>
        <p:spPr>
          <a:xfrm>
            <a:off x="8814816" y="4032504"/>
            <a:ext cx="1609344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CC79A7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RRID  </a:t>
            </a: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strains</a:t>
            </a:r>
            <a:endParaRPr lang="en-US" sz="1000" dirty="0"/>
          </a:p>
        </p:txBody>
      </p:sp>
      <p:sp>
        <p:nvSpPr>
          <p:cNvPr id="70" name="Neuro Termsets uses RRID"/>
          <p:cNvSpPr/>
          <p:nvPr/>
        </p:nvSpPr>
        <p:spPr>
          <a:xfrm>
            <a:off x="8695944" y="4155948"/>
            <a:ext cx="118872" cy="0"/>
          </a:xfrm>
          <a:prstGeom prst="line">
            <a:avLst/>
          </a:prstGeom>
          <a:noFill/>
          <a:ln w="12700">
            <a:solidFill>
              <a:srgbClr val="CC79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rminology: ORCID · ROR"/>
          <p:cNvSpPr/>
          <p:nvPr/>
        </p:nvSpPr>
        <p:spPr>
          <a:xfrm>
            <a:off x="8814816" y="4325112"/>
            <a:ext cx="1609344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CC79A7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ORCID · ROR  </a:t>
            </a: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people, labs</a:t>
            </a:r>
            <a:endParaRPr lang="en-US" sz="1000" dirty="0"/>
          </a:p>
        </p:txBody>
      </p:sp>
      <p:sp>
        <p:nvSpPr>
          <p:cNvPr id="72" name="Neuro Termsets uses ORCID · ROR"/>
          <p:cNvSpPr/>
          <p:nvPr/>
        </p:nvSpPr>
        <p:spPr>
          <a:xfrm>
            <a:off x="8695944" y="4448556"/>
            <a:ext cx="118872" cy="0"/>
          </a:xfrm>
          <a:prstGeom prst="line">
            <a:avLst/>
          </a:prstGeom>
          <a:noFill/>
          <a:ln w="12700">
            <a:solidFill>
              <a:srgbClr val="CC79A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rminology: Cell Ontology"/>
          <p:cNvSpPr/>
          <p:nvPr/>
        </p:nvSpPr>
        <p:spPr>
          <a:xfrm>
            <a:off x="8814816" y="4617720"/>
            <a:ext cx="1609344" cy="246888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5875">
            <a:solidFill>
              <a:srgbClr val="CC79A7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Ontology  </a:t>
            </a: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types</a:t>
            </a:r>
            <a:endParaRPr lang="en-US" sz="1000" dirty="0"/>
          </a:p>
        </p:txBody>
      </p:sp>
      <p:sp>
        <p:nvSpPr>
          <p:cNvPr id="74" name="Neuro Termsets references"/>
          <p:cNvSpPr/>
          <p:nvPr/>
        </p:nvSpPr>
        <p:spPr>
          <a:xfrm>
            <a:off x="8695944" y="3081528"/>
            <a:ext cx="0" cy="1367028"/>
          </a:xfrm>
          <a:prstGeom prst="line">
            <a:avLst/>
          </a:prstGeom>
          <a:noFill/>
          <a:ln w="12700">
            <a:solidFill>
              <a:srgbClr val="CC79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Behavior labels"/>
          <p:cNvSpPr/>
          <p:nvPr/>
        </p:nvSpPr>
        <p:spPr>
          <a:xfrm>
            <a:off x="8595360" y="4956048"/>
            <a:ext cx="1828800" cy="365760"/>
          </a:xfrm>
          <a:prstGeom prst="roundRect">
            <a:avLst>
              <a:gd name="adj" fmla="val 15000"/>
            </a:avLst>
          </a:prstGeom>
          <a:solidFill>
            <a:srgbClr val="8A96A3">
              <a:alpha val="20000"/>
            </a:srgbClr>
          </a:solidFill>
          <a:ln w="15875">
            <a:solidFill>
              <a:srgbClr val="8A96A3"/>
            </a:solidFill>
            <a:prstDash val="dash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 labels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shared vocabulary in use</a:t>
            </a:r>
            <a:endParaRPr lang="en-US" sz="1000" dirty="0"/>
          </a:p>
        </p:txBody>
      </p:sp>
      <p:sp>
        <p:nvSpPr>
          <p:cNvPr id="76" name="HDMF"/>
          <p:cNvSpPr/>
          <p:nvPr/>
        </p:nvSpPr>
        <p:spPr>
          <a:xfrm>
            <a:off x="10698480" y="2286000"/>
            <a:ext cx="112471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6B4E9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HDMF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NWB</a:t>
            </a:r>
            <a:endParaRPr lang="en-US" sz="1000" dirty="0"/>
          </a:p>
        </p:txBody>
      </p:sp>
      <p:sp>
        <p:nvSpPr>
          <p:cNvPr id="77" name="BIDS schema"/>
          <p:cNvSpPr/>
          <p:nvPr/>
        </p:nvSpPr>
        <p:spPr>
          <a:xfrm>
            <a:off x="10698480" y="2834640"/>
            <a:ext cx="112471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6B4E9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BIDS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BIDS</a:t>
            </a:r>
            <a:endParaRPr lang="en-US" sz="1000" dirty="0"/>
          </a:p>
        </p:txBody>
      </p:sp>
      <p:sp>
        <p:nvSpPr>
          <p:cNvPr id="78" name="LinkML"/>
          <p:cNvSpPr/>
          <p:nvPr/>
        </p:nvSpPr>
        <p:spPr>
          <a:xfrm>
            <a:off x="10698480" y="3383280"/>
            <a:ext cx="1124712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5875">
            <a:solidFill>
              <a:srgbClr val="56B4E9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LinkML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Psych-DS and Neuro Termsets</a:t>
            </a:r>
            <a:endParaRPr lang="en-US" sz="1000" dirty="0"/>
          </a:p>
          <a:p>
            <a:pPr marL="0" indent="0" algn="ctr">
              <a:buNone/>
            </a:pPr>
            <a:r>
              <a:rPr lang="en-US" sz="85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(Dandiset and NWB schema translations planned)</a:t>
            </a:r>
            <a:endParaRPr lang="en-US" sz="1000" dirty="0"/>
          </a:p>
        </p:txBody>
      </p:sp>
      <p:sp>
        <p:nvSpPr>
          <p:cNvPr id="79" name="JSON Schema (Pydantic)"/>
          <p:cNvSpPr/>
          <p:nvPr/>
        </p:nvSpPr>
        <p:spPr>
          <a:xfrm>
            <a:off x="10698480" y="4370832"/>
            <a:ext cx="1124712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56B4E9"/>
            </a:solidFill>
            <a:prstDash val="solid"/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 (Pydantic)</a:t>
            </a:r>
            <a:endParaRPr lang="en-US" sz="10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5B67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defines DANDI layout, EMBER archive metadata</a:t>
            </a:r>
            <a:endParaRPr lang="en-US" sz="1000" dirty="0"/>
          </a:p>
        </p:txBody>
      </p:sp>
      <p:sp>
        <p:nvSpPr>
          <p:cNvPr id="80" name="Text 78"/>
          <p:cNvSpPr txBox="1"/>
          <p:nvPr/>
        </p:nvSpPr>
        <p:spPr>
          <a:xfrm>
            <a:off x="320040" y="6949440"/>
            <a:ext cx="1691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BBQS data types:</a:t>
            </a:r>
            <a:endParaRPr lang="en-US" sz="1150" dirty="0"/>
          </a:p>
        </p:txBody>
      </p:sp>
      <p:sp>
        <p:nvSpPr>
          <p:cNvPr id="81" name="Data: Electro- and optical physiology · stimulation"/>
          <p:cNvSpPr/>
          <p:nvPr/>
        </p:nvSpPr>
        <p:spPr>
          <a:xfrm>
            <a:off x="2057400" y="7040880"/>
            <a:ext cx="1188720" cy="713232"/>
          </a:xfrm>
          <a:prstGeom prst="rect">
            <a:avLst/>
          </a:prstGeom>
          <a:solidFill>
            <a:srgbClr val="8A96A3">
              <a:alpha val="15000"/>
            </a:srgbClr>
          </a:solidFill>
          <a:ln w="12700">
            <a:solidFill>
              <a:srgbClr val="8A96A3"/>
            </a:solidFill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Electro- and optical physiology · stimulation</a:t>
            </a:r>
            <a:endParaRPr lang="en-US" sz="1000" dirty="0"/>
          </a:p>
        </p:txBody>
      </p:sp>
      <p:sp>
        <p:nvSpPr>
          <p:cNvPr id="82" name="Data: Video · audio · pose · eye tracking · task events"/>
          <p:cNvSpPr/>
          <p:nvPr/>
        </p:nvSpPr>
        <p:spPr>
          <a:xfrm>
            <a:off x="3300984" y="7040880"/>
            <a:ext cx="1325880" cy="713232"/>
          </a:xfrm>
          <a:prstGeom prst="rect">
            <a:avLst/>
          </a:prstGeom>
          <a:solidFill>
            <a:srgbClr val="8A96A3">
              <a:alpha val="15000"/>
            </a:srgbClr>
          </a:solidFill>
          <a:ln w="12700">
            <a:solidFill>
              <a:srgbClr val="8A96A3"/>
            </a:solidFill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· audio · pose · eye tracking · task events</a:t>
            </a:r>
            <a:endParaRPr lang="en-US" sz="1000" dirty="0"/>
          </a:p>
        </p:txBody>
      </p:sp>
      <p:sp>
        <p:nvSpPr>
          <p:cNvPr id="83" name="Data: EEG · MEG · iEEG"/>
          <p:cNvSpPr/>
          <p:nvPr/>
        </p:nvSpPr>
        <p:spPr>
          <a:xfrm>
            <a:off x="4681728" y="7040880"/>
            <a:ext cx="868680" cy="713232"/>
          </a:xfrm>
          <a:prstGeom prst="rect">
            <a:avLst/>
          </a:prstGeom>
          <a:solidFill>
            <a:srgbClr val="8A96A3">
              <a:alpha val="15000"/>
            </a:srgbClr>
          </a:solidFill>
          <a:ln w="12700">
            <a:solidFill>
              <a:srgbClr val="8A96A3"/>
            </a:solidFill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EEG · MEG · iEEG</a:t>
            </a:r>
            <a:endParaRPr lang="en-US" sz="1000" dirty="0"/>
          </a:p>
        </p:txBody>
      </p:sp>
      <p:sp>
        <p:nvSpPr>
          <p:cNvPr id="84" name="Data: MRI · fMRI · PET"/>
          <p:cNvSpPr/>
          <p:nvPr/>
        </p:nvSpPr>
        <p:spPr>
          <a:xfrm>
            <a:off x="5605272" y="7040880"/>
            <a:ext cx="822960" cy="713232"/>
          </a:xfrm>
          <a:prstGeom prst="rect">
            <a:avLst/>
          </a:prstGeom>
          <a:solidFill>
            <a:srgbClr val="8A96A3">
              <a:alpha val="15000"/>
            </a:srgbClr>
          </a:solidFill>
          <a:ln w="12700">
            <a:solidFill>
              <a:srgbClr val="8A96A3"/>
            </a:solidFill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MRI · fMRI · PET</a:t>
            </a:r>
            <a:endParaRPr lang="en-US" sz="1000" dirty="0"/>
          </a:p>
        </p:txBody>
      </p:sp>
      <p:sp>
        <p:nvSpPr>
          <p:cNvPr id="85" name="Data: Wearables"/>
          <p:cNvSpPr/>
          <p:nvPr/>
        </p:nvSpPr>
        <p:spPr>
          <a:xfrm>
            <a:off x="6483096" y="7040880"/>
            <a:ext cx="777240" cy="713232"/>
          </a:xfrm>
          <a:prstGeom prst="rect">
            <a:avLst/>
          </a:prstGeom>
          <a:solidFill>
            <a:srgbClr val="8A96A3">
              <a:alpha val="15000"/>
            </a:srgbClr>
          </a:solidFill>
          <a:ln w="12700">
            <a:solidFill>
              <a:srgbClr val="8A96A3"/>
            </a:solidFill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</a:t>
            </a:r>
            <a:endParaRPr lang="en-US" sz="1000" dirty="0"/>
          </a:p>
        </p:txBody>
      </p:sp>
      <p:sp>
        <p:nvSpPr>
          <p:cNvPr id="86" name="Data: Questionnaires surveys"/>
          <p:cNvSpPr/>
          <p:nvPr/>
        </p:nvSpPr>
        <p:spPr>
          <a:xfrm>
            <a:off x="7315200" y="7040880"/>
            <a:ext cx="1051560" cy="713232"/>
          </a:xfrm>
          <a:prstGeom prst="rect">
            <a:avLst/>
          </a:prstGeom>
          <a:solidFill>
            <a:srgbClr val="8A96A3">
              <a:alpha val="15000"/>
            </a:srgbClr>
          </a:solidFill>
          <a:ln w="12700">
            <a:solidFill>
              <a:srgbClr val="8A96A3"/>
            </a:solidFill>
          </a:ln>
        </p:spPr>
        <p:txBody>
          <a:bodyPr wrap="square" lIns="19050" tIns="0" rIns="1905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Questionnaires</a:t>
            </a:r>
            <a:endParaRPr lang="en-US" sz="100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surveys</a:t>
            </a:r>
            <a:endParaRPr lang="en-US" sz="1000" dirty="0"/>
          </a:p>
        </p:txBody>
      </p:sp>
      <p:sp>
        <p:nvSpPr>
          <p:cNvPr id="87" name="Bus A"/>
          <p:cNvSpPr/>
          <p:nvPr/>
        </p:nvSpPr>
        <p:spPr>
          <a:xfrm>
            <a:off x="2651760" y="6922008"/>
            <a:ext cx="4025646" cy="0"/>
          </a:xfrm>
          <a:prstGeom prst="line">
            <a:avLst/>
          </a:prstGeom>
          <a:noFill/>
          <a:ln w="1587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Bus B"/>
          <p:cNvSpPr/>
          <p:nvPr/>
        </p:nvSpPr>
        <p:spPr>
          <a:xfrm>
            <a:off x="4184904" y="6793992"/>
            <a:ext cx="3480816" cy="0"/>
          </a:xfrm>
          <a:prstGeom prst="line">
            <a:avLst/>
          </a:prstGeom>
          <a:noFill/>
          <a:ln w="15875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Bus C"/>
          <p:cNvSpPr/>
          <p:nvPr/>
        </p:nvSpPr>
        <p:spPr>
          <a:xfrm>
            <a:off x="7066026" y="6665976"/>
            <a:ext cx="950214" cy="0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Feed A"/>
          <p:cNvSpPr/>
          <p:nvPr/>
        </p:nvSpPr>
        <p:spPr>
          <a:xfrm>
            <a:off x="2651760" y="6922008"/>
            <a:ext cx="0" cy="118872"/>
          </a:xfrm>
          <a:prstGeom prst="line">
            <a:avLst/>
          </a:prstGeom>
          <a:noFill/>
          <a:ln w="1587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Join A"/>
          <p:cNvSpPr/>
          <p:nvPr/>
        </p:nvSpPr>
        <p:spPr>
          <a:xfrm>
            <a:off x="2615184" y="6885432"/>
            <a:ext cx="73152" cy="73152"/>
          </a:xfrm>
          <a:prstGeom prst="ellipse">
            <a:avLst/>
          </a:prstGeom>
          <a:solidFill>
            <a:srgbClr val="D55E00"/>
          </a:solidFill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Feed A"/>
          <p:cNvSpPr/>
          <p:nvPr/>
        </p:nvSpPr>
        <p:spPr>
          <a:xfrm>
            <a:off x="3742944" y="6922008"/>
            <a:ext cx="0" cy="118872"/>
          </a:xfrm>
          <a:prstGeom prst="line">
            <a:avLst/>
          </a:prstGeom>
          <a:noFill/>
          <a:ln w="1587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Join A"/>
          <p:cNvSpPr/>
          <p:nvPr/>
        </p:nvSpPr>
        <p:spPr>
          <a:xfrm>
            <a:off x="3706368" y="6885432"/>
            <a:ext cx="73152" cy="73152"/>
          </a:xfrm>
          <a:prstGeom prst="ellipse">
            <a:avLst/>
          </a:prstGeom>
          <a:solidFill>
            <a:srgbClr val="D55E00"/>
          </a:solidFill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Feed B"/>
          <p:cNvSpPr/>
          <p:nvPr/>
        </p:nvSpPr>
        <p:spPr>
          <a:xfrm>
            <a:off x="4184904" y="6793992"/>
            <a:ext cx="0" cy="246888"/>
          </a:xfrm>
          <a:prstGeom prst="line">
            <a:avLst/>
          </a:prstGeom>
          <a:noFill/>
          <a:ln w="15875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Join B"/>
          <p:cNvSpPr/>
          <p:nvPr/>
        </p:nvSpPr>
        <p:spPr>
          <a:xfrm>
            <a:off x="4148328" y="6757416"/>
            <a:ext cx="73152" cy="73152"/>
          </a:xfrm>
          <a:prstGeom prst="ellipse">
            <a:avLst/>
          </a:prstGeom>
          <a:solidFill>
            <a:srgbClr val="009E73"/>
          </a:solidFill>
          <a:ln w="63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Feed A"/>
          <p:cNvSpPr/>
          <p:nvPr/>
        </p:nvSpPr>
        <p:spPr>
          <a:xfrm>
            <a:off x="4971288" y="6922008"/>
            <a:ext cx="0" cy="118872"/>
          </a:xfrm>
          <a:prstGeom prst="line">
            <a:avLst/>
          </a:prstGeom>
          <a:noFill/>
          <a:ln w="1587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Join A"/>
          <p:cNvSpPr/>
          <p:nvPr/>
        </p:nvSpPr>
        <p:spPr>
          <a:xfrm>
            <a:off x="4934712" y="6885432"/>
            <a:ext cx="73152" cy="73152"/>
          </a:xfrm>
          <a:prstGeom prst="ellipse">
            <a:avLst/>
          </a:prstGeom>
          <a:solidFill>
            <a:srgbClr val="D55E00"/>
          </a:solidFill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Feed B"/>
          <p:cNvSpPr/>
          <p:nvPr/>
        </p:nvSpPr>
        <p:spPr>
          <a:xfrm>
            <a:off x="5260848" y="6793992"/>
            <a:ext cx="0" cy="246888"/>
          </a:xfrm>
          <a:prstGeom prst="line">
            <a:avLst/>
          </a:prstGeom>
          <a:noFill/>
          <a:ln w="15875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Join B"/>
          <p:cNvSpPr/>
          <p:nvPr/>
        </p:nvSpPr>
        <p:spPr>
          <a:xfrm>
            <a:off x="5224272" y="6757416"/>
            <a:ext cx="73152" cy="73152"/>
          </a:xfrm>
          <a:prstGeom prst="ellipse">
            <a:avLst/>
          </a:prstGeom>
          <a:solidFill>
            <a:srgbClr val="009E73"/>
          </a:solidFill>
          <a:ln w="63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Feed B"/>
          <p:cNvSpPr/>
          <p:nvPr/>
        </p:nvSpPr>
        <p:spPr>
          <a:xfrm>
            <a:off x="6016752" y="6793992"/>
            <a:ext cx="0" cy="246888"/>
          </a:xfrm>
          <a:prstGeom prst="line">
            <a:avLst/>
          </a:prstGeom>
          <a:noFill/>
          <a:ln w="15875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Join B"/>
          <p:cNvSpPr/>
          <p:nvPr/>
        </p:nvSpPr>
        <p:spPr>
          <a:xfrm>
            <a:off x="5980176" y="6757416"/>
            <a:ext cx="73152" cy="73152"/>
          </a:xfrm>
          <a:prstGeom prst="ellipse">
            <a:avLst/>
          </a:prstGeom>
          <a:solidFill>
            <a:srgbClr val="009E73"/>
          </a:solidFill>
          <a:ln w="63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Feed A"/>
          <p:cNvSpPr/>
          <p:nvPr/>
        </p:nvSpPr>
        <p:spPr>
          <a:xfrm>
            <a:off x="6677406" y="6922008"/>
            <a:ext cx="0" cy="118872"/>
          </a:xfrm>
          <a:prstGeom prst="line">
            <a:avLst/>
          </a:prstGeom>
          <a:noFill/>
          <a:ln w="15875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Join A"/>
          <p:cNvSpPr/>
          <p:nvPr/>
        </p:nvSpPr>
        <p:spPr>
          <a:xfrm>
            <a:off x="6640830" y="6885432"/>
            <a:ext cx="73152" cy="73152"/>
          </a:xfrm>
          <a:prstGeom prst="ellipse">
            <a:avLst/>
          </a:prstGeom>
          <a:solidFill>
            <a:srgbClr val="D55E00"/>
          </a:solidFill>
          <a:ln w="6350">
            <a:solidFill>
              <a:srgbClr val="D55E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Feed B"/>
          <p:cNvSpPr/>
          <p:nvPr/>
        </p:nvSpPr>
        <p:spPr>
          <a:xfrm>
            <a:off x="6871716" y="6793992"/>
            <a:ext cx="0" cy="246888"/>
          </a:xfrm>
          <a:prstGeom prst="line">
            <a:avLst/>
          </a:prstGeom>
          <a:noFill/>
          <a:ln w="15875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Join B"/>
          <p:cNvSpPr/>
          <p:nvPr/>
        </p:nvSpPr>
        <p:spPr>
          <a:xfrm>
            <a:off x="6835140" y="6757416"/>
            <a:ext cx="73152" cy="73152"/>
          </a:xfrm>
          <a:prstGeom prst="ellipse">
            <a:avLst/>
          </a:prstGeom>
          <a:solidFill>
            <a:srgbClr val="009E73"/>
          </a:solidFill>
          <a:ln w="63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Feed C"/>
          <p:cNvSpPr/>
          <p:nvPr/>
        </p:nvSpPr>
        <p:spPr>
          <a:xfrm>
            <a:off x="7066026" y="6665976"/>
            <a:ext cx="0" cy="374904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Join C"/>
          <p:cNvSpPr/>
          <p:nvPr/>
        </p:nvSpPr>
        <p:spPr>
          <a:xfrm>
            <a:off x="7029450" y="6629400"/>
            <a:ext cx="73152" cy="73152"/>
          </a:xfrm>
          <a:prstGeom prst="ellipse">
            <a:avLst/>
          </a:prstGeom>
          <a:solidFill>
            <a:srgbClr val="44546A"/>
          </a:solidFill>
          <a:ln w="635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Feed B"/>
          <p:cNvSpPr/>
          <p:nvPr/>
        </p:nvSpPr>
        <p:spPr>
          <a:xfrm>
            <a:off x="7665720" y="6793992"/>
            <a:ext cx="0" cy="246888"/>
          </a:xfrm>
          <a:prstGeom prst="line">
            <a:avLst/>
          </a:prstGeom>
          <a:noFill/>
          <a:ln w="15875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Join B"/>
          <p:cNvSpPr/>
          <p:nvPr/>
        </p:nvSpPr>
        <p:spPr>
          <a:xfrm>
            <a:off x="7629144" y="6757416"/>
            <a:ext cx="73152" cy="73152"/>
          </a:xfrm>
          <a:prstGeom prst="ellipse">
            <a:avLst/>
          </a:prstGeom>
          <a:solidFill>
            <a:srgbClr val="009E73"/>
          </a:solidFill>
          <a:ln w="6350">
            <a:solidFill>
              <a:srgbClr val="009E7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Feed C"/>
          <p:cNvSpPr/>
          <p:nvPr/>
        </p:nvSpPr>
        <p:spPr>
          <a:xfrm>
            <a:off x="8016240" y="6665976"/>
            <a:ext cx="0" cy="374904"/>
          </a:xfrm>
          <a:prstGeom prst="line">
            <a:avLst/>
          </a:prstGeom>
          <a:noFill/>
          <a:ln w="15875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Join C"/>
          <p:cNvSpPr/>
          <p:nvPr/>
        </p:nvSpPr>
        <p:spPr>
          <a:xfrm>
            <a:off x="7979664" y="6629400"/>
            <a:ext cx="73152" cy="73152"/>
          </a:xfrm>
          <a:prstGeom prst="ellipse">
            <a:avLst/>
          </a:prstGeom>
          <a:solidFill>
            <a:srgbClr val="44546A"/>
          </a:solidFill>
          <a:ln w="6350">
            <a:solidFill>
              <a:srgbClr val="445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Data without a standard"/>
          <p:cNvSpPr/>
          <p:nvPr/>
        </p:nvSpPr>
        <p:spPr>
          <a:xfrm>
            <a:off x="8503920" y="7040880"/>
            <a:ext cx="3300984" cy="713232"/>
          </a:xfrm>
          <a:prstGeom prst="rect">
            <a:avLst/>
          </a:prstGeom>
          <a:solidFill>
            <a:srgbClr val="8A96A3">
              <a:alpha val="20000"/>
            </a:srgbClr>
          </a:solidFill>
          <a:ln w="15875">
            <a:solidFill>
              <a:srgbClr val="8A96A3"/>
            </a:solidFill>
            <a:prstDash val="dash"/>
          </a:ln>
        </p:spPr>
        <p:txBody>
          <a:bodyPr wrap="square" lIns="63500" tIns="12700" rIns="63500" bIns="127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standard yet</a:t>
            </a:r>
            <a:endParaRPr lang="en-US" sz="10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F29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interactions · feeding · facial expressions · home-cage monitoring · VR · force plates · EMG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701</Words>
  <Application>Microsoft Macintosh PowerPoint</Application>
  <PresentationFormat>Custom</PresentationFormat>
  <Paragraphs>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Fig. 5 — The BBQS standards stack</dc:title>
  <dc:subject>PptxGenJS Presentation</dc:subject>
  <dc:creator>PptxGenJS</dc:creator>
  <cp:lastModifiedBy>Oliver Ruebel</cp:lastModifiedBy>
  <cp:revision>2</cp:revision>
  <dcterms:created xsi:type="dcterms:W3CDTF">2026-10-18T08:21:59Z</dcterms:created>
  <dcterms:modified xsi:type="dcterms:W3CDTF">2026-10-18T23:25:05Z</dcterms:modified>
</cp:coreProperties>
</file>