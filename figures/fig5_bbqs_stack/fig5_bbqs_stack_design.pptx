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7863840"/>
  <p:notesSz cx="786384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5 design draft v4 (spec: draft/12_figures_tables.md). Sources: Table 3, BBQS standards guideline, Standards4BBQS forum slides (Oct 2026).
Stack: rows 1 data formats, 2 file organization, 3 dataset organization, 5 data archives. Ontologies &amp; terminologies (4) and schema languages (6) are side panels next to rows 2-3, which they both serve.
Paths: NWB (orange) runs from the data through NWB to EMBER; BIDS (green) and Psych-DS (slate) run from the data to EMBER. A green arrow from NWB to the BIDS path shows that BIDS can include NWB files.
NWB extensions and enhancement proposals are labelled by purpose: pose estimation (ndx-pose, NWBEP in preparation), structured behavior (ndx-structured-behavior), microscopy (NWBEP004), HED annotation (ndx-hed), fiber photometry, wearable devices, multi-subject (ndx-multisubjects, NWBEP in preparation), ethogram. A dashed green line joins Multi-subject to the planned multi-subject BEP (companion proposals). Standards boxes are outlined in the colour of their path (DANDI layout orange, Psych-DS slate).
Panel 4: each terminology is its own box; arrows show the terminologies Neuro Termsets draws on (Cell Ontology is not yet a term set).
Status: solid = recommended for BBQS today; dashed = extension or proposal in progress; grey dashed = needs a standard.
BBQS data: each data type appears once; thin lines join it to every standard it can use (Table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gend ok"/>
          <p:cNvSpPr/>
          <p:nvPr/>
        </p:nvSpPr>
        <p:spPr>
          <a:xfrm>
            <a:off x="2057400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9464" y="1097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for BBQS</a:t>
            </a:r>
            <a:endParaRPr lang="en-US" sz="1050" dirty="0"/>
          </a:p>
        </p:txBody>
      </p:sp>
      <p:sp>
        <p:nvSpPr>
          <p:cNvPr id="4" name="Legend wip"/>
          <p:cNvSpPr/>
          <p:nvPr/>
        </p:nvSpPr>
        <p:spPr>
          <a:xfrm>
            <a:off x="4352544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4864608" y="10972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 (extension or proposal)</a:t>
            </a:r>
            <a:endParaRPr lang="en-US" sz="1050" dirty="0"/>
          </a:p>
        </p:txBody>
      </p:sp>
      <p:sp>
        <p:nvSpPr>
          <p:cNvPr id="6" name="Legend gap"/>
          <p:cNvSpPr/>
          <p:nvPr/>
        </p:nvSpPr>
        <p:spPr>
          <a:xfrm>
            <a:off x="7424928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936992" y="1097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 standard</a:t>
            </a:r>
            <a:endParaRPr lang="en-US" sz="1050" dirty="0"/>
          </a:p>
        </p:txBody>
      </p:sp>
      <p:sp>
        <p:nvSpPr>
          <p:cNvPr id="8" name="Legend path"/>
          <p:cNvSpPr/>
          <p:nvPr/>
        </p:nvSpPr>
        <p:spPr>
          <a:xfrm>
            <a:off x="9308592" y="237744"/>
            <a:ext cx="457200" cy="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9857232" y="1097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the archive</a:t>
            </a:r>
            <a:endParaRPr lang="en-US" sz="1050" dirty="0"/>
          </a:p>
        </p:txBody>
      </p:sp>
      <p:sp>
        <p:nvSpPr>
          <p:cNvPr id="10" name="Layer 5: Data archives"/>
          <p:cNvSpPr/>
          <p:nvPr/>
        </p:nvSpPr>
        <p:spPr>
          <a:xfrm>
            <a:off x="274320" y="493776"/>
            <a:ext cx="11640312" cy="768096"/>
          </a:xfrm>
          <a:prstGeom prst="rect">
            <a:avLst/>
          </a:prstGeom>
          <a:solidFill>
            <a:srgbClr val="0072B2">
              <a:alpha val="15000"/>
            </a:srgbClr>
          </a:solidFill>
          <a:ln w="12700">
            <a:solidFill>
              <a:srgbClr val="0072B2"/>
            </a:solidFill>
          </a:ln>
        </p:spPr>
        <p:txBody>
          <a:bodyPr wrap="square" lIns="566928" tIns="182880" rIns="98846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Publish, share, and discover</a:t>
            </a:r>
            <a:endParaRPr lang="en-US" sz="1150" dirty="0"/>
          </a:p>
        </p:txBody>
      </p:sp>
      <p:sp>
        <p:nvSpPr>
          <p:cNvPr id="11" name="Layer 5 tread"/>
          <p:cNvSpPr/>
          <p:nvPr/>
        </p:nvSpPr>
        <p:spPr>
          <a:xfrm>
            <a:off x="274320" y="493776"/>
            <a:ext cx="11640312" cy="73152"/>
          </a:xfrm>
          <a:prstGeom prst="rect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12" name="Badge 5"/>
          <p:cNvSpPr/>
          <p:nvPr/>
        </p:nvSpPr>
        <p:spPr>
          <a:xfrm>
            <a:off x="393192" y="676656"/>
            <a:ext cx="292608" cy="292608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13" name="Layer 3: Dataset organization standards"/>
          <p:cNvSpPr/>
          <p:nvPr/>
        </p:nvSpPr>
        <p:spPr>
          <a:xfrm>
            <a:off x="274320" y="1353312"/>
            <a:ext cx="8156448" cy="1965960"/>
          </a:xfrm>
          <a:prstGeom prst="rect">
            <a:avLst/>
          </a:prstGeom>
          <a:solidFill>
            <a:srgbClr val="009E73">
              <a:alpha val="15000"/>
            </a:srgbClr>
          </a:solidFill>
          <a:ln w="12700">
            <a:solidFill>
              <a:srgbClr val="009E73"/>
            </a:solidFill>
          </a:ln>
        </p:spPr>
        <p:txBody>
          <a:bodyPr wrap="square" lIns="566928" tIns="182880" rIns="6400800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collections of files</a:t>
            </a:r>
            <a:endParaRPr lang="en-US" sz="1150" dirty="0"/>
          </a:p>
        </p:txBody>
      </p:sp>
      <p:sp>
        <p:nvSpPr>
          <p:cNvPr id="14" name="Layer 3 tread"/>
          <p:cNvSpPr/>
          <p:nvPr/>
        </p:nvSpPr>
        <p:spPr>
          <a:xfrm>
            <a:off x="274320" y="1353312"/>
            <a:ext cx="8156448" cy="73152"/>
          </a:xfrm>
          <a:prstGeom prst="rect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15" name="Badge 3"/>
          <p:cNvSpPr/>
          <p:nvPr/>
        </p:nvSpPr>
        <p:spPr>
          <a:xfrm>
            <a:off x="393192" y="1536192"/>
            <a:ext cx="292608" cy="292608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16" name="Layer 2: File organization standards"/>
          <p:cNvSpPr/>
          <p:nvPr/>
        </p:nvSpPr>
        <p:spPr>
          <a:xfrm>
            <a:off x="274320" y="3410712"/>
            <a:ext cx="8156448" cy="2057400"/>
          </a:xfrm>
          <a:prstGeom prst="rect">
            <a:avLst/>
          </a:prstGeom>
          <a:solidFill>
            <a:srgbClr val="D55E00">
              <a:alpha val="15000"/>
            </a:srgbClr>
          </a:solidFill>
          <a:ln w="12700">
            <a:solidFill>
              <a:srgbClr val="D55E00"/>
            </a:solidFill>
          </a:ln>
        </p:spPr>
        <p:txBody>
          <a:bodyPr wrap="square" lIns="566928" tIns="182880" rIns="6400800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data within a file</a:t>
            </a:r>
            <a:endParaRPr lang="en-US" sz="1150" dirty="0"/>
          </a:p>
        </p:txBody>
      </p:sp>
      <p:sp>
        <p:nvSpPr>
          <p:cNvPr id="17" name="Layer 2 tread"/>
          <p:cNvSpPr/>
          <p:nvPr/>
        </p:nvSpPr>
        <p:spPr>
          <a:xfrm>
            <a:off x="274320" y="3410712"/>
            <a:ext cx="8156448" cy="73152"/>
          </a:xfrm>
          <a:prstGeom prst="rect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18" name="Badge 2"/>
          <p:cNvSpPr/>
          <p:nvPr/>
        </p:nvSpPr>
        <p:spPr>
          <a:xfrm>
            <a:off x="393192" y="3593592"/>
            <a:ext cx="292608" cy="292608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Layer 1: Data formats"/>
          <p:cNvSpPr/>
          <p:nvPr/>
        </p:nvSpPr>
        <p:spPr>
          <a:xfrm>
            <a:off x="274320" y="5559552"/>
            <a:ext cx="11640312" cy="969264"/>
          </a:xfrm>
          <a:prstGeom prst="rect">
            <a:avLst/>
          </a:prstGeom>
          <a:solidFill>
            <a:srgbClr val="E69F00">
              <a:alpha val="15000"/>
            </a:srgbClr>
          </a:solidFill>
          <a:ln w="12700">
            <a:solidFill>
              <a:srgbClr val="E69F00"/>
            </a:solidFill>
          </a:ln>
        </p:spPr>
        <p:txBody>
          <a:bodyPr wrap="square" lIns="566928" tIns="182880" rIns="98846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data to storage</a:t>
            </a:r>
            <a:endParaRPr lang="en-US" sz="1150" dirty="0"/>
          </a:p>
        </p:txBody>
      </p:sp>
      <p:sp>
        <p:nvSpPr>
          <p:cNvPr id="20" name="Layer 1 tread"/>
          <p:cNvSpPr/>
          <p:nvPr/>
        </p:nvSpPr>
        <p:spPr>
          <a:xfrm>
            <a:off x="274320" y="5559552"/>
            <a:ext cx="11640312" cy="73152"/>
          </a:xfrm>
          <a:prstGeom prst="rect">
            <a:avLst/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21" name="Badge 1"/>
          <p:cNvSpPr/>
          <p:nvPr/>
        </p:nvSpPr>
        <p:spPr>
          <a:xfrm>
            <a:off x="393192" y="5742432"/>
            <a:ext cx="292608" cy="292608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Layer 4: Ontologies &amp; terminologies"/>
          <p:cNvSpPr/>
          <p:nvPr/>
        </p:nvSpPr>
        <p:spPr>
          <a:xfrm>
            <a:off x="8503920" y="1353312"/>
            <a:ext cx="2011680" cy="4114800"/>
          </a:xfrm>
          <a:prstGeom prst="rect">
            <a:avLst/>
          </a:prstGeom>
          <a:solidFill>
            <a:srgbClr val="CC79A7">
              <a:alpha val="15000"/>
            </a:srgbClr>
          </a:solidFill>
          <a:ln w="12700">
            <a:solidFill>
              <a:srgbClr val="CC79A7"/>
            </a:solidFill>
          </a:ln>
        </p:spPr>
        <p:txBody>
          <a:bodyPr wrap="square" lIns="475488" tIns="182880" rIns="548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meaning of terms</a:t>
            </a:r>
            <a:endParaRPr lang="en-US" sz="1150" dirty="0"/>
          </a:p>
        </p:txBody>
      </p:sp>
      <p:sp>
        <p:nvSpPr>
          <p:cNvPr id="23" name="Layer 4 tread"/>
          <p:cNvSpPr/>
          <p:nvPr/>
        </p:nvSpPr>
        <p:spPr>
          <a:xfrm>
            <a:off x="8503920" y="1353312"/>
            <a:ext cx="2011680" cy="73152"/>
          </a:xfrm>
          <a:prstGeom prst="rect">
            <a:avLst/>
          </a:prstGeom>
          <a:solidFill>
            <a:srgbClr val="CC79A7"/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24" name="Badge 4"/>
          <p:cNvSpPr/>
          <p:nvPr/>
        </p:nvSpPr>
        <p:spPr>
          <a:xfrm>
            <a:off x="8622792" y="1536192"/>
            <a:ext cx="292608" cy="292608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25" name="Layer 6: Schema languages"/>
          <p:cNvSpPr/>
          <p:nvPr/>
        </p:nvSpPr>
        <p:spPr>
          <a:xfrm>
            <a:off x="10607040" y="1353312"/>
            <a:ext cx="1307592" cy="4114800"/>
          </a:xfrm>
          <a:prstGeom prst="rect">
            <a:avLst/>
          </a:prstGeom>
          <a:solidFill>
            <a:srgbClr val="56B4E9">
              <a:alpha val="15000"/>
            </a:srgbClr>
          </a:solidFill>
          <a:ln w="12700">
            <a:solidFill>
              <a:srgbClr val="56B4E9"/>
            </a:solidFill>
          </a:ln>
        </p:spPr>
        <p:txBody>
          <a:bodyPr wrap="square" lIns="475488" tIns="182880" rIns="548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standards</a:t>
            </a:r>
            <a:endParaRPr lang="en-US" sz="1150" dirty="0"/>
          </a:p>
        </p:txBody>
      </p:sp>
      <p:sp>
        <p:nvSpPr>
          <p:cNvPr id="26" name="Layer 6 tread"/>
          <p:cNvSpPr/>
          <p:nvPr/>
        </p:nvSpPr>
        <p:spPr>
          <a:xfrm>
            <a:off x="10607040" y="1353312"/>
            <a:ext cx="1307592" cy="73152"/>
          </a:xfrm>
          <a:prstGeom prst="rect">
            <a:avLst/>
          </a:prstGeom>
          <a:solidFill>
            <a:srgbClr val="56B4E9"/>
          </a:solidFill>
          <a:ln w="12700">
            <a:solidFill>
              <a:srgbClr val="56B4E9"/>
            </a:solidFill>
            <a:prstDash val="solid"/>
          </a:ln>
        </p:spPr>
      </p:sp>
      <p:sp>
        <p:nvSpPr>
          <p:cNvPr id="27" name="Badge 6"/>
          <p:cNvSpPr/>
          <p:nvPr/>
        </p:nvSpPr>
        <p:spPr>
          <a:xfrm>
            <a:off x="10725912" y="1536192"/>
            <a:ext cx="292608" cy="292608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Path A: data to NWB"/>
          <p:cNvSpPr/>
          <p:nvPr/>
        </p:nvSpPr>
        <p:spPr>
          <a:xfrm flipV="1">
            <a:off x="3314700" y="4105656"/>
            <a:ext cx="0" cy="2816352"/>
          </a:xfrm>
          <a:prstGeom prst="line">
            <a:avLst/>
          </a:prstGeom>
          <a:noFill/>
          <a:ln w="28575">
            <a:solidFill>
              <a:srgbClr val="D55E00"/>
            </a:solidFill>
            <a:prstDash val="solid"/>
            <a:tailEnd type="triangle"/>
          </a:ln>
        </p:spPr>
      </p:sp>
      <p:sp>
        <p:nvSpPr>
          <p:cNvPr id="29" name="Path A: NWB to EMBER"/>
          <p:cNvSpPr/>
          <p:nvPr/>
        </p:nvSpPr>
        <p:spPr>
          <a:xfrm flipV="1">
            <a:off x="3314700" y="1124712"/>
            <a:ext cx="0" cy="2450592"/>
          </a:xfrm>
          <a:prstGeom prst="line">
            <a:avLst/>
          </a:prstGeom>
          <a:noFill/>
          <a:ln w="28575">
            <a:solidFill>
              <a:srgbClr val="D55E00"/>
            </a:solidFill>
            <a:prstDash val="solid"/>
            <a:tailEnd type="triangle"/>
          </a:ln>
        </p:spPr>
      </p:sp>
      <p:sp>
        <p:nvSpPr>
          <p:cNvPr id="30" name="Path B"/>
          <p:cNvSpPr/>
          <p:nvPr/>
        </p:nvSpPr>
        <p:spPr>
          <a:xfrm flipV="1">
            <a:off x="5897880" y="1124712"/>
            <a:ext cx="0" cy="5669280"/>
          </a:xfrm>
          <a:prstGeom prst="line">
            <a:avLst/>
          </a:prstGeom>
          <a:noFill/>
          <a:ln w="28575">
            <a:solidFill>
              <a:srgbClr val="009E73"/>
            </a:solidFill>
            <a:prstDash val="solid"/>
            <a:tailEnd type="triangle"/>
          </a:ln>
        </p:spPr>
      </p:sp>
      <p:sp>
        <p:nvSpPr>
          <p:cNvPr id="31" name="Path C"/>
          <p:cNvSpPr/>
          <p:nvPr/>
        </p:nvSpPr>
        <p:spPr>
          <a:xfrm flipV="1">
            <a:off x="7795260" y="1124712"/>
            <a:ext cx="0" cy="5541264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32" name="NWB in BIDS"/>
          <p:cNvSpPr/>
          <p:nvPr/>
        </p:nvSpPr>
        <p:spPr>
          <a:xfrm>
            <a:off x="4572000" y="3840480"/>
            <a:ext cx="1325880" cy="0"/>
          </a:xfrm>
          <a:prstGeom prst="line">
            <a:avLst/>
          </a:prstGeom>
          <a:noFill/>
          <a:ln w="28575">
            <a:solidFill>
              <a:srgbClr val="009E73"/>
            </a:solidFill>
            <a:prstDash val="solid"/>
            <a:tailEnd type="triangle"/>
          </a:ln>
        </p:spPr>
      </p:sp>
      <p:sp>
        <p:nvSpPr>
          <p:cNvPr id="33" name="EMBER"/>
          <p:cNvSpPr/>
          <p:nvPr/>
        </p:nvSpPr>
        <p:spPr>
          <a:xfrm>
            <a:off x="2057400" y="704088"/>
            <a:ext cx="974750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0072B2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accepts NWB, DANDI-layout, BIDS, and Psych-DS datasets, with privacy levels for identifiable human data</a:t>
            </a:r>
            <a:endParaRPr lang="en-US" sz="1000" dirty="0"/>
          </a:p>
        </p:txBody>
      </p:sp>
      <p:sp>
        <p:nvSpPr>
          <p:cNvPr id="34" name="HDF5 Zarr"/>
          <p:cNvSpPr/>
          <p:nvPr/>
        </p:nvSpPr>
        <p:spPr>
          <a:xfrm>
            <a:off x="2711196" y="5705856"/>
            <a:ext cx="120700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HDF5 · Zarr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 files</a:t>
            </a:r>
            <a:endParaRPr lang="en-US" sz="1000" dirty="0"/>
          </a:p>
        </p:txBody>
      </p:sp>
      <p:sp>
        <p:nvSpPr>
          <p:cNvPr id="35" name="Video formats"/>
          <p:cNvSpPr/>
          <p:nvPr/>
        </p:nvSpPr>
        <p:spPr>
          <a:xfrm>
            <a:off x="2711196" y="6126480"/>
            <a:ext cx="120700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MP4 · AVI · MOV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video, linked</a:t>
            </a:r>
            <a:endParaRPr lang="en-US" sz="1000" dirty="0"/>
          </a:p>
        </p:txBody>
      </p:sp>
      <p:sp>
        <p:nvSpPr>
          <p:cNvPr id="36" name="NIfTI"/>
          <p:cNvSpPr/>
          <p:nvPr/>
        </p:nvSpPr>
        <p:spPr>
          <a:xfrm>
            <a:off x="4663440" y="5705856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NIfTI · OME-Zarr</a:t>
            </a:r>
            <a:endParaRPr lang="en-US" sz="10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MRI, PET, microscopy</a:t>
            </a:r>
            <a:endParaRPr lang="en-US" sz="1000" dirty="0"/>
          </a:p>
        </p:txBody>
      </p:sp>
      <p:sp>
        <p:nvSpPr>
          <p:cNvPr id="37" name="EDF"/>
          <p:cNvSpPr/>
          <p:nvPr/>
        </p:nvSpPr>
        <p:spPr>
          <a:xfrm>
            <a:off x="5989320" y="5705856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EDF · BrainVision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EEG, iEEG</a:t>
            </a:r>
            <a:endParaRPr lang="en-US" sz="1000" dirty="0"/>
          </a:p>
        </p:txBody>
      </p:sp>
      <p:sp>
        <p:nvSpPr>
          <p:cNvPr id="38" name="JSON TSV"/>
          <p:cNvSpPr/>
          <p:nvPr/>
        </p:nvSpPr>
        <p:spPr>
          <a:xfrm>
            <a:off x="4663440" y="612648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· TSV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metadata, tables</a:t>
            </a:r>
            <a:endParaRPr lang="en-US" sz="1000" dirty="0"/>
          </a:p>
        </p:txBody>
      </p:sp>
      <p:sp>
        <p:nvSpPr>
          <p:cNvPr id="39" name="BIDS media"/>
          <p:cNvSpPr/>
          <p:nvPr/>
        </p:nvSpPr>
        <p:spPr>
          <a:xfrm>
            <a:off x="5989320" y="612648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 · MP4 · PNG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PR #2367</a:t>
            </a:r>
            <a:endParaRPr lang="en-US" sz="1000" dirty="0"/>
          </a:p>
        </p:txBody>
      </p:sp>
      <p:sp>
        <p:nvSpPr>
          <p:cNvPr id="40" name="CSV JSON"/>
          <p:cNvSpPr/>
          <p:nvPr/>
        </p:nvSpPr>
        <p:spPr>
          <a:xfrm>
            <a:off x="7223760" y="5916168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44546A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· JSON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tables, metadata</a:t>
            </a:r>
            <a:endParaRPr lang="en-US" sz="1000" dirty="0"/>
          </a:p>
        </p:txBody>
      </p:sp>
      <p:sp>
        <p:nvSpPr>
          <p:cNvPr id="41" name="NWB"/>
          <p:cNvSpPr/>
          <p:nvPr/>
        </p:nvSpPr>
        <p:spPr>
          <a:xfrm>
            <a:off x="2057400" y="3575304"/>
            <a:ext cx="25146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Ephys · ophys · stimulation · behavior · video links · events</a:t>
            </a:r>
            <a:endParaRPr lang="en-US" sz="1000" dirty="0"/>
          </a:p>
        </p:txBody>
      </p:sp>
      <p:sp>
        <p:nvSpPr>
          <p:cNvPr id="42" name="NWB extension: Pose estimation"/>
          <p:cNvSpPr/>
          <p:nvPr/>
        </p:nvSpPr>
        <p:spPr>
          <a:xfrm>
            <a:off x="2057400" y="419709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estimation</a:t>
            </a:r>
            <a:endParaRPr lang="en-US" sz="1000" dirty="0"/>
          </a:p>
        </p:txBody>
      </p:sp>
      <p:sp>
        <p:nvSpPr>
          <p:cNvPr id="43" name="NWB extension: Fiber photometry"/>
          <p:cNvSpPr/>
          <p:nvPr/>
        </p:nvSpPr>
        <p:spPr>
          <a:xfrm>
            <a:off x="3424428" y="419709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Fiber photometry</a:t>
            </a:r>
            <a:endParaRPr lang="en-US" sz="1000" dirty="0"/>
          </a:p>
        </p:txBody>
      </p:sp>
      <p:sp>
        <p:nvSpPr>
          <p:cNvPr id="44" name="NWB extension: Structured behavior"/>
          <p:cNvSpPr/>
          <p:nvPr/>
        </p:nvSpPr>
        <p:spPr>
          <a:xfrm>
            <a:off x="2057400" y="451713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behavior</a:t>
            </a:r>
            <a:endParaRPr lang="en-US" sz="1000" dirty="0"/>
          </a:p>
        </p:txBody>
      </p:sp>
      <p:sp>
        <p:nvSpPr>
          <p:cNvPr id="45" name="NWB extension: Wearable devices"/>
          <p:cNvSpPr/>
          <p:nvPr/>
        </p:nvSpPr>
        <p:spPr>
          <a:xfrm>
            <a:off x="3424428" y="451713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 devices</a:t>
            </a:r>
            <a:endParaRPr lang="en-US" sz="1000" dirty="0"/>
          </a:p>
        </p:txBody>
      </p:sp>
      <p:sp>
        <p:nvSpPr>
          <p:cNvPr id="46" name="NWB extension: Microscopy"/>
          <p:cNvSpPr/>
          <p:nvPr/>
        </p:nvSpPr>
        <p:spPr>
          <a:xfrm>
            <a:off x="2057400" y="483717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Microscopy</a:t>
            </a:r>
            <a:endParaRPr lang="en-US" sz="1000" dirty="0"/>
          </a:p>
        </p:txBody>
      </p:sp>
      <p:sp>
        <p:nvSpPr>
          <p:cNvPr id="47" name="NWB extension: Multi-subject"/>
          <p:cNvSpPr/>
          <p:nvPr/>
        </p:nvSpPr>
        <p:spPr>
          <a:xfrm>
            <a:off x="3424428" y="483717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</a:t>
            </a:r>
            <a:endParaRPr lang="en-US" sz="1000" dirty="0"/>
          </a:p>
        </p:txBody>
      </p:sp>
      <p:sp>
        <p:nvSpPr>
          <p:cNvPr id="48" name="NWB extension: HED annotation"/>
          <p:cNvSpPr/>
          <p:nvPr/>
        </p:nvSpPr>
        <p:spPr>
          <a:xfrm>
            <a:off x="2057400" y="515721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 annotation</a:t>
            </a:r>
            <a:endParaRPr lang="en-US" sz="1000" dirty="0"/>
          </a:p>
        </p:txBody>
      </p:sp>
      <p:sp>
        <p:nvSpPr>
          <p:cNvPr id="49" name="NWB extension: Ethogram"/>
          <p:cNvSpPr/>
          <p:nvPr/>
        </p:nvSpPr>
        <p:spPr>
          <a:xfrm>
            <a:off x="3424428" y="515721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Ethogram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4645152" y="3867912"/>
            <a:ext cx="1197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09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can contain NWB files (BEP032)</a:t>
            </a:r>
            <a:endParaRPr lang="en-US" sz="950" dirty="0"/>
          </a:p>
        </p:txBody>
      </p:sp>
      <p:sp>
        <p:nvSpPr>
          <p:cNvPr id="51" name="DANDI layout"/>
          <p:cNvSpPr/>
          <p:nvPr/>
        </p:nvSpPr>
        <p:spPr>
          <a:xfrm>
            <a:off x="2057400" y="1517904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DANDI layout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NWB file per subject and session</a:t>
            </a:r>
            <a:endParaRPr lang="en-US" sz="1000" dirty="0"/>
          </a:p>
        </p:txBody>
      </p:sp>
      <p:sp>
        <p:nvSpPr>
          <p:cNvPr id="52" name="BIDS"/>
          <p:cNvSpPr/>
          <p:nvPr/>
        </p:nvSpPr>
        <p:spPr>
          <a:xfrm>
            <a:off x="4663440" y="1517904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PET · EEG / MEG / iEEG · microscopy · motion · physiology · behavior and task events · stimuli</a:t>
            </a:r>
            <a:endParaRPr lang="en-US" sz="1000" dirty="0"/>
          </a:p>
        </p:txBody>
      </p:sp>
      <p:sp>
        <p:nvSpPr>
          <p:cNvPr id="53" name="BIDS BEP032"/>
          <p:cNvSpPr/>
          <p:nvPr/>
        </p:nvSpPr>
        <p:spPr>
          <a:xfrm>
            <a:off x="4663440" y="2340864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BEP032</a:t>
            </a:r>
            <a:endParaRPr lang="en-US" sz="10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microelectrode ephys</a:t>
            </a:r>
            <a:endParaRPr lang="en-US" sz="1000" dirty="0"/>
          </a:p>
        </p:txBody>
      </p:sp>
      <p:sp>
        <p:nvSpPr>
          <p:cNvPr id="54" name="BIDS BEP047"/>
          <p:cNvSpPr/>
          <p:nvPr/>
        </p:nvSpPr>
        <p:spPr>
          <a:xfrm>
            <a:off x="6007608" y="2340864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BEP047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recordings</a:t>
            </a:r>
            <a:endParaRPr lang="en-US" sz="1000" dirty="0"/>
          </a:p>
        </p:txBody>
      </p:sp>
      <p:sp>
        <p:nvSpPr>
          <p:cNvPr id="55" name="BIDS BEP020 · BEP042"/>
          <p:cNvSpPr/>
          <p:nvPr/>
        </p:nvSpPr>
        <p:spPr>
          <a:xfrm>
            <a:off x="4663440" y="2743200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BEP020 · BEP042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 tracking · EMG</a:t>
            </a:r>
            <a:endParaRPr lang="en-US" sz="1000" dirty="0"/>
          </a:p>
        </p:txBody>
      </p:sp>
      <p:sp>
        <p:nvSpPr>
          <p:cNvPr id="56" name="BIDS Multi-subject BEP"/>
          <p:cNvSpPr/>
          <p:nvPr/>
        </p:nvSpPr>
        <p:spPr>
          <a:xfrm>
            <a:off x="6007608" y="2743200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 BEP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1000" dirty="0"/>
          </a:p>
        </p:txBody>
      </p:sp>
      <p:sp>
        <p:nvSpPr>
          <p:cNvPr id="57" name="Psych-DS"/>
          <p:cNvSpPr/>
          <p:nvPr/>
        </p:nvSpPr>
        <p:spPr>
          <a:xfrm>
            <a:off x="7223760" y="1517904"/>
            <a:ext cx="11430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44546A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Psych-DS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variable defined in JSON</a:t>
            </a:r>
            <a:endParaRPr lang="en-US" sz="1000" dirty="0"/>
          </a:p>
        </p:txBody>
      </p:sp>
      <p:sp>
        <p:nvSpPr>
          <p:cNvPr id="58" name="Companion proposals (horizontal)"/>
          <p:cNvSpPr/>
          <p:nvPr/>
        </p:nvSpPr>
        <p:spPr>
          <a:xfrm>
            <a:off x="4572000" y="4965192"/>
            <a:ext cx="1997964" cy="0"/>
          </a:xfrm>
          <a:prstGeom prst="line">
            <a:avLst/>
          </a:prstGeom>
          <a:noFill/>
          <a:ln w="12700">
            <a:solidFill>
              <a:srgbClr val="009E73"/>
            </a:solidFill>
            <a:prstDash val="dash"/>
          </a:ln>
        </p:spPr>
      </p:sp>
      <p:sp>
        <p:nvSpPr>
          <p:cNvPr id="59" name="Companion proposals (vertical)"/>
          <p:cNvSpPr/>
          <p:nvPr/>
        </p:nvSpPr>
        <p:spPr>
          <a:xfrm>
            <a:off x="6569964" y="3090672"/>
            <a:ext cx="0" cy="1874520"/>
          </a:xfrm>
          <a:prstGeom prst="line">
            <a:avLst/>
          </a:prstGeom>
          <a:noFill/>
          <a:ln w="12700">
            <a:solidFill>
              <a:srgbClr val="009E73"/>
            </a:solidFill>
            <a:prstDash val="dash"/>
          </a:ln>
        </p:spPr>
      </p:sp>
      <p:sp>
        <p:nvSpPr>
          <p:cNvPr id="60" name="Text 58"/>
          <p:cNvSpPr txBox="1"/>
          <p:nvPr/>
        </p:nvSpPr>
        <p:spPr>
          <a:xfrm>
            <a:off x="4626864" y="500176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09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companion proposals</a:t>
            </a:r>
            <a:endParaRPr lang="en-US" sz="950" dirty="0"/>
          </a:p>
        </p:txBody>
      </p:sp>
      <p:sp>
        <p:nvSpPr>
          <p:cNvPr id="61" name="HED"/>
          <p:cNvSpPr/>
          <p:nvPr/>
        </p:nvSpPr>
        <p:spPr>
          <a:xfrm>
            <a:off x="8595360" y="228600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annotates events in BIDS, NWB</a:t>
            </a:r>
            <a:endParaRPr lang="en-US" sz="1000" dirty="0"/>
          </a:p>
        </p:txBody>
      </p:sp>
      <p:sp>
        <p:nvSpPr>
          <p:cNvPr id="62" name="Neuro Termsets"/>
          <p:cNvSpPr/>
          <p:nvPr/>
        </p:nvSpPr>
        <p:spPr>
          <a:xfrm>
            <a:off x="8595360" y="271576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 Termsets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sets for NWB and BIDS</a:t>
            </a:r>
            <a:endParaRPr lang="en-US" sz="1000" dirty="0"/>
          </a:p>
        </p:txBody>
      </p:sp>
      <p:sp>
        <p:nvSpPr>
          <p:cNvPr id="63" name="Terminology: NCBI Taxonomy"/>
          <p:cNvSpPr/>
          <p:nvPr/>
        </p:nvSpPr>
        <p:spPr>
          <a:xfrm>
            <a:off x="8814816" y="3154680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NCBI Taxonomy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</a:t>
            </a:r>
            <a:endParaRPr lang="en-US" sz="1000" dirty="0"/>
          </a:p>
        </p:txBody>
      </p:sp>
      <p:sp>
        <p:nvSpPr>
          <p:cNvPr id="64" name="Neuro Termsets uses NCBI Taxonomy"/>
          <p:cNvSpPr/>
          <p:nvPr/>
        </p:nvSpPr>
        <p:spPr>
          <a:xfrm>
            <a:off x="8695944" y="3278124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5" name="Terminology: UBERON"/>
          <p:cNvSpPr/>
          <p:nvPr/>
        </p:nvSpPr>
        <p:spPr>
          <a:xfrm>
            <a:off x="8814816" y="3447288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UBERON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</a:t>
            </a:r>
            <a:endParaRPr lang="en-US" sz="1000" dirty="0"/>
          </a:p>
        </p:txBody>
      </p:sp>
      <p:sp>
        <p:nvSpPr>
          <p:cNvPr id="66" name="Neuro Termsets uses UBERON"/>
          <p:cNvSpPr/>
          <p:nvPr/>
        </p:nvSpPr>
        <p:spPr>
          <a:xfrm>
            <a:off x="8695944" y="3570732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7" name="Terminology: Allen atlases"/>
          <p:cNvSpPr/>
          <p:nvPr/>
        </p:nvSpPr>
        <p:spPr>
          <a:xfrm>
            <a:off x="8814816" y="3739896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Allen atlases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regions</a:t>
            </a:r>
            <a:endParaRPr lang="en-US" sz="1000" dirty="0"/>
          </a:p>
        </p:txBody>
      </p:sp>
      <p:sp>
        <p:nvSpPr>
          <p:cNvPr id="68" name="Neuro Termsets uses Allen atlases"/>
          <p:cNvSpPr/>
          <p:nvPr/>
        </p:nvSpPr>
        <p:spPr>
          <a:xfrm>
            <a:off x="8695944" y="3863340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9" name="Terminology: RRID"/>
          <p:cNvSpPr/>
          <p:nvPr/>
        </p:nvSpPr>
        <p:spPr>
          <a:xfrm>
            <a:off x="8814816" y="4032504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RRID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strains</a:t>
            </a:r>
            <a:endParaRPr lang="en-US" sz="1000" dirty="0"/>
          </a:p>
        </p:txBody>
      </p:sp>
      <p:sp>
        <p:nvSpPr>
          <p:cNvPr id="70" name="Neuro Termsets uses RRID"/>
          <p:cNvSpPr/>
          <p:nvPr/>
        </p:nvSpPr>
        <p:spPr>
          <a:xfrm>
            <a:off x="8695944" y="4155948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71" name="Terminology: ORCID · ROR"/>
          <p:cNvSpPr/>
          <p:nvPr/>
        </p:nvSpPr>
        <p:spPr>
          <a:xfrm>
            <a:off x="8814816" y="4325112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ORCID · ROR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labs</a:t>
            </a:r>
            <a:endParaRPr lang="en-US" sz="1000" dirty="0"/>
          </a:p>
        </p:txBody>
      </p:sp>
      <p:sp>
        <p:nvSpPr>
          <p:cNvPr id="72" name="Neuro Termsets uses ORCID · ROR"/>
          <p:cNvSpPr/>
          <p:nvPr/>
        </p:nvSpPr>
        <p:spPr>
          <a:xfrm>
            <a:off x="8695944" y="4448556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73" name="Terminology: Cell Ontology"/>
          <p:cNvSpPr/>
          <p:nvPr/>
        </p:nvSpPr>
        <p:spPr>
          <a:xfrm>
            <a:off x="8814816" y="4617720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Ontology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types</a:t>
            </a:r>
            <a:endParaRPr lang="en-US" sz="1000" dirty="0"/>
          </a:p>
        </p:txBody>
      </p:sp>
      <p:sp>
        <p:nvSpPr>
          <p:cNvPr id="74" name="Neuro Termsets references"/>
          <p:cNvSpPr/>
          <p:nvPr/>
        </p:nvSpPr>
        <p:spPr>
          <a:xfrm>
            <a:off x="8695944" y="3081528"/>
            <a:ext cx="0" cy="1367028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</a:ln>
        </p:spPr>
      </p:sp>
      <p:sp>
        <p:nvSpPr>
          <p:cNvPr id="75" name="Behavior labels"/>
          <p:cNvSpPr/>
          <p:nvPr/>
        </p:nvSpPr>
        <p:spPr>
          <a:xfrm>
            <a:off x="8595360" y="495604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labels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shared vocabulary in use</a:t>
            </a:r>
            <a:endParaRPr lang="en-US" sz="1000" dirty="0"/>
          </a:p>
        </p:txBody>
      </p:sp>
      <p:sp>
        <p:nvSpPr>
          <p:cNvPr id="76" name="HDMF"/>
          <p:cNvSpPr/>
          <p:nvPr/>
        </p:nvSpPr>
        <p:spPr>
          <a:xfrm>
            <a:off x="10698480" y="2286000"/>
            <a:ext cx="1124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HDMF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NWB</a:t>
            </a:r>
            <a:endParaRPr lang="en-US" sz="1000" dirty="0"/>
          </a:p>
        </p:txBody>
      </p:sp>
      <p:sp>
        <p:nvSpPr>
          <p:cNvPr id="77" name="BIDS schema"/>
          <p:cNvSpPr/>
          <p:nvPr/>
        </p:nvSpPr>
        <p:spPr>
          <a:xfrm>
            <a:off x="10698480" y="2834640"/>
            <a:ext cx="1124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schema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BIDS</a:t>
            </a:r>
            <a:endParaRPr lang="en-US" sz="1000" dirty="0"/>
          </a:p>
        </p:txBody>
      </p:sp>
      <p:sp>
        <p:nvSpPr>
          <p:cNvPr id="78" name="LinkML"/>
          <p:cNvSpPr/>
          <p:nvPr/>
        </p:nvSpPr>
        <p:spPr>
          <a:xfrm>
            <a:off x="10698480" y="3383280"/>
            <a:ext cx="112471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LinkML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Psych-DS and Neuro Termsets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320040" y="694944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BBQS data types:</a:t>
            </a:r>
            <a:endParaRPr lang="en-US" sz="1150" dirty="0"/>
          </a:p>
        </p:txBody>
      </p:sp>
      <p:sp>
        <p:nvSpPr>
          <p:cNvPr id="80" name="Data: Electro- and optical physiology · stimulation"/>
          <p:cNvSpPr/>
          <p:nvPr/>
        </p:nvSpPr>
        <p:spPr>
          <a:xfrm>
            <a:off x="2057400" y="7040880"/>
            <a:ext cx="118872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Electro- and optical physiology · stimulation</a:t>
            </a:r>
            <a:endParaRPr lang="en-US" sz="1000" dirty="0"/>
          </a:p>
        </p:txBody>
      </p:sp>
      <p:sp>
        <p:nvSpPr>
          <p:cNvPr id="81" name="Data: Video · audio · pose · eye tracking · task events"/>
          <p:cNvSpPr/>
          <p:nvPr/>
        </p:nvSpPr>
        <p:spPr>
          <a:xfrm>
            <a:off x="3300984" y="7040880"/>
            <a:ext cx="132588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audio · pose · eye tracking · task events</a:t>
            </a:r>
            <a:endParaRPr lang="en-US" sz="1000" dirty="0"/>
          </a:p>
        </p:txBody>
      </p:sp>
      <p:sp>
        <p:nvSpPr>
          <p:cNvPr id="82" name="Data: EEG · MEG · iEEG"/>
          <p:cNvSpPr/>
          <p:nvPr/>
        </p:nvSpPr>
        <p:spPr>
          <a:xfrm>
            <a:off x="4681728" y="7040880"/>
            <a:ext cx="86868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EEG · MEG · iEEG</a:t>
            </a:r>
            <a:endParaRPr lang="en-US" sz="1000" dirty="0"/>
          </a:p>
        </p:txBody>
      </p:sp>
      <p:sp>
        <p:nvSpPr>
          <p:cNvPr id="83" name="Data: MRI · fMRI · PET"/>
          <p:cNvSpPr/>
          <p:nvPr/>
        </p:nvSpPr>
        <p:spPr>
          <a:xfrm>
            <a:off x="5605272" y="7040880"/>
            <a:ext cx="82296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fMRI · PET</a:t>
            </a:r>
            <a:endParaRPr lang="en-US" sz="1000" dirty="0"/>
          </a:p>
        </p:txBody>
      </p:sp>
      <p:sp>
        <p:nvSpPr>
          <p:cNvPr id="84" name="Data: Wearables"/>
          <p:cNvSpPr/>
          <p:nvPr/>
        </p:nvSpPr>
        <p:spPr>
          <a:xfrm>
            <a:off x="6483096" y="7040880"/>
            <a:ext cx="77724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Wearables</a:t>
            </a:r>
            <a:endParaRPr lang="en-US" sz="1000" dirty="0"/>
          </a:p>
        </p:txBody>
      </p:sp>
      <p:sp>
        <p:nvSpPr>
          <p:cNvPr id="85" name="Data: Questionnaires surveys"/>
          <p:cNvSpPr/>
          <p:nvPr/>
        </p:nvSpPr>
        <p:spPr>
          <a:xfrm>
            <a:off x="7315200" y="7040880"/>
            <a:ext cx="105156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Questionnaires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surveys</a:t>
            </a:r>
            <a:endParaRPr lang="en-US" sz="1000" dirty="0"/>
          </a:p>
        </p:txBody>
      </p:sp>
      <p:sp>
        <p:nvSpPr>
          <p:cNvPr id="86" name="Bus A"/>
          <p:cNvSpPr/>
          <p:nvPr/>
        </p:nvSpPr>
        <p:spPr>
          <a:xfrm>
            <a:off x="2651760" y="6922008"/>
            <a:ext cx="4025646" cy="0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87" name="Bus B"/>
          <p:cNvSpPr/>
          <p:nvPr/>
        </p:nvSpPr>
        <p:spPr>
          <a:xfrm>
            <a:off x="4184904" y="6793992"/>
            <a:ext cx="3480816" cy="0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88" name="Bus C"/>
          <p:cNvSpPr/>
          <p:nvPr/>
        </p:nvSpPr>
        <p:spPr>
          <a:xfrm>
            <a:off x="7066026" y="6665976"/>
            <a:ext cx="950214" cy="0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89" name="Feed A"/>
          <p:cNvSpPr/>
          <p:nvPr/>
        </p:nvSpPr>
        <p:spPr>
          <a:xfrm>
            <a:off x="2651760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90" name="Join A"/>
          <p:cNvSpPr/>
          <p:nvPr/>
        </p:nvSpPr>
        <p:spPr>
          <a:xfrm>
            <a:off x="2615184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91" name="Feed A"/>
          <p:cNvSpPr/>
          <p:nvPr/>
        </p:nvSpPr>
        <p:spPr>
          <a:xfrm>
            <a:off x="3742944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92" name="Join A"/>
          <p:cNvSpPr/>
          <p:nvPr/>
        </p:nvSpPr>
        <p:spPr>
          <a:xfrm>
            <a:off x="3706368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93" name="Feed B"/>
          <p:cNvSpPr/>
          <p:nvPr/>
        </p:nvSpPr>
        <p:spPr>
          <a:xfrm>
            <a:off x="4184904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94" name="Join B"/>
          <p:cNvSpPr/>
          <p:nvPr/>
        </p:nvSpPr>
        <p:spPr>
          <a:xfrm>
            <a:off x="4148328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95" name="Feed A"/>
          <p:cNvSpPr/>
          <p:nvPr/>
        </p:nvSpPr>
        <p:spPr>
          <a:xfrm>
            <a:off x="4971288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96" name="Join A"/>
          <p:cNvSpPr/>
          <p:nvPr/>
        </p:nvSpPr>
        <p:spPr>
          <a:xfrm>
            <a:off x="4934712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97" name="Feed B"/>
          <p:cNvSpPr/>
          <p:nvPr/>
        </p:nvSpPr>
        <p:spPr>
          <a:xfrm>
            <a:off x="5260848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98" name="Join B"/>
          <p:cNvSpPr/>
          <p:nvPr/>
        </p:nvSpPr>
        <p:spPr>
          <a:xfrm>
            <a:off x="5224272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99" name="Feed B"/>
          <p:cNvSpPr/>
          <p:nvPr/>
        </p:nvSpPr>
        <p:spPr>
          <a:xfrm>
            <a:off x="6016752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100" name="Join B"/>
          <p:cNvSpPr/>
          <p:nvPr/>
        </p:nvSpPr>
        <p:spPr>
          <a:xfrm>
            <a:off x="5980176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101" name="Feed A"/>
          <p:cNvSpPr/>
          <p:nvPr/>
        </p:nvSpPr>
        <p:spPr>
          <a:xfrm>
            <a:off x="6677406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102" name="Join A"/>
          <p:cNvSpPr/>
          <p:nvPr/>
        </p:nvSpPr>
        <p:spPr>
          <a:xfrm>
            <a:off x="6640830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103" name="Feed B"/>
          <p:cNvSpPr/>
          <p:nvPr/>
        </p:nvSpPr>
        <p:spPr>
          <a:xfrm>
            <a:off x="6871716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104" name="Join B"/>
          <p:cNvSpPr/>
          <p:nvPr/>
        </p:nvSpPr>
        <p:spPr>
          <a:xfrm>
            <a:off x="6835140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105" name="Feed C"/>
          <p:cNvSpPr/>
          <p:nvPr/>
        </p:nvSpPr>
        <p:spPr>
          <a:xfrm>
            <a:off x="7066026" y="6665976"/>
            <a:ext cx="0" cy="374904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06" name="Join C"/>
          <p:cNvSpPr/>
          <p:nvPr/>
        </p:nvSpPr>
        <p:spPr>
          <a:xfrm>
            <a:off x="7029450" y="6629400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07" name="Feed B"/>
          <p:cNvSpPr/>
          <p:nvPr/>
        </p:nvSpPr>
        <p:spPr>
          <a:xfrm>
            <a:off x="7665720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108" name="Join B"/>
          <p:cNvSpPr/>
          <p:nvPr/>
        </p:nvSpPr>
        <p:spPr>
          <a:xfrm>
            <a:off x="7629144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109" name="Feed C"/>
          <p:cNvSpPr/>
          <p:nvPr/>
        </p:nvSpPr>
        <p:spPr>
          <a:xfrm>
            <a:off x="8016240" y="6665976"/>
            <a:ext cx="0" cy="374904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10" name="Join C"/>
          <p:cNvSpPr/>
          <p:nvPr/>
        </p:nvSpPr>
        <p:spPr>
          <a:xfrm>
            <a:off x="7979664" y="6629400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11" name="Data without a standard"/>
          <p:cNvSpPr/>
          <p:nvPr/>
        </p:nvSpPr>
        <p:spPr>
          <a:xfrm>
            <a:off x="8503920" y="7040880"/>
            <a:ext cx="3300984" cy="713232"/>
          </a:xfrm>
          <a:prstGeom prst="rect">
            <a:avLst>
              <a:gd name="adj" fmla="val 7692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  <p:txBody>
          <a:bodyPr wrap="square" lIns="63500" tIns="12700" rIns="635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 yet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interactions · feeding · facial expressions · home-cage monitoring · VR · force plates · EMG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5 — The BBQS standards stack</dc:title>
  <dc:subject>PptxGenJS Presentation</dc:subject>
  <dc:creator>PptxGenJS</dc:creator>
  <cp:lastModifiedBy>PptxGenJS</cp:lastModifiedBy>
  <cp:revision>1</cp:revision>
  <dcterms:created xsi:type="dcterms:W3CDTF">2026-10-18T08:09:59Z</dcterms:created>
  <dcterms:modified xsi:type="dcterms:W3CDTF">2026-10-18T08:09:59Z</dcterms:modified>
</cp:coreProperties>
</file>