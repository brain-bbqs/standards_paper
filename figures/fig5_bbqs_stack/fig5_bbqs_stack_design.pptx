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7543800"/>
  <p:notesSz cx="75438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Fig. 5 design draft v3 (spec: draft/12_figures_tables.md). Sources: Table 3, BBQS standards guideline, Standards4BBQS forum slides (Oct 2026).
Stack: rows 1 data formats, 2 file organization, 3 dataset organization, 5 data archives. Ontologies &amp; terminologies (4) and schema languages (6) are side panels next to rows 2-3, which they both serve.
Columns: NWB, BIDS, Psych-DS. Formats are listed with what they hold; extensions and proposals with what they are for.
Status: solid = recommended for BBQS today; dashed = extension or proposal in progress; grey dashed = needs a standard.
BBQS data: each data type appears once; thin lines join it to every standard it can use (Table 3), and the thick paths lead from each standard to EMBER. Data without a standard (Table 3 gap row) have no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gend ok"/>
          <p:cNvSpPr/>
          <p:nvPr/>
        </p:nvSpPr>
        <p:spPr>
          <a:xfrm>
            <a:off x="2057400" y="109728"/>
            <a:ext cx="420624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8A96A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9464" y="1097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for BBQS</a:t>
            </a:r>
            <a:endParaRPr lang="en-US" sz="1050" dirty="0"/>
          </a:p>
        </p:txBody>
      </p:sp>
      <p:sp>
        <p:nvSpPr>
          <p:cNvPr id="4" name="Legend wip"/>
          <p:cNvSpPr/>
          <p:nvPr/>
        </p:nvSpPr>
        <p:spPr>
          <a:xfrm>
            <a:off x="4352544" y="109728"/>
            <a:ext cx="420624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8A96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4864608" y="10972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 (extension or proposal)</a:t>
            </a:r>
            <a:endParaRPr lang="en-US" sz="1050" dirty="0"/>
          </a:p>
        </p:txBody>
      </p:sp>
      <p:sp>
        <p:nvSpPr>
          <p:cNvPr id="6" name="Legend gap"/>
          <p:cNvSpPr/>
          <p:nvPr/>
        </p:nvSpPr>
        <p:spPr>
          <a:xfrm>
            <a:off x="7424928" y="109728"/>
            <a:ext cx="420624" cy="256032"/>
          </a:xfrm>
          <a:prstGeom prst="roundRect">
            <a:avLst>
              <a:gd name="adj" fmla="val 21429"/>
            </a:avLst>
          </a:prstGeom>
          <a:solidFill>
            <a:srgbClr val="8A96A3">
              <a:alpha val="20000"/>
            </a:srgbClr>
          </a:solidFill>
          <a:ln w="15875">
            <a:solidFill>
              <a:srgbClr val="8A96A3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936992" y="10972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a standard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9308592" y="237744"/>
            <a:ext cx="457200" cy="0"/>
          </a:xfrm>
          <a:prstGeom prst="line">
            <a:avLst/>
          </a:prstGeom>
          <a:noFill/>
          <a:ln w="28575">
            <a:solidFill>
              <a:srgbClr val="44546A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9857232" y="10972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to the archive</a:t>
            </a:r>
            <a:endParaRPr lang="en-US" sz="1050" dirty="0"/>
          </a:p>
        </p:txBody>
      </p:sp>
      <p:sp>
        <p:nvSpPr>
          <p:cNvPr id="10" name="Layer 5: Data archives"/>
          <p:cNvSpPr/>
          <p:nvPr/>
        </p:nvSpPr>
        <p:spPr>
          <a:xfrm>
            <a:off x="274320" y="484632"/>
            <a:ext cx="11640312" cy="768096"/>
          </a:xfrm>
          <a:prstGeom prst="rect">
            <a:avLst/>
          </a:prstGeom>
          <a:solidFill>
            <a:srgbClr val="0072B2">
              <a:alpha val="15000"/>
            </a:srgbClr>
          </a:solidFill>
          <a:ln w="12700">
            <a:solidFill>
              <a:srgbClr val="0072B2"/>
            </a:solidFill>
            <a:prstDash val="solid"/>
          </a:ln>
        </p:spPr>
      </p:sp>
      <p:sp>
        <p:nvSpPr>
          <p:cNvPr id="11" name="Layer 5: Data archives tread"/>
          <p:cNvSpPr/>
          <p:nvPr/>
        </p:nvSpPr>
        <p:spPr>
          <a:xfrm>
            <a:off x="274320" y="484632"/>
            <a:ext cx="11640312" cy="73152"/>
          </a:xfrm>
          <a:prstGeom prst="rect">
            <a:avLst/>
          </a:prstGeom>
          <a:solidFill>
            <a:srgbClr val="0072B2"/>
          </a:solidFill>
          <a:ln w="12700">
            <a:solidFill>
              <a:srgbClr val="0072B2"/>
            </a:solidFill>
            <a:prstDash val="solid"/>
          </a:ln>
        </p:spPr>
      </p:sp>
      <p:sp>
        <p:nvSpPr>
          <p:cNvPr id="12" name="Layer 3: Dataset organization standards"/>
          <p:cNvSpPr/>
          <p:nvPr/>
        </p:nvSpPr>
        <p:spPr>
          <a:xfrm>
            <a:off x="274320" y="1344168"/>
            <a:ext cx="8339328" cy="1828800"/>
          </a:xfrm>
          <a:prstGeom prst="rect">
            <a:avLst/>
          </a:prstGeom>
          <a:solidFill>
            <a:srgbClr val="009E73">
              <a:alpha val="15000"/>
            </a:srgbClr>
          </a:solidFill>
          <a:ln w="12700">
            <a:solidFill>
              <a:srgbClr val="009E73"/>
            </a:solidFill>
            <a:prstDash val="solid"/>
          </a:ln>
        </p:spPr>
      </p:sp>
      <p:sp>
        <p:nvSpPr>
          <p:cNvPr id="13" name="Layer 3: Dataset organization standards tread"/>
          <p:cNvSpPr/>
          <p:nvPr/>
        </p:nvSpPr>
        <p:spPr>
          <a:xfrm>
            <a:off x="274320" y="1344168"/>
            <a:ext cx="8339328" cy="73152"/>
          </a:xfrm>
          <a:prstGeom prst="rect">
            <a:avLst/>
          </a:prstGeom>
          <a:solidFill>
            <a:srgbClr val="009E73"/>
          </a:solidFill>
          <a:ln w="12700">
            <a:solidFill>
              <a:srgbClr val="009E73"/>
            </a:solidFill>
            <a:prstDash val="solid"/>
          </a:ln>
        </p:spPr>
      </p:sp>
      <p:sp>
        <p:nvSpPr>
          <p:cNvPr id="14" name="Layer 2: File organization standards"/>
          <p:cNvSpPr/>
          <p:nvPr/>
        </p:nvSpPr>
        <p:spPr>
          <a:xfrm>
            <a:off x="274320" y="3264408"/>
            <a:ext cx="8339328" cy="1883664"/>
          </a:xfrm>
          <a:prstGeom prst="rect">
            <a:avLst/>
          </a:prstGeom>
          <a:solidFill>
            <a:srgbClr val="D55E00">
              <a:alpha val="15000"/>
            </a:srgbClr>
          </a:solidFill>
          <a:ln w="12700">
            <a:solidFill>
              <a:srgbClr val="D55E00"/>
            </a:solidFill>
            <a:prstDash val="solid"/>
          </a:ln>
        </p:spPr>
      </p:sp>
      <p:sp>
        <p:nvSpPr>
          <p:cNvPr id="15" name="Layer 2: File organization standards tread"/>
          <p:cNvSpPr/>
          <p:nvPr/>
        </p:nvSpPr>
        <p:spPr>
          <a:xfrm>
            <a:off x="274320" y="3264408"/>
            <a:ext cx="8339328" cy="73152"/>
          </a:xfrm>
          <a:prstGeom prst="rect">
            <a:avLst/>
          </a:prstGeom>
          <a:solidFill>
            <a:srgbClr val="D55E00"/>
          </a:solidFill>
          <a:ln w="12700">
            <a:solidFill>
              <a:srgbClr val="D55E00"/>
            </a:solidFill>
            <a:prstDash val="solid"/>
          </a:ln>
        </p:spPr>
      </p:sp>
      <p:sp>
        <p:nvSpPr>
          <p:cNvPr id="16" name="Layer 1: Data formats"/>
          <p:cNvSpPr/>
          <p:nvPr/>
        </p:nvSpPr>
        <p:spPr>
          <a:xfrm>
            <a:off x="274320" y="5239512"/>
            <a:ext cx="11640312" cy="969264"/>
          </a:xfrm>
          <a:prstGeom prst="rect">
            <a:avLst/>
          </a:prstGeom>
          <a:solidFill>
            <a:srgbClr val="E69F00">
              <a:alpha val="15000"/>
            </a:srgbClr>
          </a:solidFill>
          <a:ln w="12700">
            <a:solidFill>
              <a:srgbClr val="E69F00"/>
            </a:solidFill>
            <a:prstDash val="solid"/>
          </a:ln>
        </p:spPr>
      </p:sp>
      <p:sp>
        <p:nvSpPr>
          <p:cNvPr id="17" name="Layer 1: Data formats tread"/>
          <p:cNvSpPr/>
          <p:nvPr/>
        </p:nvSpPr>
        <p:spPr>
          <a:xfrm>
            <a:off x="274320" y="5239512"/>
            <a:ext cx="11640312" cy="73152"/>
          </a:xfrm>
          <a:prstGeom prst="rect">
            <a:avLst/>
          </a:prstGeom>
          <a:solidFill>
            <a:srgbClr val="E69F00"/>
          </a:solidFill>
          <a:ln w="12700">
            <a:solidFill>
              <a:srgbClr val="E69F00"/>
            </a:solidFill>
            <a:prstDash val="solid"/>
          </a:ln>
        </p:spPr>
      </p:sp>
      <p:sp>
        <p:nvSpPr>
          <p:cNvPr id="18" name="Badge 1"/>
          <p:cNvSpPr/>
          <p:nvPr/>
        </p:nvSpPr>
        <p:spPr>
          <a:xfrm>
            <a:off x="384048" y="5422392"/>
            <a:ext cx="292608" cy="292608"/>
          </a:xfrm>
          <a:prstGeom prst="ellipse">
            <a:avLst/>
          </a:prstGeom>
          <a:solidFill>
            <a:srgbClr val="E69F0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4048" y="54223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422392"/>
            <a:ext cx="12984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formats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data to storage</a:t>
            </a:r>
            <a:endParaRPr lang="en-US" sz="1150" dirty="0"/>
          </a:p>
        </p:txBody>
      </p:sp>
      <p:sp>
        <p:nvSpPr>
          <p:cNvPr id="21" name="Badge 2"/>
          <p:cNvSpPr/>
          <p:nvPr/>
        </p:nvSpPr>
        <p:spPr>
          <a:xfrm>
            <a:off x="384048" y="3447288"/>
            <a:ext cx="292608" cy="292608"/>
          </a:xfrm>
          <a:prstGeom prst="ellipse">
            <a:avLst/>
          </a:prstGeom>
          <a:solidFill>
            <a:srgbClr val="D55E0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84048" y="3447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3447288"/>
            <a:ext cx="129844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organization standards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 data within a file</a:t>
            </a:r>
            <a:endParaRPr lang="en-US" sz="1150" dirty="0"/>
          </a:p>
        </p:txBody>
      </p:sp>
      <p:sp>
        <p:nvSpPr>
          <p:cNvPr id="24" name="Badge 3"/>
          <p:cNvSpPr/>
          <p:nvPr/>
        </p:nvSpPr>
        <p:spPr>
          <a:xfrm>
            <a:off x="384048" y="1527048"/>
            <a:ext cx="292608" cy="292608"/>
          </a:xfrm>
          <a:prstGeom prst="ellipse">
            <a:avLst/>
          </a:prstGeom>
          <a:solidFill>
            <a:srgbClr val="009E7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84048" y="15270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1527048"/>
            <a:ext cx="1298448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organization standards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 collections of files</a:t>
            </a:r>
            <a:endParaRPr lang="en-US" sz="1150" dirty="0"/>
          </a:p>
        </p:txBody>
      </p:sp>
      <p:sp>
        <p:nvSpPr>
          <p:cNvPr id="27" name="Badge 5"/>
          <p:cNvSpPr/>
          <p:nvPr/>
        </p:nvSpPr>
        <p:spPr>
          <a:xfrm>
            <a:off x="384048" y="667512"/>
            <a:ext cx="292608" cy="292608"/>
          </a:xfrm>
          <a:prstGeom prst="ellipse">
            <a:avLst/>
          </a:prstGeom>
          <a:solidFill>
            <a:srgbClr val="0072B2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84048" y="667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667512"/>
            <a:ext cx="1298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archives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Publish, share, and discover</a:t>
            </a:r>
            <a:endParaRPr lang="en-US" sz="1150" dirty="0"/>
          </a:p>
        </p:txBody>
      </p:sp>
      <p:sp>
        <p:nvSpPr>
          <p:cNvPr id="30" name="Layer 4: Ontologies &amp; terminologies"/>
          <p:cNvSpPr/>
          <p:nvPr/>
        </p:nvSpPr>
        <p:spPr>
          <a:xfrm>
            <a:off x="8732520" y="1344168"/>
            <a:ext cx="1783080" cy="3803904"/>
          </a:xfrm>
          <a:prstGeom prst="rect">
            <a:avLst/>
          </a:prstGeom>
          <a:solidFill>
            <a:srgbClr val="CC79A7">
              <a:alpha val="15000"/>
            </a:srgbClr>
          </a:solidFill>
          <a:ln w="12700">
            <a:solidFill>
              <a:srgbClr val="CC79A7"/>
            </a:solidFill>
            <a:prstDash val="solid"/>
          </a:ln>
        </p:spPr>
      </p:sp>
      <p:sp>
        <p:nvSpPr>
          <p:cNvPr id="31" name="Layer 4: Ontologies &amp; terminologies tread"/>
          <p:cNvSpPr/>
          <p:nvPr/>
        </p:nvSpPr>
        <p:spPr>
          <a:xfrm>
            <a:off x="8732520" y="1344168"/>
            <a:ext cx="1783080" cy="73152"/>
          </a:xfrm>
          <a:prstGeom prst="rect">
            <a:avLst/>
          </a:prstGeom>
          <a:solidFill>
            <a:srgbClr val="CC79A7"/>
          </a:solidFill>
          <a:ln w="12700">
            <a:solidFill>
              <a:srgbClr val="CC79A7"/>
            </a:solidFill>
            <a:prstDash val="solid"/>
          </a:ln>
        </p:spPr>
      </p:sp>
      <p:sp>
        <p:nvSpPr>
          <p:cNvPr id="32" name="Badge 4"/>
          <p:cNvSpPr/>
          <p:nvPr/>
        </p:nvSpPr>
        <p:spPr>
          <a:xfrm>
            <a:off x="8823960" y="1527048"/>
            <a:ext cx="292608" cy="292608"/>
          </a:xfrm>
          <a:prstGeom prst="ellipse">
            <a:avLst/>
          </a:prstGeom>
          <a:solidFill>
            <a:srgbClr val="CC79A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23960" y="15270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9171432" y="1527048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Ontologies &amp; terminologies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meaning of terms</a:t>
            </a:r>
            <a:endParaRPr lang="en-US" sz="1150" dirty="0"/>
          </a:p>
        </p:txBody>
      </p:sp>
      <p:sp>
        <p:nvSpPr>
          <p:cNvPr id="35" name="Layer 6: Schema languages"/>
          <p:cNvSpPr/>
          <p:nvPr/>
        </p:nvSpPr>
        <p:spPr>
          <a:xfrm>
            <a:off x="10607040" y="1344168"/>
            <a:ext cx="1307592" cy="3803904"/>
          </a:xfrm>
          <a:prstGeom prst="rect">
            <a:avLst/>
          </a:prstGeom>
          <a:solidFill>
            <a:srgbClr val="56B4E9">
              <a:alpha val="15000"/>
            </a:srgbClr>
          </a:solidFill>
          <a:ln w="12700">
            <a:solidFill>
              <a:srgbClr val="56B4E9"/>
            </a:solidFill>
            <a:prstDash val="solid"/>
          </a:ln>
        </p:spPr>
      </p:sp>
      <p:sp>
        <p:nvSpPr>
          <p:cNvPr id="36" name="Layer 6: Schema languages tread"/>
          <p:cNvSpPr/>
          <p:nvPr/>
        </p:nvSpPr>
        <p:spPr>
          <a:xfrm>
            <a:off x="10607040" y="1344168"/>
            <a:ext cx="1307592" cy="73152"/>
          </a:xfrm>
          <a:prstGeom prst="rect">
            <a:avLst/>
          </a:prstGeom>
          <a:solidFill>
            <a:srgbClr val="56B4E9"/>
          </a:solidFill>
          <a:ln w="12700">
            <a:solidFill>
              <a:srgbClr val="56B4E9"/>
            </a:solidFill>
            <a:prstDash val="solid"/>
          </a:ln>
        </p:spPr>
      </p:sp>
      <p:sp>
        <p:nvSpPr>
          <p:cNvPr id="37" name="Badge 6"/>
          <p:cNvSpPr/>
          <p:nvPr/>
        </p:nvSpPr>
        <p:spPr>
          <a:xfrm>
            <a:off x="10698480" y="1527048"/>
            <a:ext cx="292608" cy="292608"/>
          </a:xfrm>
          <a:prstGeom prst="ellipse">
            <a:avLst/>
          </a:prstGeom>
          <a:solidFill>
            <a:srgbClr val="56B4E9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0698480" y="15270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11045952" y="1527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languages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standards</a:t>
            </a:r>
            <a:endParaRPr lang="en-US" sz="1150" dirty="0"/>
          </a:p>
        </p:txBody>
      </p:sp>
      <p:sp>
        <p:nvSpPr>
          <p:cNvPr id="40" name="Path A"/>
          <p:cNvSpPr/>
          <p:nvPr/>
        </p:nvSpPr>
        <p:spPr>
          <a:xfrm flipV="1">
            <a:off x="3314700" y="1115568"/>
            <a:ext cx="0" cy="5486400"/>
          </a:xfrm>
          <a:prstGeom prst="line">
            <a:avLst/>
          </a:prstGeom>
          <a:noFill/>
          <a:ln w="28575">
            <a:solidFill>
              <a:srgbClr val="44546A"/>
            </a:solidFill>
            <a:prstDash val="solid"/>
            <a:tailEnd type="triangle"/>
          </a:ln>
        </p:spPr>
      </p:sp>
      <p:sp>
        <p:nvSpPr>
          <p:cNvPr id="41" name="Path B"/>
          <p:cNvSpPr/>
          <p:nvPr/>
        </p:nvSpPr>
        <p:spPr>
          <a:xfrm flipV="1">
            <a:off x="5920740" y="1115568"/>
            <a:ext cx="0" cy="5358384"/>
          </a:xfrm>
          <a:prstGeom prst="line">
            <a:avLst/>
          </a:prstGeom>
          <a:noFill/>
          <a:ln w="28575">
            <a:solidFill>
              <a:srgbClr val="44546A"/>
            </a:solidFill>
            <a:prstDash val="solid"/>
            <a:tailEnd type="triangle"/>
          </a:ln>
        </p:spPr>
      </p:sp>
      <p:sp>
        <p:nvSpPr>
          <p:cNvPr id="42" name="Path C"/>
          <p:cNvSpPr/>
          <p:nvPr/>
        </p:nvSpPr>
        <p:spPr>
          <a:xfrm flipV="1">
            <a:off x="7909560" y="1115568"/>
            <a:ext cx="0" cy="5230368"/>
          </a:xfrm>
          <a:prstGeom prst="line">
            <a:avLst/>
          </a:prstGeom>
          <a:noFill/>
          <a:ln w="28575">
            <a:solidFill>
              <a:srgbClr val="44546A"/>
            </a:solidFill>
            <a:prstDash val="solid"/>
            <a:tailEnd type="triangle"/>
          </a:ln>
        </p:spPr>
      </p:sp>
      <p:sp>
        <p:nvSpPr>
          <p:cNvPr id="43" name="EMBER"/>
          <p:cNvSpPr/>
          <p:nvPr/>
        </p:nvSpPr>
        <p:spPr>
          <a:xfrm>
            <a:off x="2057400" y="694944"/>
            <a:ext cx="9747504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0072B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057400" y="694944"/>
            <a:ext cx="9747504" cy="420624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EMBER   </a:t>
            </a:r>
            <a:pPr algn="ctr" indent="0" marL="0"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accepts NWB, DANDI-layout, BIDS, and Psych-DS datasets, with privacy levels for identifiable human data</a:t>
            </a:r>
            <a:endParaRPr lang="en-US" sz="1000" dirty="0"/>
          </a:p>
        </p:txBody>
      </p:sp>
      <p:sp>
        <p:nvSpPr>
          <p:cNvPr id="45" name="HDF5 Zarr"/>
          <p:cNvSpPr/>
          <p:nvPr/>
        </p:nvSpPr>
        <p:spPr>
          <a:xfrm>
            <a:off x="2057400" y="5577840"/>
            <a:ext cx="12115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E69F0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2057400" y="5577840"/>
            <a:ext cx="1211580" cy="365760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HDF5 · Zarr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NWB files</a:t>
            </a:r>
            <a:endParaRPr lang="en-US" sz="1000" dirty="0"/>
          </a:p>
        </p:txBody>
      </p:sp>
      <p:sp>
        <p:nvSpPr>
          <p:cNvPr id="47" name="Video formats"/>
          <p:cNvSpPr/>
          <p:nvPr/>
        </p:nvSpPr>
        <p:spPr>
          <a:xfrm>
            <a:off x="3360420" y="5577840"/>
            <a:ext cx="12115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E69F0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3360420" y="5577840"/>
            <a:ext cx="1211580" cy="365760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MP4 · AVI · MOV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video, linked</a:t>
            </a:r>
            <a:endParaRPr lang="en-US" sz="1000" dirty="0"/>
          </a:p>
        </p:txBody>
      </p:sp>
      <p:sp>
        <p:nvSpPr>
          <p:cNvPr id="49" name="NIfTI"/>
          <p:cNvSpPr/>
          <p:nvPr/>
        </p:nvSpPr>
        <p:spPr>
          <a:xfrm>
            <a:off x="4663440" y="5385816"/>
            <a:ext cx="12115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E69F0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663440" y="5385816"/>
            <a:ext cx="1211580" cy="365760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NIfTI · OME-Zarr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MRI, PET, microscopy</a:t>
            </a:r>
            <a:endParaRPr lang="en-US" sz="1000" dirty="0"/>
          </a:p>
        </p:txBody>
      </p:sp>
      <p:sp>
        <p:nvSpPr>
          <p:cNvPr id="51" name="EDF"/>
          <p:cNvSpPr/>
          <p:nvPr/>
        </p:nvSpPr>
        <p:spPr>
          <a:xfrm>
            <a:off x="5966460" y="5385816"/>
            <a:ext cx="12115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E69F0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966460" y="5385816"/>
            <a:ext cx="1211580" cy="365760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EDF · BrainVision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EEG, iEEG</a:t>
            </a:r>
            <a:endParaRPr lang="en-US" sz="1000" dirty="0"/>
          </a:p>
        </p:txBody>
      </p:sp>
      <p:sp>
        <p:nvSpPr>
          <p:cNvPr id="53" name="JSON TSV"/>
          <p:cNvSpPr/>
          <p:nvPr/>
        </p:nvSpPr>
        <p:spPr>
          <a:xfrm>
            <a:off x="4663440" y="5806440"/>
            <a:ext cx="12115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E69F0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663440" y="5806440"/>
            <a:ext cx="1211580" cy="365760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· TSV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metadata, tables</a:t>
            </a:r>
            <a:endParaRPr lang="en-US" sz="1000" dirty="0"/>
          </a:p>
        </p:txBody>
      </p:sp>
      <p:sp>
        <p:nvSpPr>
          <p:cNvPr id="55" name="BIDS media"/>
          <p:cNvSpPr/>
          <p:nvPr/>
        </p:nvSpPr>
        <p:spPr>
          <a:xfrm>
            <a:off x="5966460" y="5806440"/>
            <a:ext cx="12115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E69F00"/>
            </a:solidFill>
            <a:prstDash val="dash"/>
          </a:ln>
        </p:spPr>
      </p:sp>
      <p:sp>
        <p:nvSpPr>
          <p:cNvPr id="56" name="Text 54"/>
          <p:cNvSpPr txBox="1"/>
          <p:nvPr/>
        </p:nvSpPr>
        <p:spPr>
          <a:xfrm>
            <a:off x="5966460" y="5806440"/>
            <a:ext cx="1211580" cy="365760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 · MP4 · PNG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 PR #2367</a:t>
            </a:r>
            <a:endParaRPr lang="en-US" sz="1000" dirty="0"/>
          </a:p>
        </p:txBody>
      </p:sp>
      <p:sp>
        <p:nvSpPr>
          <p:cNvPr id="57" name="CSV JSON"/>
          <p:cNvSpPr/>
          <p:nvPr/>
        </p:nvSpPr>
        <p:spPr>
          <a:xfrm>
            <a:off x="7269480" y="5577840"/>
            <a:ext cx="12801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E69F0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269480" y="5577840"/>
            <a:ext cx="1280160" cy="365760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· JSON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tables, metadata</a:t>
            </a:r>
            <a:endParaRPr lang="en-US" sz="1000" dirty="0"/>
          </a:p>
        </p:txBody>
      </p:sp>
      <p:sp>
        <p:nvSpPr>
          <p:cNvPr id="59" name="NWB"/>
          <p:cNvSpPr/>
          <p:nvPr/>
        </p:nvSpPr>
        <p:spPr>
          <a:xfrm>
            <a:off x="2057400" y="3429000"/>
            <a:ext cx="251460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057400" y="3429000"/>
            <a:ext cx="2514600" cy="896112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NWB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Ephys · ophys · stimulation · behavior · video links · events (EventsTable, MeaningsTable)</a:t>
            </a:r>
            <a:endParaRPr lang="en-US" sz="10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Extensions in use: structured behavior · ethogram · wearables · fiber photometry</a:t>
            </a:r>
            <a:endParaRPr lang="en-US" sz="1000" dirty="0"/>
          </a:p>
        </p:txBody>
      </p:sp>
      <p:sp>
        <p:nvSpPr>
          <p:cNvPr id="61" name="NWB ndx-pose"/>
          <p:cNvSpPr/>
          <p:nvPr/>
        </p:nvSpPr>
        <p:spPr>
          <a:xfrm>
            <a:off x="2057400" y="4398264"/>
            <a:ext cx="121158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</p:sp>
      <p:sp>
        <p:nvSpPr>
          <p:cNvPr id="62" name="Text 60"/>
          <p:cNvSpPr txBox="1"/>
          <p:nvPr/>
        </p:nvSpPr>
        <p:spPr>
          <a:xfrm>
            <a:off x="2057400" y="4398264"/>
            <a:ext cx="1211580" cy="347472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ndx-pose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 estimation</a:t>
            </a:r>
            <a:endParaRPr lang="en-US" sz="1000" dirty="0"/>
          </a:p>
        </p:txBody>
      </p:sp>
      <p:sp>
        <p:nvSpPr>
          <p:cNvPr id="63" name="NWB ndx-hed"/>
          <p:cNvSpPr/>
          <p:nvPr/>
        </p:nvSpPr>
        <p:spPr>
          <a:xfrm>
            <a:off x="3360420" y="4398264"/>
            <a:ext cx="121158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</p:sp>
      <p:sp>
        <p:nvSpPr>
          <p:cNvPr id="64" name="Text 62"/>
          <p:cNvSpPr txBox="1"/>
          <p:nvPr/>
        </p:nvSpPr>
        <p:spPr>
          <a:xfrm>
            <a:off x="3360420" y="4398264"/>
            <a:ext cx="1211580" cy="347472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ndx-hed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HED annotations</a:t>
            </a:r>
            <a:endParaRPr lang="en-US" sz="1000" dirty="0"/>
          </a:p>
        </p:txBody>
      </p:sp>
      <p:sp>
        <p:nvSpPr>
          <p:cNvPr id="65" name="NWB ndx-multisubjects"/>
          <p:cNvSpPr/>
          <p:nvPr/>
        </p:nvSpPr>
        <p:spPr>
          <a:xfrm>
            <a:off x="2057400" y="4800600"/>
            <a:ext cx="121158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</p:sp>
      <p:sp>
        <p:nvSpPr>
          <p:cNvPr id="66" name="Text 64"/>
          <p:cNvSpPr txBox="1"/>
          <p:nvPr/>
        </p:nvSpPr>
        <p:spPr>
          <a:xfrm>
            <a:off x="2057400" y="4800600"/>
            <a:ext cx="1211580" cy="347472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ndx-multisubjects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multi-subject data</a:t>
            </a:r>
            <a:endParaRPr lang="en-US" sz="1000" dirty="0"/>
          </a:p>
        </p:txBody>
      </p:sp>
      <p:sp>
        <p:nvSpPr>
          <p:cNvPr id="67" name="NWB NWBEP004"/>
          <p:cNvSpPr/>
          <p:nvPr/>
        </p:nvSpPr>
        <p:spPr>
          <a:xfrm>
            <a:off x="3360420" y="4800600"/>
            <a:ext cx="121158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</p:sp>
      <p:sp>
        <p:nvSpPr>
          <p:cNvPr id="68" name="Text 66"/>
          <p:cNvSpPr txBox="1"/>
          <p:nvPr/>
        </p:nvSpPr>
        <p:spPr>
          <a:xfrm>
            <a:off x="3360420" y="4800600"/>
            <a:ext cx="1211580" cy="347472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NWBEP004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microscopy</a:t>
            </a:r>
            <a:endParaRPr lang="en-US" sz="1000" dirty="0"/>
          </a:p>
        </p:txBody>
      </p:sp>
      <p:sp>
        <p:nvSpPr>
          <p:cNvPr id="69" name="Text 67"/>
          <p:cNvSpPr txBox="1"/>
          <p:nvPr/>
        </p:nvSpPr>
        <p:spPr>
          <a:xfrm>
            <a:off x="6030468" y="3931920"/>
            <a:ext cx="10744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 can include NWB files (iEEG; microelectrode ephys via BEP032)</a:t>
            </a:r>
            <a:endParaRPr lang="en-US" sz="950" dirty="0"/>
          </a:p>
        </p:txBody>
      </p:sp>
      <p:sp>
        <p:nvSpPr>
          <p:cNvPr id="70" name="DANDI layout"/>
          <p:cNvSpPr/>
          <p:nvPr/>
        </p:nvSpPr>
        <p:spPr>
          <a:xfrm>
            <a:off x="2057400" y="1508760"/>
            <a:ext cx="25146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2057400" y="1508760"/>
            <a:ext cx="2514600" cy="457200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DANDI layout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NWB file per subject and session</a:t>
            </a:r>
            <a:endParaRPr lang="en-US" sz="1000" dirty="0"/>
          </a:p>
        </p:txBody>
      </p:sp>
      <p:sp>
        <p:nvSpPr>
          <p:cNvPr id="72" name="BIDS"/>
          <p:cNvSpPr/>
          <p:nvPr/>
        </p:nvSpPr>
        <p:spPr>
          <a:xfrm>
            <a:off x="4663440" y="1508760"/>
            <a:ext cx="251460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4663440" y="1508760"/>
            <a:ext cx="2514600" cy="749808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MRI · PET · EEG / MEG / iEEG · microscopy · motion · physiology · behavior and task events · stimuli</a:t>
            </a:r>
            <a:endParaRPr lang="en-US" sz="1000" dirty="0"/>
          </a:p>
        </p:txBody>
      </p:sp>
      <p:sp>
        <p:nvSpPr>
          <p:cNvPr id="74" name="BIDS BEP032"/>
          <p:cNvSpPr/>
          <p:nvPr/>
        </p:nvSpPr>
        <p:spPr>
          <a:xfrm>
            <a:off x="4663440" y="2331720"/>
            <a:ext cx="121158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</p:sp>
      <p:sp>
        <p:nvSpPr>
          <p:cNvPr id="75" name="Text 73"/>
          <p:cNvSpPr txBox="1"/>
          <p:nvPr/>
        </p:nvSpPr>
        <p:spPr>
          <a:xfrm>
            <a:off x="4663440" y="2331720"/>
            <a:ext cx="1211580" cy="347472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BEP032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microelectrode ephys</a:t>
            </a:r>
            <a:endParaRPr lang="en-US" sz="1000" dirty="0"/>
          </a:p>
        </p:txBody>
      </p:sp>
      <p:sp>
        <p:nvSpPr>
          <p:cNvPr id="76" name="BIDS BEP047"/>
          <p:cNvSpPr/>
          <p:nvPr/>
        </p:nvSpPr>
        <p:spPr>
          <a:xfrm>
            <a:off x="5966460" y="2331720"/>
            <a:ext cx="121158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</p:sp>
      <p:sp>
        <p:nvSpPr>
          <p:cNvPr id="77" name="Text 75"/>
          <p:cNvSpPr txBox="1"/>
          <p:nvPr/>
        </p:nvSpPr>
        <p:spPr>
          <a:xfrm>
            <a:off x="5966460" y="2331720"/>
            <a:ext cx="1211580" cy="347472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BEP047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recordings</a:t>
            </a:r>
            <a:endParaRPr lang="en-US" sz="1000" dirty="0"/>
          </a:p>
        </p:txBody>
      </p:sp>
      <p:sp>
        <p:nvSpPr>
          <p:cNvPr id="78" name="BIDS BEP020 · BEP042"/>
          <p:cNvSpPr/>
          <p:nvPr/>
        </p:nvSpPr>
        <p:spPr>
          <a:xfrm>
            <a:off x="4663440" y="2734056"/>
            <a:ext cx="121158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</p:sp>
      <p:sp>
        <p:nvSpPr>
          <p:cNvPr id="79" name="Text 77"/>
          <p:cNvSpPr txBox="1"/>
          <p:nvPr/>
        </p:nvSpPr>
        <p:spPr>
          <a:xfrm>
            <a:off x="4663440" y="2734056"/>
            <a:ext cx="1211580" cy="347472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BEP020 · BEP042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eye tracking · EMG</a:t>
            </a:r>
            <a:endParaRPr lang="en-US" sz="1000" dirty="0"/>
          </a:p>
        </p:txBody>
      </p:sp>
      <p:sp>
        <p:nvSpPr>
          <p:cNvPr id="80" name="BIDS Multi-subject BEP"/>
          <p:cNvSpPr/>
          <p:nvPr/>
        </p:nvSpPr>
        <p:spPr>
          <a:xfrm>
            <a:off x="5966460" y="2734056"/>
            <a:ext cx="121158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</p:sp>
      <p:sp>
        <p:nvSpPr>
          <p:cNvPr id="81" name="Text 79"/>
          <p:cNvSpPr txBox="1"/>
          <p:nvPr/>
        </p:nvSpPr>
        <p:spPr>
          <a:xfrm>
            <a:off x="5966460" y="2734056"/>
            <a:ext cx="1211580" cy="347472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Multi-subject BEP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1000" dirty="0"/>
          </a:p>
        </p:txBody>
      </p:sp>
      <p:sp>
        <p:nvSpPr>
          <p:cNvPr id="82" name="Psych-DS"/>
          <p:cNvSpPr/>
          <p:nvPr/>
        </p:nvSpPr>
        <p:spPr>
          <a:xfrm>
            <a:off x="7269480" y="1508760"/>
            <a:ext cx="12801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7269480" y="1508760"/>
            <a:ext cx="1280160" cy="749808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Psych-DS</a:t>
            </a:r>
            <a:endParaRPr lang="en-US" sz="10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variable defined in JSON</a:t>
            </a:r>
            <a:endParaRPr lang="en-US" sz="1000" dirty="0"/>
          </a:p>
        </p:txBody>
      </p:sp>
      <p:sp>
        <p:nvSpPr>
          <p:cNvPr id="84" name="Psych-DS extensions"/>
          <p:cNvSpPr/>
          <p:nvPr/>
        </p:nvSpPr>
        <p:spPr>
          <a:xfrm>
            <a:off x="7269480" y="2331720"/>
            <a:ext cx="12801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</p:sp>
      <p:sp>
        <p:nvSpPr>
          <p:cNvPr id="85" name="Text 83"/>
          <p:cNvSpPr txBox="1"/>
          <p:nvPr/>
        </p:nvSpPr>
        <p:spPr>
          <a:xfrm>
            <a:off x="7269480" y="2331720"/>
            <a:ext cx="1280160" cy="749808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Extensions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in development</a:t>
            </a:r>
            <a:endParaRPr lang="en-US" sz="1000" dirty="0"/>
          </a:p>
        </p:txBody>
      </p:sp>
      <p:sp>
        <p:nvSpPr>
          <p:cNvPr id="86" name="HED"/>
          <p:cNvSpPr/>
          <p:nvPr/>
        </p:nvSpPr>
        <p:spPr>
          <a:xfrm>
            <a:off x="8823960" y="2350008"/>
            <a:ext cx="160020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8823960" y="2350008"/>
            <a:ext cx="1600200" cy="512064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HED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annotations in BIDS, and in NWB via ndx-hed</a:t>
            </a:r>
            <a:endParaRPr lang="en-US" sz="1000" dirty="0"/>
          </a:p>
        </p:txBody>
      </p:sp>
      <p:sp>
        <p:nvSpPr>
          <p:cNvPr id="88" name="Terminologies"/>
          <p:cNvSpPr/>
          <p:nvPr/>
        </p:nvSpPr>
        <p:spPr>
          <a:xfrm>
            <a:off x="8823960" y="2953512"/>
            <a:ext cx="160020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8823960" y="2953512"/>
            <a:ext cx="1600200" cy="868680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Terminologies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NCBI Taxonomy · UBERON · Allen atlases · Cell Ontology · RRID · ORCID · ROR</a:t>
            </a:r>
            <a:endParaRPr lang="en-US" sz="1000" dirty="0"/>
          </a:p>
        </p:txBody>
      </p:sp>
      <p:sp>
        <p:nvSpPr>
          <p:cNvPr id="90" name="Neuro Termsets"/>
          <p:cNvSpPr/>
          <p:nvPr/>
        </p:nvSpPr>
        <p:spPr>
          <a:xfrm>
            <a:off x="8823960" y="3913632"/>
            <a:ext cx="160020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dash"/>
          </a:ln>
        </p:spPr>
      </p:sp>
      <p:sp>
        <p:nvSpPr>
          <p:cNvPr id="91" name="Text 89"/>
          <p:cNvSpPr txBox="1"/>
          <p:nvPr/>
        </p:nvSpPr>
        <p:spPr>
          <a:xfrm>
            <a:off x="8823960" y="3913632"/>
            <a:ext cx="1600200" cy="512064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 Termsets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term sets for NWB (HERD) and BIDS</a:t>
            </a:r>
            <a:endParaRPr lang="en-US" sz="1000" dirty="0"/>
          </a:p>
        </p:txBody>
      </p:sp>
      <p:sp>
        <p:nvSpPr>
          <p:cNvPr id="92" name="Behavior labels"/>
          <p:cNvSpPr/>
          <p:nvPr/>
        </p:nvSpPr>
        <p:spPr>
          <a:xfrm>
            <a:off x="8823960" y="4517136"/>
            <a:ext cx="1600200" cy="457200"/>
          </a:xfrm>
          <a:prstGeom prst="roundRect">
            <a:avLst>
              <a:gd name="adj" fmla="val 12000"/>
            </a:avLst>
          </a:prstGeom>
          <a:solidFill>
            <a:srgbClr val="8A96A3">
              <a:alpha val="20000"/>
            </a:srgbClr>
          </a:solidFill>
          <a:ln w="15875">
            <a:solidFill>
              <a:srgbClr val="8A96A3"/>
            </a:solidFill>
            <a:prstDash val="dash"/>
          </a:ln>
        </p:spPr>
      </p:sp>
      <p:sp>
        <p:nvSpPr>
          <p:cNvPr id="93" name="Text 91"/>
          <p:cNvSpPr txBox="1"/>
          <p:nvPr/>
        </p:nvSpPr>
        <p:spPr>
          <a:xfrm>
            <a:off x="8823960" y="4517136"/>
            <a:ext cx="1600200" cy="457200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labels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shared vocabulary in use</a:t>
            </a:r>
            <a:endParaRPr lang="en-US" sz="1000" dirty="0"/>
          </a:p>
        </p:txBody>
      </p:sp>
      <p:sp>
        <p:nvSpPr>
          <p:cNvPr id="94" name="HDMF"/>
          <p:cNvSpPr/>
          <p:nvPr/>
        </p:nvSpPr>
        <p:spPr>
          <a:xfrm>
            <a:off x="10698480" y="2350008"/>
            <a:ext cx="112471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56B4E9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10698480" y="2350008"/>
            <a:ext cx="1124712" cy="457200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HDMF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defines NWB</a:t>
            </a:r>
            <a:endParaRPr lang="en-US" sz="1000" dirty="0"/>
          </a:p>
        </p:txBody>
      </p:sp>
      <p:sp>
        <p:nvSpPr>
          <p:cNvPr id="96" name="BIDS schema"/>
          <p:cNvSpPr/>
          <p:nvPr/>
        </p:nvSpPr>
        <p:spPr>
          <a:xfrm>
            <a:off x="10698480" y="2898648"/>
            <a:ext cx="112471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56B4E9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10698480" y="2898648"/>
            <a:ext cx="1124712" cy="457200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 schema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defines BIDS</a:t>
            </a:r>
            <a:endParaRPr lang="en-US" sz="1000" dirty="0"/>
          </a:p>
        </p:txBody>
      </p:sp>
      <p:sp>
        <p:nvSpPr>
          <p:cNvPr id="98" name="LinkML"/>
          <p:cNvSpPr/>
          <p:nvPr/>
        </p:nvSpPr>
        <p:spPr>
          <a:xfrm>
            <a:off x="10698480" y="3447288"/>
            <a:ext cx="112471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56B4E9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10698480" y="3447288"/>
            <a:ext cx="1124712" cy="566928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LinkML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defines Psych-DS and Neuro Termsets</a:t>
            </a:r>
            <a:endParaRPr lang="en-US" sz="1000" dirty="0"/>
          </a:p>
        </p:txBody>
      </p:sp>
      <p:sp>
        <p:nvSpPr>
          <p:cNvPr id="100" name="Text 98"/>
          <p:cNvSpPr txBox="1"/>
          <p:nvPr/>
        </p:nvSpPr>
        <p:spPr>
          <a:xfrm>
            <a:off x="320040" y="6629400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BBQS data</a:t>
            </a:r>
            <a:endParaRPr lang="en-US" sz="11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Lines show the standards each data type can use (Table 3)</a:t>
            </a:r>
            <a:endParaRPr lang="en-US" sz="1150" dirty="0"/>
          </a:p>
        </p:txBody>
      </p:sp>
      <p:sp>
        <p:nvSpPr>
          <p:cNvPr id="101" name="Data: Ephys · optical physiology · stimulation"/>
          <p:cNvSpPr/>
          <p:nvPr/>
        </p:nvSpPr>
        <p:spPr>
          <a:xfrm>
            <a:off x="2057400" y="6720840"/>
            <a:ext cx="1243584" cy="713232"/>
          </a:xfrm>
          <a:prstGeom prst="rect">
            <a:avLst/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2057400" y="6720840"/>
            <a:ext cx="1243584" cy="713232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Ephys · optical physiology · stimulation</a:t>
            </a:r>
            <a:endParaRPr lang="en-US" sz="1000" dirty="0"/>
          </a:p>
        </p:txBody>
      </p:sp>
      <p:sp>
        <p:nvSpPr>
          <p:cNvPr id="103" name="Data: Video · audio · pose · eye tracking · task events"/>
          <p:cNvSpPr/>
          <p:nvPr/>
        </p:nvSpPr>
        <p:spPr>
          <a:xfrm>
            <a:off x="3355848" y="6720840"/>
            <a:ext cx="1426464" cy="713232"/>
          </a:xfrm>
          <a:prstGeom prst="rect">
            <a:avLst/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3355848" y="6720840"/>
            <a:ext cx="1426464" cy="713232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· audio · pose · eye tracking · task events</a:t>
            </a:r>
            <a:endParaRPr lang="en-US" sz="1000" dirty="0"/>
          </a:p>
        </p:txBody>
      </p:sp>
      <p:sp>
        <p:nvSpPr>
          <p:cNvPr id="105" name="Data: EEG · MEG · iEEG"/>
          <p:cNvSpPr/>
          <p:nvPr/>
        </p:nvSpPr>
        <p:spPr>
          <a:xfrm>
            <a:off x="4837176" y="6720840"/>
            <a:ext cx="914400" cy="713232"/>
          </a:xfrm>
          <a:prstGeom prst="rect">
            <a:avLst/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4837176" y="6720840"/>
            <a:ext cx="914400" cy="713232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EEG · MEG · iEEG</a:t>
            </a:r>
            <a:endParaRPr lang="en-US" sz="1000" dirty="0"/>
          </a:p>
        </p:txBody>
      </p:sp>
      <p:sp>
        <p:nvSpPr>
          <p:cNvPr id="107" name="Data: MRI · fMRI · PET"/>
          <p:cNvSpPr/>
          <p:nvPr/>
        </p:nvSpPr>
        <p:spPr>
          <a:xfrm>
            <a:off x="5806440" y="6720840"/>
            <a:ext cx="841248" cy="713232"/>
          </a:xfrm>
          <a:prstGeom prst="rect">
            <a:avLst/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08" name="Text 106"/>
          <p:cNvSpPr txBox="1"/>
          <p:nvPr/>
        </p:nvSpPr>
        <p:spPr>
          <a:xfrm>
            <a:off x="5806440" y="6720840"/>
            <a:ext cx="841248" cy="713232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MRI · fMRI · PET</a:t>
            </a:r>
            <a:endParaRPr lang="en-US" sz="1000" dirty="0"/>
          </a:p>
        </p:txBody>
      </p:sp>
      <p:sp>
        <p:nvSpPr>
          <p:cNvPr id="109" name="Data: Wearables"/>
          <p:cNvSpPr/>
          <p:nvPr/>
        </p:nvSpPr>
        <p:spPr>
          <a:xfrm>
            <a:off x="6702552" y="6720840"/>
            <a:ext cx="804672" cy="713232"/>
          </a:xfrm>
          <a:prstGeom prst="rect">
            <a:avLst/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6702552" y="6720840"/>
            <a:ext cx="804672" cy="713232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Wearables</a:t>
            </a:r>
            <a:endParaRPr lang="en-US" sz="1000" dirty="0"/>
          </a:p>
        </p:txBody>
      </p:sp>
      <p:sp>
        <p:nvSpPr>
          <p:cNvPr id="111" name="Data: Questionnaires surveys"/>
          <p:cNvSpPr/>
          <p:nvPr/>
        </p:nvSpPr>
        <p:spPr>
          <a:xfrm>
            <a:off x="7562088" y="6720840"/>
            <a:ext cx="987552" cy="713232"/>
          </a:xfrm>
          <a:prstGeom prst="rect">
            <a:avLst/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7562088" y="6720840"/>
            <a:ext cx="987552" cy="713232"/>
          </a:xfrm>
          <a:prstGeom prst="rect">
            <a:avLst/>
          </a:prstGeom>
          <a:noFill/>
          <a:ln/>
        </p:spPr>
        <p:txBody>
          <a:bodyPr wrap="square" lIns="12700" tIns="50800" rIns="50800" bIns="127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Questionnaires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surveys</a:t>
            </a:r>
            <a:endParaRPr lang="en-US" sz="1000" dirty="0"/>
          </a:p>
        </p:txBody>
      </p:sp>
      <p:sp>
        <p:nvSpPr>
          <p:cNvPr id="113" name="Bus A"/>
          <p:cNvSpPr/>
          <p:nvPr/>
        </p:nvSpPr>
        <p:spPr>
          <a:xfrm>
            <a:off x="2679192" y="6601968"/>
            <a:ext cx="4224528" cy="0"/>
          </a:xfrm>
          <a:prstGeom prst="line">
            <a:avLst/>
          </a:prstGeom>
          <a:noFill/>
          <a:ln w="15875">
            <a:solidFill>
              <a:srgbClr val="44546A"/>
            </a:solidFill>
            <a:prstDash val="solid"/>
          </a:ln>
        </p:spPr>
      </p:sp>
      <p:sp>
        <p:nvSpPr>
          <p:cNvPr id="114" name="Bus B"/>
          <p:cNvSpPr/>
          <p:nvPr/>
        </p:nvSpPr>
        <p:spPr>
          <a:xfrm>
            <a:off x="4306824" y="6473952"/>
            <a:ext cx="3584448" cy="0"/>
          </a:xfrm>
          <a:prstGeom prst="line">
            <a:avLst/>
          </a:prstGeom>
          <a:noFill/>
          <a:ln w="15875">
            <a:solidFill>
              <a:srgbClr val="44546A"/>
            </a:solidFill>
            <a:prstDash val="solid"/>
          </a:ln>
        </p:spPr>
      </p:sp>
      <p:sp>
        <p:nvSpPr>
          <p:cNvPr id="115" name="Bus C"/>
          <p:cNvSpPr/>
          <p:nvPr/>
        </p:nvSpPr>
        <p:spPr>
          <a:xfrm>
            <a:off x="7306056" y="6345936"/>
            <a:ext cx="914400" cy="0"/>
          </a:xfrm>
          <a:prstGeom prst="line">
            <a:avLst/>
          </a:prstGeom>
          <a:noFill/>
          <a:ln w="15875">
            <a:solidFill>
              <a:srgbClr val="44546A"/>
            </a:solidFill>
            <a:prstDash val="solid"/>
          </a:ln>
        </p:spPr>
      </p:sp>
      <p:sp>
        <p:nvSpPr>
          <p:cNvPr id="116" name="Feed A"/>
          <p:cNvSpPr/>
          <p:nvPr/>
        </p:nvSpPr>
        <p:spPr>
          <a:xfrm>
            <a:off x="2679192" y="6601968"/>
            <a:ext cx="0" cy="118872"/>
          </a:xfrm>
          <a:prstGeom prst="line">
            <a:avLst/>
          </a:prstGeom>
          <a:noFill/>
          <a:ln w="15875">
            <a:solidFill>
              <a:srgbClr val="44546A"/>
            </a:solidFill>
            <a:prstDash val="solid"/>
          </a:ln>
        </p:spPr>
      </p:sp>
      <p:sp>
        <p:nvSpPr>
          <p:cNvPr id="117" name="Join A"/>
          <p:cNvSpPr/>
          <p:nvPr/>
        </p:nvSpPr>
        <p:spPr>
          <a:xfrm>
            <a:off x="2642616" y="6565392"/>
            <a:ext cx="73152" cy="73152"/>
          </a:xfrm>
          <a:prstGeom prst="ellipse">
            <a:avLst/>
          </a:prstGeom>
          <a:solidFill>
            <a:srgbClr val="44546A"/>
          </a:solidFill>
          <a:ln w="6350">
            <a:solidFill>
              <a:srgbClr val="44546A"/>
            </a:solidFill>
            <a:prstDash val="solid"/>
          </a:ln>
        </p:spPr>
      </p:sp>
      <p:sp>
        <p:nvSpPr>
          <p:cNvPr id="118" name="Feed A"/>
          <p:cNvSpPr/>
          <p:nvPr/>
        </p:nvSpPr>
        <p:spPr>
          <a:xfrm>
            <a:off x="3831336" y="6601968"/>
            <a:ext cx="0" cy="118872"/>
          </a:xfrm>
          <a:prstGeom prst="line">
            <a:avLst/>
          </a:prstGeom>
          <a:noFill/>
          <a:ln w="15875">
            <a:solidFill>
              <a:srgbClr val="44546A"/>
            </a:solidFill>
            <a:prstDash val="solid"/>
          </a:ln>
        </p:spPr>
      </p:sp>
      <p:sp>
        <p:nvSpPr>
          <p:cNvPr id="119" name="Join A"/>
          <p:cNvSpPr/>
          <p:nvPr/>
        </p:nvSpPr>
        <p:spPr>
          <a:xfrm>
            <a:off x="3794760" y="6565392"/>
            <a:ext cx="73152" cy="73152"/>
          </a:xfrm>
          <a:prstGeom prst="ellipse">
            <a:avLst/>
          </a:prstGeom>
          <a:solidFill>
            <a:srgbClr val="44546A"/>
          </a:solidFill>
          <a:ln w="6350">
            <a:solidFill>
              <a:srgbClr val="44546A"/>
            </a:solidFill>
            <a:prstDash val="solid"/>
          </a:ln>
        </p:spPr>
      </p:sp>
      <p:sp>
        <p:nvSpPr>
          <p:cNvPr id="120" name="Feed B"/>
          <p:cNvSpPr/>
          <p:nvPr/>
        </p:nvSpPr>
        <p:spPr>
          <a:xfrm>
            <a:off x="4306824" y="6473952"/>
            <a:ext cx="0" cy="246888"/>
          </a:xfrm>
          <a:prstGeom prst="line">
            <a:avLst/>
          </a:prstGeom>
          <a:noFill/>
          <a:ln w="15875">
            <a:solidFill>
              <a:srgbClr val="44546A"/>
            </a:solidFill>
            <a:prstDash val="solid"/>
          </a:ln>
        </p:spPr>
      </p:sp>
      <p:sp>
        <p:nvSpPr>
          <p:cNvPr id="121" name="Join B"/>
          <p:cNvSpPr/>
          <p:nvPr/>
        </p:nvSpPr>
        <p:spPr>
          <a:xfrm>
            <a:off x="4270248" y="6437376"/>
            <a:ext cx="73152" cy="73152"/>
          </a:xfrm>
          <a:prstGeom prst="ellipse">
            <a:avLst/>
          </a:prstGeom>
          <a:solidFill>
            <a:srgbClr val="44546A"/>
          </a:solidFill>
          <a:ln w="6350">
            <a:solidFill>
              <a:srgbClr val="44546A"/>
            </a:solidFill>
            <a:prstDash val="solid"/>
          </a:ln>
        </p:spPr>
      </p:sp>
      <p:sp>
        <p:nvSpPr>
          <p:cNvPr id="122" name="Feed A"/>
          <p:cNvSpPr/>
          <p:nvPr/>
        </p:nvSpPr>
        <p:spPr>
          <a:xfrm>
            <a:off x="5141976" y="6601968"/>
            <a:ext cx="0" cy="118872"/>
          </a:xfrm>
          <a:prstGeom prst="line">
            <a:avLst/>
          </a:prstGeom>
          <a:noFill/>
          <a:ln w="15875">
            <a:solidFill>
              <a:srgbClr val="44546A"/>
            </a:solidFill>
            <a:prstDash val="solid"/>
          </a:ln>
        </p:spPr>
      </p:sp>
      <p:sp>
        <p:nvSpPr>
          <p:cNvPr id="123" name="Join A"/>
          <p:cNvSpPr/>
          <p:nvPr/>
        </p:nvSpPr>
        <p:spPr>
          <a:xfrm>
            <a:off x="5105400" y="6565392"/>
            <a:ext cx="73152" cy="73152"/>
          </a:xfrm>
          <a:prstGeom prst="ellipse">
            <a:avLst/>
          </a:prstGeom>
          <a:solidFill>
            <a:srgbClr val="44546A"/>
          </a:solidFill>
          <a:ln w="6350">
            <a:solidFill>
              <a:srgbClr val="44546A"/>
            </a:solidFill>
            <a:prstDash val="solid"/>
          </a:ln>
        </p:spPr>
      </p:sp>
      <p:sp>
        <p:nvSpPr>
          <p:cNvPr id="124" name="Feed B"/>
          <p:cNvSpPr/>
          <p:nvPr/>
        </p:nvSpPr>
        <p:spPr>
          <a:xfrm>
            <a:off x="5446776" y="6473952"/>
            <a:ext cx="0" cy="246888"/>
          </a:xfrm>
          <a:prstGeom prst="line">
            <a:avLst/>
          </a:prstGeom>
          <a:noFill/>
          <a:ln w="15875">
            <a:solidFill>
              <a:srgbClr val="44546A"/>
            </a:solidFill>
            <a:prstDash val="solid"/>
          </a:ln>
        </p:spPr>
      </p:sp>
      <p:sp>
        <p:nvSpPr>
          <p:cNvPr id="125" name="Join B"/>
          <p:cNvSpPr/>
          <p:nvPr/>
        </p:nvSpPr>
        <p:spPr>
          <a:xfrm>
            <a:off x="5410200" y="6437376"/>
            <a:ext cx="73152" cy="73152"/>
          </a:xfrm>
          <a:prstGeom prst="ellipse">
            <a:avLst/>
          </a:prstGeom>
          <a:solidFill>
            <a:srgbClr val="44546A"/>
          </a:solidFill>
          <a:ln w="6350">
            <a:solidFill>
              <a:srgbClr val="44546A"/>
            </a:solidFill>
            <a:prstDash val="solid"/>
          </a:ln>
        </p:spPr>
      </p:sp>
      <p:sp>
        <p:nvSpPr>
          <p:cNvPr id="126" name="Feed B"/>
          <p:cNvSpPr/>
          <p:nvPr/>
        </p:nvSpPr>
        <p:spPr>
          <a:xfrm>
            <a:off x="6227064" y="6473952"/>
            <a:ext cx="0" cy="246888"/>
          </a:xfrm>
          <a:prstGeom prst="line">
            <a:avLst/>
          </a:prstGeom>
          <a:noFill/>
          <a:ln w="15875">
            <a:solidFill>
              <a:srgbClr val="44546A"/>
            </a:solidFill>
            <a:prstDash val="solid"/>
          </a:ln>
        </p:spPr>
      </p:sp>
      <p:sp>
        <p:nvSpPr>
          <p:cNvPr id="127" name="Join B"/>
          <p:cNvSpPr/>
          <p:nvPr/>
        </p:nvSpPr>
        <p:spPr>
          <a:xfrm>
            <a:off x="6190488" y="6437376"/>
            <a:ext cx="73152" cy="73152"/>
          </a:xfrm>
          <a:prstGeom prst="ellipse">
            <a:avLst/>
          </a:prstGeom>
          <a:solidFill>
            <a:srgbClr val="44546A"/>
          </a:solidFill>
          <a:ln w="6350">
            <a:solidFill>
              <a:srgbClr val="44546A"/>
            </a:solidFill>
            <a:prstDash val="solid"/>
          </a:ln>
        </p:spPr>
      </p:sp>
      <p:sp>
        <p:nvSpPr>
          <p:cNvPr id="128" name="Feed A"/>
          <p:cNvSpPr/>
          <p:nvPr/>
        </p:nvSpPr>
        <p:spPr>
          <a:xfrm>
            <a:off x="6903720" y="6601968"/>
            <a:ext cx="0" cy="118872"/>
          </a:xfrm>
          <a:prstGeom prst="line">
            <a:avLst/>
          </a:prstGeom>
          <a:noFill/>
          <a:ln w="15875">
            <a:solidFill>
              <a:srgbClr val="44546A"/>
            </a:solidFill>
            <a:prstDash val="solid"/>
          </a:ln>
        </p:spPr>
      </p:sp>
      <p:sp>
        <p:nvSpPr>
          <p:cNvPr id="129" name="Join A"/>
          <p:cNvSpPr/>
          <p:nvPr/>
        </p:nvSpPr>
        <p:spPr>
          <a:xfrm>
            <a:off x="6867144" y="6565392"/>
            <a:ext cx="73152" cy="73152"/>
          </a:xfrm>
          <a:prstGeom prst="ellipse">
            <a:avLst/>
          </a:prstGeom>
          <a:solidFill>
            <a:srgbClr val="44546A"/>
          </a:solidFill>
          <a:ln w="6350">
            <a:solidFill>
              <a:srgbClr val="44546A"/>
            </a:solidFill>
            <a:prstDash val="solid"/>
          </a:ln>
        </p:spPr>
      </p:sp>
      <p:sp>
        <p:nvSpPr>
          <p:cNvPr id="130" name="Feed B"/>
          <p:cNvSpPr/>
          <p:nvPr/>
        </p:nvSpPr>
        <p:spPr>
          <a:xfrm>
            <a:off x="7104888" y="6473952"/>
            <a:ext cx="0" cy="246888"/>
          </a:xfrm>
          <a:prstGeom prst="line">
            <a:avLst/>
          </a:prstGeom>
          <a:noFill/>
          <a:ln w="15875">
            <a:solidFill>
              <a:srgbClr val="44546A"/>
            </a:solidFill>
            <a:prstDash val="solid"/>
          </a:ln>
        </p:spPr>
      </p:sp>
      <p:sp>
        <p:nvSpPr>
          <p:cNvPr id="131" name="Join B"/>
          <p:cNvSpPr/>
          <p:nvPr/>
        </p:nvSpPr>
        <p:spPr>
          <a:xfrm>
            <a:off x="7068312" y="6437376"/>
            <a:ext cx="73152" cy="73152"/>
          </a:xfrm>
          <a:prstGeom prst="ellipse">
            <a:avLst/>
          </a:prstGeom>
          <a:solidFill>
            <a:srgbClr val="44546A"/>
          </a:solidFill>
          <a:ln w="6350">
            <a:solidFill>
              <a:srgbClr val="44546A"/>
            </a:solidFill>
            <a:prstDash val="solid"/>
          </a:ln>
        </p:spPr>
      </p:sp>
      <p:sp>
        <p:nvSpPr>
          <p:cNvPr id="132" name="Feed C"/>
          <p:cNvSpPr/>
          <p:nvPr/>
        </p:nvSpPr>
        <p:spPr>
          <a:xfrm>
            <a:off x="7306056" y="6345936"/>
            <a:ext cx="0" cy="374904"/>
          </a:xfrm>
          <a:prstGeom prst="line">
            <a:avLst/>
          </a:prstGeom>
          <a:noFill/>
          <a:ln w="15875">
            <a:solidFill>
              <a:srgbClr val="44546A"/>
            </a:solidFill>
            <a:prstDash val="solid"/>
          </a:ln>
        </p:spPr>
      </p:sp>
      <p:sp>
        <p:nvSpPr>
          <p:cNvPr id="133" name="Join C"/>
          <p:cNvSpPr/>
          <p:nvPr/>
        </p:nvSpPr>
        <p:spPr>
          <a:xfrm>
            <a:off x="7269480" y="6309360"/>
            <a:ext cx="73152" cy="73152"/>
          </a:xfrm>
          <a:prstGeom prst="ellipse">
            <a:avLst/>
          </a:prstGeom>
          <a:solidFill>
            <a:srgbClr val="44546A"/>
          </a:solidFill>
          <a:ln w="6350">
            <a:solidFill>
              <a:srgbClr val="44546A"/>
            </a:solidFill>
            <a:prstDash val="solid"/>
          </a:ln>
        </p:spPr>
      </p:sp>
      <p:sp>
        <p:nvSpPr>
          <p:cNvPr id="134" name="Feed B"/>
          <p:cNvSpPr/>
          <p:nvPr/>
        </p:nvSpPr>
        <p:spPr>
          <a:xfrm>
            <a:off x="7891272" y="6473952"/>
            <a:ext cx="0" cy="246888"/>
          </a:xfrm>
          <a:prstGeom prst="line">
            <a:avLst/>
          </a:prstGeom>
          <a:noFill/>
          <a:ln w="15875">
            <a:solidFill>
              <a:srgbClr val="44546A"/>
            </a:solidFill>
            <a:prstDash val="solid"/>
          </a:ln>
        </p:spPr>
      </p:sp>
      <p:sp>
        <p:nvSpPr>
          <p:cNvPr id="135" name="Join B"/>
          <p:cNvSpPr/>
          <p:nvPr/>
        </p:nvSpPr>
        <p:spPr>
          <a:xfrm>
            <a:off x="7854696" y="6437376"/>
            <a:ext cx="73152" cy="73152"/>
          </a:xfrm>
          <a:prstGeom prst="ellipse">
            <a:avLst/>
          </a:prstGeom>
          <a:solidFill>
            <a:srgbClr val="44546A"/>
          </a:solidFill>
          <a:ln w="6350">
            <a:solidFill>
              <a:srgbClr val="44546A"/>
            </a:solidFill>
            <a:prstDash val="solid"/>
          </a:ln>
        </p:spPr>
      </p:sp>
      <p:sp>
        <p:nvSpPr>
          <p:cNvPr id="136" name="Feed C"/>
          <p:cNvSpPr/>
          <p:nvPr/>
        </p:nvSpPr>
        <p:spPr>
          <a:xfrm>
            <a:off x="8220456" y="6345936"/>
            <a:ext cx="0" cy="374904"/>
          </a:xfrm>
          <a:prstGeom prst="line">
            <a:avLst/>
          </a:prstGeom>
          <a:noFill/>
          <a:ln w="15875">
            <a:solidFill>
              <a:srgbClr val="44546A"/>
            </a:solidFill>
            <a:prstDash val="solid"/>
          </a:ln>
        </p:spPr>
      </p:sp>
      <p:sp>
        <p:nvSpPr>
          <p:cNvPr id="137" name="Join C"/>
          <p:cNvSpPr/>
          <p:nvPr/>
        </p:nvSpPr>
        <p:spPr>
          <a:xfrm>
            <a:off x="8183880" y="6309360"/>
            <a:ext cx="73152" cy="73152"/>
          </a:xfrm>
          <a:prstGeom prst="ellipse">
            <a:avLst/>
          </a:prstGeom>
          <a:solidFill>
            <a:srgbClr val="44546A"/>
          </a:solidFill>
          <a:ln w="6350">
            <a:solidFill>
              <a:srgbClr val="44546A"/>
            </a:solidFill>
            <a:prstDash val="solid"/>
          </a:ln>
        </p:spPr>
      </p:sp>
      <p:sp>
        <p:nvSpPr>
          <p:cNvPr id="138" name="Data without a standard"/>
          <p:cNvSpPr/>
          <p:nvPr/>
        </p:nvSpPr>
        <p:spPr>
          <a:xfrm>
            <a:off x="8732520" y="6720840"/>
            <a:ext cx="3072384" cy="713232"/>
          </a:xfrm>
          <a:prstGeom prst="rect">
            <a:avLst/>
          </a:prstGeom>
          <a:solidFill>
            <a:srgbClr val="8A96A3">
              <a:alpha val="20000"/>
            </a:srgbClr>
          </a:solidFill>
          <a:ln w="15875">
            <a:solidFill>
              <a:srgbClr val="8A96A3"/>
            </a:solidFill>
            <a:prstDash val="dash"/>
          </a:ln>
        </p:spPr>
      </p:sp>
      <p:sp>
        <p:nvSpPr>
          <p:cNvPr id="139" name="Text 137"/>
          <p:cNvSpPr txBox="1"/>
          <p:nvPr/>
        </p:nvSpPr>
        <p:spPr>
          <a:xfrm>
            <a:off x="8732520" y="6720840"/>
            <a:ext cx="3072384" cy="713232"/>
          </a:xfrm>
          <a:prstGeom prst="rect">
            <a:avLst/>
          </a:prstGeom>
          <a:noFill/>
          <a:ln/>
        </p:spPr>
        <p:txBody>
          <a:bodyPr wrap="square" lIns="12700" tIns="63500" rIns="63500" bIns="127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standard yet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interactions · feeding · facial expressions · home-cage monitoring · VR · force plates · EMG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Fig. 5 — The BBQS standards stack</dc:title>
  <dc:subject>PptxGenJS Presentation</dc:subject>
  <dc:creator>PptxGenJS</dc:creator>
  <cp:lastModifiedBy>PptxGenJS</cp:lastModifiedBy>
  <cp:revision>1</cp:revision>
  <dcterms:created xsi:type="dcterms:W3CDTF">2026-10-18T06:45:18Z</dcterms:created>
  <dcterms:modified xsi:type="dcterms:W3CDTF">2026-10-18T06:45:18Z</dcterms:modified>
</cp:coreProperties>
</file>