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8503920"/>
  <p:notesSz cx="850392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v2 (spec: draft/12_figures_tables.md). Sources: Table 3, BBQS standards guideline, Standards4BBQS forum slides (Oct 2026).
Rows: the five stacked layers in Table 1 order; schema languages (6) as a box over rows 2-3, as in Fig. 2.
Columns: BBQS data grouped by the standard Table 3 recommends (NWB, BIDS, Psych-DS) and data without a recommended standard (grey, dashed).
Status: solid = recommended for BBQS today; dashed = extension or proposal in progress (NWBEPs, BEPs, Neuro Termsets, BIDS media PR #2367, Psych-DS extension process); grey dashed = needs a standard.
Paths: slate arrows from each data group to EMBER. Column D has no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gend ok"/>
          <p:cNvSpPr/>
          <p:nvPr/>
        </p:nvSpPr>
        <p:spPr>
          <a:xfrm>
            <a:off x="2148840" y="128016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148840" y="128016"/>
            <a:ext cx="457200" cy="27432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148840" y="128016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697480" y="12801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for BBQS</a:t>
            </a:r>
            <a:endParaRPr lang="en-US" sz="1050" dirty="0"/>
          </a:p>
        </p:txBody>
      </p:sp>
      <p:sp>
        <p:nvSpPr>
          <p:cNvPr id="6" name="Legend wip"/>
          <p:cNvSpPr/>
          <p:nvPr/>
        </p:nvSpPr>
        <p:spPr>
          <a:xfrm>
            <a:off x="4572000" y="128016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572000" y="128016"/>
            <a:ext cx="457200" cy="27432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120640" y="1280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(extension or proposal)</a:t>
            </a:r>
            <a:endParaRPr lang="en-US" sz="1050" dirty="0"/>
          </a:p>
        </p:txBody>
      </p:sp>
      <p:sp>
        <p:nvSpPr>
          <p:cNvPr id="10" name="Legend gap"/>
          <p:cNvSpPr/>
          <p:nvPr/>
        </p:nvSpPr>
        <p:spPr>
          <a:xfrm>
            <a:off x="7772400" y="128016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8A96A3">
              <a:alpha val="15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772400" y="128016"/>
            <a:ext cx="457200" cy="27432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28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 standard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784080" y="265176"/>
            <a:ext cx="502920" cy="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0378440" y="128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path to the archive</a:t>
            </a:r>
            <a:endParaRPr lang="en-US" sz="1050" dirty="0"/>
          </a:p>
        </p:txBody>
      </p:sp>
      <p:sp>
        <p:nvSpPr>
          <p:cNvPr id="15" name="Layer 1: Data formats"/>
          <p:cNvSpPr/>
          <p:nvPr/>
        </p:nvSpPr>
        <p:spPr>
          <a:xfrm>
            <a:off x="274320" y="6446520"/>
            <a:ext cx="11640312" cy="804672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16" name="Tread 1"/>
          <p:cNvSpPr/>
          <p:nvPr/>
        </p:nvSpPr>
        <p:spPr>
          <a:xfrm>
            <a:off x="274320" y="6446520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17" name="Badge 1"/>
          <p:cNvSpPr/>
          <p:nvPr/>
        </p:nvSpPr>
        <p:spPr>
          <a:xfrm>
            <a:off x="384048" y="6629400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" y="6629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6629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150" dirty="0"/>
          </a:p>
        </p:txBody>
      </p:sp>
      <p:sp>
        <p:nvSpPr>
          <p:cNvPr id="20" name="Layer 2: File organization standards"/>
          <p:cNvSpPr/>
          <p:nvPr/>
        </p:nvSpPr>
        <p:spPr>
          <a:xfrm>
            <a:off x="274320" y="4526280"/>
            <a:ext cx="11640312" cy="182880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21" name="Tread 2"/>
          <p:cNvSpPr/>
          <p:nvPr/>
        </p:nvSpPr>
        <p:spPr>
          <a:xfrm>
            <a:off x="274320" y="4526280"/>
            <a:ext cx="11640312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22" name="Badge 2"/>
          <p:cNvSpPr/>
          <p:nvPr/>
        </p:nvSpPr>
        <p:spPr>
          <a:xfrm>
            <a:off x="384048" y="4709160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84048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709160"/>
            <a:ext cx="1371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150" dirty="0"/>
          </a:p>
        </p:txBody>
      </p:sp>
      <p:sp>
        <p:nvSpPr>
          <p:cNvPr id="25" name="Layer 3: Dataset organization standards"/>
          <p:cNvSpPr/>
          <p:nvPr/>
        </p:nvSpPr>
        <p:spPr>
          <a:xfrm>
            <a:off x="274320" y="2679192"/>
            <a:ext cx="11640312" cy="1755648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26" name="Tread 3"/>
          <p:cNvSpPr/>
          <p:nvPr/>
        </p:nvSpPr>
        <p:spPr>
          <a:xfrm>
            <a:off x="274320" y="2679192"/>
            <a:ext cx="11640312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27" name="Badge 3"/>
          <p:cNvSpPr/>
          <p:nvPr/>
        </p:nvSpPr>
        <p:spPr>
          <a:xfrm>
            <a:off x="384048" y="2862072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" y="2862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2862072"/>
            <a:ext cx="13716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150" dirty="0"/>
          </a:p>
        </p:txBody>
      </p:sp>
      <p:sp>
        <p:nvSpPr>
          <p:cNvPr id="30" name="Layer 4: Ontologies &amp; terminologies"/>
          <p:cNvSpPr/>
          <p:nvPr/>
        </p:nvSpPr>
        <p:spPr>
          <a:xfrm>
            <a:off x="274320" y="1399032"/>
            <a:ext cx="11640312" cy="118872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31" name="Tread 4"/>
          <p:cNvSpPr/>
          <p:nvPr/>
        </p:nvSpPr>
        <p:spPr>
          <a:xfrm>
            <a:off x="274320" y="1399032"/>
            <a:ext cx="11640312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32" name="Badge 4"/>
          <p:cNvSpPr/>
          <p:nvPr/>
        </p:nvSpPr>
        <p:spPr>
          <a:xfrm>
            <a:off x="384048" y="158191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8404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1581912"/>
            <a:ext cx="1371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150" dirty="0"/>
          </a:p>
        </p:txBody>
      </p:sp>
      <p:sp>
        <p:nvSpPr>
          <p:cNvPr id="35" name="Layer 5: Data archives"/>
          <p:cNvSpPr/>
          <p:nvPr/>
        </p:nvSpPr>
        <p:spPr>
          <a:xfrm>
            <a:off x="274320" y="539496"/>
            <a:ext cx="11640312" cy="768096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36" name="Tread 5"/>
          <p:cNvSpPr/>
          <p:nvPr/>
        </p:nvSpPr>
        <p:spPr>
          <a:xfrm>
            <a:off x="274320" y="539496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37" name="Badge 5"/>
          <p:cNvSpPr/>
          <p:nvPr/>
        </p:nvSpPr>
        <p:spPr>
          <a:xfrm>
            <a:off x="384048" y="722376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84048" y="722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72237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0040" y="7479792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BBQS data</a:t>
            </a:r>
            <a:endParaRPr lang="en-US" sz="11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Grouped by the recommended standard (Table 3)</a:t>
            </a:r>
            <a:endParaRPr lang="en-US" sz="1150" dirty="0"/>
          </a:p>
        </p:txBody>
      </p:sp>
      <p:sp>
        <p:nvSpPr>
          <p:cNvPr id="41" name="Raw data A"/>
          <p:cNvSpPr/>
          <p:nvPr/>
        </p:nvSpPr>
        <p:spPr>
          <a:xfrm>
            <a:off x="2148840" y="7479792"/>
            <a:ext cx="2926080" cy="91440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148840" y="7479792"/>
            <a:ext cx="2926080" cy="9144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Neurophysiology + synchronized behavior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optical physiology · stimulation · video · pose · eye tracking · wearables · audio · tasks &amp; events</a:t>
            </a:r>
            <a:endParaRPr lang="en-US" sz="1100" dirty="0"/>
          </a:p>
        </p:txBody>
      </p:sp>
      <p:sp>
        <p:nvSpPr>
          <p:cNvPr id="43" name="Raw data B"/>
          <p:cNvSpPr/>
          <p:nvPr/>
        </p:nvSpPr>
        <p:spPr>
          <a:xfrm>
            <a:off x="5166360" y="7479792"/>
            <a:ext cx="2926080" cy="91440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166360" y="7479792"/>
            <a:ext cx="2926080" cy="9144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Imaging, EEG &amp; multi-session studies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fMRI · PET · EEG / MEG / iEEG · motion capture · physiology · task events</a:t>
            </a:r>
            <a:endParaRPr lang="en-US" sz="1100" dirty="0"/>
          </a:p>
        </p:txBody>
      </p:sp>
      <p:sp>
        <p:nvSpPr>
          <p:cNvPr id="45" name="Raw data C"/>
          <p:cNvSpPr/>
          <p:nvPr/>
        </p:nvSpPr>
        <p:spPr>
          <a:xfrm>
            <a:off x="8183880" y="7479792"/>
            <a:ext cx="1463040" cy="91440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83880" y="7479792"/>
            <a:ext cx="1463040" cy="9144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behavior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Questionnaires, surveys, task responses</a:t>
            </a:r>
            <a:endParaRPr lang="en-US" sz="1100" dirty="0"/>
          </a:p>
        </p:txBody>
      </p:sp>
      <p:sp>
        <p:nvSpPr>
          <p:cNvPr id="47" name="Raw data D (no standard)"/>
          <p:cNvSpPr/>
          <p:nvPr/>
        </p:nvSpPr>
        <p:spPr>
          <a:xfrm>
            <a:off x="9738360" y="7479792"/>
            <a:ext cx="2057400" cy="914400"/>
          </a:xfrm>
          <a:prstGeom prst="rect">
            <a:avLst/>
          </a:prstGeom>
          <a:solidFill>
            <a:srgbClr val="8A96A3">
              <a:alpha val="15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48" name="Text 46"/>
          <p:cNvSpPr txBox="1"/>
          <p:nvPr/>
        </p:nvSpPr>
        <p:spPr>
          <a:xfrm>
            <a:off x="9738360" y="7479792"/>
            <a:ext cx="2057400" cy="9144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yet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interactions · feeding · facial expressions · home-cage monitoring · VR · force plates · EMG</a:t>
            </a:r>
            <a:endParaRPr lang="en-US" sz="1100" dirty="0"/>
          </a:p>
        </p:txBody>
      </p:sp>
      <p:sp>
        <p:nvSpPr>
          <p:cNvPr id="49" name="Path A"/>
          <p:cNvSpPr/>
          <p:nvPr/>
        </p:nvSpPr>
        <p:spPr>
          <a:xfrm flipV="1">
            <a:off x="3611880" y="1170432"/>
            <a:ext cx="0" cy="630936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50" name="Path B"/>
          <p:cNvSpPr/>
          <p:nvPr/>
        </p:nvSpPr>
        <p:spPr>
          <a:xfrm flipV="1">
            <a:off x="6629400" y="1170432"/>
            <a:ext cx="0" cy="630936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51" name="Path C"/>
          <p:cNvSpPr/>
          <p:nvPr/>
        </p:nvSpPr>
        <p:spPr>
          <a:xfrm flipV="1">
            <a:off x="8915400" y="1170432"/>
            <a:ext cx="0" cy="630936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52" name="Formats A"/>
          <p:cNvSpPr/>
          <p:nvPr/>
        </p:nvSpPr>
        <p:spPr>
          <a:xfrm>
            <a:off x="2148840" y="6720840"/>
            <a:ext cx="29260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6720840"/>
            <a:ext cx="2926080" cy="329184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· Zarr · MP4 </a:t>
            </a:r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(video linked from NWB)</a:t>
            </a:r>
            <a:endParaRPr lang="en-US" sz="1000" dirty="0"/>
          </a:p>
        </p:txBody>
      </p:sp>
      <p:sp>
        <p:nvSpPr>
          <p:cNvPr id="54" name="Formats B"/>
          <p:cNvSpPr/>
          <p:nvPr/>
        </p:nvSpPr>
        <p:spPr>
          <a:xfrm>
            <a:off x="5166360" y="6611112"/>
            <a:ext cx="29260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166360" y="6611112"/>
            <a:ext cx="2926080" cy="27432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JSON / TSV · EDF · OME-Zarr</a:t>
            </a:r>
            <a:endParaRPr lang="en-US" sz="1000" dirty="0"/>
          </a:p>
        </p:txBody>
      </p:sp>
      <p:sp>
        <p:nvSpPr>
          <p:cNvPr id="56" name="Formats B media"/>
          <p:cNvSpPr/>
          <p:nvPr/>
        </p:nvSpPr>
        <p:spPr>
          <a:xfrm>
            <a:off x="5166360" y="690372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5166360" y="6903720"/>
            <a:ext cx="2926080" cy="25603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Audio, video, and image files </a:t>
            </a:r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(BIDS PR #2367)</a:t>
            </a:r>
            <a:endParaRPr lang="en-US" sz="1000" dirty="0"/>
          </a:p>
        </p:txBody>
      </p:sp>
      <p:sp>
        <p:nvSpPr>
          <p:cNvPr id="58" name="Formats C"/>
          <p:cNvSpPr/>
          <p:nvPr/>
        </p:nvSpPr>
        <p:spPr>
          <a:xfrm>
            <a:off x="8183880" y="672084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83880" y="6720840"/>
            <a:ext cx="1463040" cy="329184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000" dirty="0"/>
          </a:p>
        </p:txBody>
      </p:sp>
      <p:sp>
        <p:nvSpPr>
          <p:cNvPr id="60" name="NWB core"/>
          <p:cNvSpPr/>
          <p:nvPr/>
        </p:nvSpPr>
        <p:spPr>
          <a:xfrm>
            <a:off x="2148840" y="4690872"/>
            <a:ext cx="29260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148840" y="4690872"/>
            <a:ext cx="2926080" cy="841248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Ephys · ophys · stimulation · behavior · video links · events (EventsTable, MeaningsTable)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 in use: pose · structured behavior · ethogram · wearables · fiber photometry</a:t>
            </a:r>
            <a:endParaRPr lang="en-US" sz="1000" dirty="0"/>
          </a:p>
        </p:txBody>
      </p:sp>
      <p:sp>
        <p:nvSpPr>
          <p:cNvPr id="62" name="NWB WIP ndx-pose → core"/>
          <p:cNvSpPr/>
          <p:nvPr/>
        </p:nvSpPr>
        <p:spPr>
          <a:xfrm>
            <a:off x="2148840" y="5605272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3" name="Text 61"/>
          <p:cNvSpPr txBox="1"/>
          <p:nvPr/>
        </p:nvSpPr>
        <p:spPr>
          <a:xfrm>
            <a:off x="2148840" y="5605272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ndx-pose → core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NWBEP in preparation</a:t>
            </a:r>
            <a:endParaRPr lang="en-US" sz="1000" dirty="0"/>
          </a:p>
        </p:txBody>
      </p:sp>
      <p:sp>
        <p:nvSpPr>
          <p:cNvPr id="64" name="NWB WIP ndx-hed → core"/>
          <p:cNvSpPr/>
          <p:nvPr/>
        </p:nvSpPr>
        <p:spPr>
          <a:xfrm>
            <a:off x="3657600" y="5605272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3657600" y="5605272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ndx-hed → core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1000" dirty="0"/>
          </a:p>
        </p:txBody>
      </p:sp>
      <p:sp>
        <p:nvSpPr>
          <p:cNvPr id="66" name="NWB WIP ndx-multisubjects"/>
          <p:cNvSpPr/>
          <p:nvPr/>
        </p:nvSpPr>
        <p:spPr>
          <a:xfrm>
            <a:off x="2148840" y="6007608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7" name="Text 65"/>
          <p:cNvSpPr txBox="1"/>
          <p:nvPr/>
        </p:nvSpPr>
        <p:spPr>
          <a:xfrm>
            <a:off x="2148840" y="6007608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ndx-multisubjects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NWBEP in preparation</a:t>
            </a:r>
            <a:endParaRPr lang="en-US" sz="1000" dirty="0"/>
          </a:p>
        </p:txBody>
      </p:sp>
      <p:sp>
        <p:nvSpPr>
          <p:cNvPr id="68" name="NWB WIP NWBEP004"/>
          <p:cNvSpPr/>
          <p:nvPr/>
        </p:nvSpPr>
        <p:spPr>
          <a:xfrm>
            <a:off x="3657600" y="6007608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dash"/>
          </a:ln>
        </p:spPr>
      </p:sp>
      <p:sp>
        <p:nvSpPr>
          <p:cNvPr id="69" name="Text 67"/>
          <p:cNvSpPr txBox="1"/>
          <p:nvPr/>
        </p:nvSpPr>
        <p:spPr>
          <a:xfrm>
            <a:off x="3657600" y="6007608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NWBEP004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microscopy · approved</a:t>
            </a:r>
            <a:endParaRPr lang="en-US" sz="1000" dirty="0"/>
          </a:p>
        </p:txBody>
      </p:sp>
      <p:sp>
        <p:nvSpPr>
          <p:cNvPr id="70" name="Text 68"/>
          <p:cNvSpPr txBox="1"/>
          <p:nvPr/>
        </p:nvSpPr>
        <p:spPr>
          <a:xfrm>
            <a:off x="6766560" y="5239512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can include NWB files (iEEG; microelectrode ephys via BEP032)</a:t>
            </a:r>
            <a:endParaRPr lang="en-US" sz="950" dirty="0"/>
          </a:p>
        </p:txBody>
      </p:sp>
      <p:sp>
        <p:nvSpPr>
          <p:cNvPr id="71" name="DANDI layout"/>
          <p:cNvSpPr/>
          <p:nvPr/>
        </p:nvSpPr>
        <p:spPr>
          <a:xfrm>
            <a:off x="2148840" y="2843784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2843784"/>
            <a:ext cx="2926080" cy="45720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NWB file per subject and session</a:t>
            </a:r>
            <a:endParaRPr lang="en-US" sz="1000" dirty="0"/>
          </a:p>
        </p:txBody>
      </p:sp>
      <p:sp>
        <p:nvSpPr>
          <p:cNvPr id="73" name="BIDS"/>
          <p:cNvSpPr/>
          <p:nvPr/>
        </p:nvSpPr>
        <p:spPr>
          <a:xfrm>
            <a:off x="5166360" y="2843784"/>
            <a:ext cx="292608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166360" y="2843784"/>
            <a:ext cx="2926080" cy="71323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PET · EEG / MEG / iEEG · microscopy · motion · physiology · behavior and task events · stimuli · rawbids/</a:t>
            </a:r>
            <a:endParaRPr lang="en-US" sz="1000" dirty="0"/>
          </a:p>
        </p:txBody>
      </p:sp>
      <p:sp>
        <p:nvSpPr>
          <p:cNvPr id="75" name="BIDS WIP BEP032"/>
          <p:cNvSpPr/>
          <p:nvPr/>
        </p:nvSpPr>
        <p:spPr>
          <a:xfrm>
            <a:off x="5166360" y="3630168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5166360" y="3630168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BEP032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microelectrode ephys</a:t>
            </a:r>
            <a:endParaRPr lang="en-US" sz="1000" dirty="0"/>
          </a:p>
        </p:txBody>
      </p:sp>
      <p:sp>
        <p:nvSpPr>
          <p:cNvPr id="77" name="BIDS WIP BEP047"/>
          <p:cNvSpPr/>
          <p:nvPr/>
        </p:nvSpPr>
        <p:spPr>
          <a:xfrm>
            <a:off x="6675120" y="3630168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78" name="Text 76"/>
          <p:cNvSpPr txBox="1"/>
          <p:nvPr/>
        </p:nvSpPr>
        <p:spPr>
          <a:xfrm>
            <a:off x="6675120" y="3630168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BEP047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audio / video</a:t>
            </a:r>
            <a:endParaRPr lang="en-US" sz="1000" dirty="0"/>
          </a:p>
        </p:txBody>
      </p:sp>
      <p:sp>
        <p:nvSpPr>
          <p:cNvPr id="79" name="BIDS WIP BEP020 · BEP042"/>
          <p:cNvSpPr/>
          <p:nvPr/>
        </p:nvSpPr>
        <p:spPr>
          <a:xfrm>
            <a:off x="5166360" y="4032504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80" name="Text 78"/>
          <p:cNvSpPr txBox="1"/>
          <p:nvPr/>
        </p:nvSpPr>
        <p:spPr>
          <a:xfrm>
            <a:off x="5166360" y="4032504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BEP020 · BEP042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tracking · EMG</a:t>
            </a:r>
            <a:endParaRPr lang="en-US" sz="1000" dirty="0"/>
          </a:p>
        </p:txBody>
      </p:sp>
      <p:sp>
        <p:nvSpPr>
          <p:cNvPr id="81" name="BIDS WIP Multi-subject BEP"/>
          <p:cNvSpPr/>
          <p:nvPr/>
        </p:nvSpPr>
        <p:spPr>
          <a:xfrm>
            <a:off x="6675120" y="4032504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82" name="Text 80"/>
          <p:cNvSpPr txBox="1"/>
          <p:nvPr/>
        </p:nvSpPr>
        <p:spPr>
          <a:xfrm>
            <a:off x="6675120" y="4032504"/>
            <a:ext cx="1417320" cy="34747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Multi-subject BEP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1000" dirty="0"/>
          </a:p>
        </p:txBody>
      </p:sp>
      <p:sp>
        <p:nvSpPr>
          <p:cNvPr id="83" name="Psych-DS"/>
          <p:cNvSpPr/>
          <p:nvPr/>
        </p:nvSpPr>
        <p:spPr>
          <a:xfrm>
            <a:off x="8183880" y="2843784"/>
            <a:ext cx="14630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8183880" y="2843784"/>
            <a:ext cx="1463040" cy="713232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variable defined in JSON</a:t>
            </a:r>
            <a:endParaRPr lang="en-US" sz="1000" dirty="0"/>
          </a:p>
        </p:txBody>
      </p:sp>
      <p:sp>
        <p:nvSpPr>
          <p:cNvPr id="85" name="Psych-DS WIP"/>
          <p:cNvSpPr/>
          <p:nvPr/>
        </p:nvSpPr>
        <p:spPr>
          <a:xfrm>
            <a:off x="8183880" y="3630168"/>
            <a:ext cx="146304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dash"/>
          </a:ln>
        </p:spPr>
      </p:sp>
      <p:sp>
        <p:nvSpPr>
          <p:cNvPr id="86" name="Text 84"/>
          <p:cNvSpPr txBox="1"/>
          <p:nvPr/>
        </p:nvSpPr>
        <p:spPr>
          <a:xfrm>
            <a:off x="8183880" y="3630168"/>
            <a:ext cx="1463040" cy="749808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in development</a:t>
            </a:r>
            <a:endParaRPr lang="en-US" sz="1000" dirty="0"/>
          </a:p>
        </p:txBody>
      </p:sp>
      <p:sp>
        <p:nvSpPr>
          <p:cNvPr id="87" name="Schema languages"/>
          <p:cNvSpPr/>
          <p:nvPr/>
        </p:nvSpPr>
        <p:spPr>
          <a:xfrm>
            <a:off x="9738360" y="3680460"/>
            <a:ext cx="20574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88" name="Badge 6"/>
          <p:cNvSpPr/>
          <p:nvPr/>
        </p:nvSpPr>
        <p:spPr>
          <a:xfrm>
            <a:off x="9848088" y="3808476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848088" y="3808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90" name="Text 88"/>
          <p:cNvSpPr txBox="1"/>
          <p:nvPr/>
        </p:nvSpPr>
        <p:spPr>
          <a:xfrm>
            <a:off x="10213848" y="37719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150" dirty="0"/>
          </a:p>
        </p:txBody>
      </p:sp>
      <p:sp>
        <p:nvSpPr>
          <p:cNvPr id="91" name="Text 89"/>
          <p:cNvSpPr txBox="1"/>
          <p:nvPr/>
        </p:nvSpPr>
        <p:spPr>
          <a:xfrm>
            <a:off x="9875520" y="422910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defines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defines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pPr indent="0" marL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defines </a:t>
            </a:r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Psych-DS, Neuro Termsets</a:t>
            </a:r>
            <a:endParaRPr lang="en-US" sz="1050" dirty="0"/>
          </a:p>
        </p:txBody>
      </p:sp>
      <p:sp>
        <p:nvSpPr>
          <p:cNvPr id="92" name="HED"/>
          <p:cNvSpPr/>
          <p:nvPr/>
        </p:nvSpPr>
        <p:spPr>
          <a:xfrm>
            <a:off x="2148840" y="1563624"/>
            <a:ext cx="5943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2148840" y="1563624"/>
            <a:ext cx="5943600" cy="292608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</a:t>
            </a:r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annotations in BIDS, and in NWB via ndx-hed</a:t>
            </a:r>
            <a:endParaRPr lang="en-US" sz="1000" dirty="0"/>
          </a:p>
        </p:txBody>
      </p:sp>
      <p:sp>
        <p:nvSpPr>
          <p:cNvPr id="94" name="Terminologies"/>
          <p:cNvSpPr/>
          <p:nvPr/>
        </p:nvSpPr>
        <p:spPr>
          <a:xfrm>
            <a:off x="2148840" y="1911096"/>
            <a:ext cx="5943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148840" y="1911096"/>
            <a:ext cx="5943600" cy="292608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· UBERON · Allen atlases · Cell Ontology · RRID · ORCID · ROR</a:t>
            </a:r>
            <a:endParaRPr lang="en-US" sz="1000" dirty="0"/>
          </a:p>
        </p:txBody>
      </p:sp>
      <p:sp>
        <p:nvSpPr>
          <p:cNvPr id="96" name="Neuro Termsets"/>
          <p:cNvSpPr/>
          <p:nvPr/>
        </p:nvSpPr>
        <p:spPr>
          <a:xfrm>
            <a:off x="2148840" y="2258568"/>
            <a:ext cx="5943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dash"/>
          </a:ln>
        </p:spPr>
      </p:sp>
      <p:sp>
        <p:nvSpPr>
          <p:cNvPr id="97" name="Text 95"/>
          <p:cNvSpPr txBox="1"/>
          <p:nvPr/>
        </p:nvSpPr>
        <p:spPr>
          <a:xfrm>
            <a:off x="2148840" y="2258568"/>
            <a:ext cx="5943600" cy="292608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 Termsets </a:t>
            </a:r>
            <a:pPr algn="ctr"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term sets that validate NWB metadata and fill HERD; BIDS planned</a:t>
            </a:r>
            <a:endParaRPr lang="en-US" sz="1000" dirty="0"/>
          </a:p>
        </p:txBody>
      </p:sp>
      <p:sp>
        <p:nvSpPr>
          <p:cNvPr id="98" name="Behavior vocabulary gap"/>
          <p:cNvSpPr/>
          <p:nvPr/>
        </p:nvSpPr>
        <p:spPr>
          <a:xfrm>
            <a:off x="9738360" y="1737360"/>
            <a:ext cx="2057400" cy="640080"/>
          </a:xfrm>
          <a:prstGeom prst="roundRect">
            <a:avLst>
              <a:gd name="adj" fmla="val 8571"/>
            </a:avLst>
          </a:prstGeom>
          <a:solidFill>
            <a:srgbClr val="8A96A3">
              <a:alpha val="15000"/>
            </a:srgbClr>
          </a:solidFill>
          <a:ln w="15875">
            <a:solidFill>
              <a:srgbClr val="8A96A3"/>
            </a:solidFill>
            <a:prstDash val="dash"/>
          </a:ln>
        </p:spPr>
      </p:sp>
      <p:sp>
        <p:nvSpPr>
          <p:cNvPr id="99" name="Text 97"/>
          <p:cNvSpPr txBox="1"/>
          <p:nvPr/>
        </p:nvSpPr>
        <p:spPr>
          <a:xfrm>
            <a:off x="9738360" y="1737360"/>
            <a:ext cx="2057400" cy="640080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labels</a:t>
            </a:r>
            <a:endParaRPr lang="en-US" sz="10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shared vocabulary in use</a:t>
            </a:r>
            <a:endParaRPr lang="en-US" sz="1000" dirty="0"/>
          </a:p>
        </p:txBody>
      </p:sp>
      <p:sp>
        <p:nvSpPr>
          <p:cNvPr id="100" name="EMBER"/>
          <p:cNvSpPr/>
          <p:nvPr/>
        </p:nvSpPr>
        <p:spPr>
          <a:xfrm>
            <a:off x="2148840" y="749808"/>
            <a:ext cx="96469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2148840" y="749808"/>
            <a:ext cx="9646920" cy="420624"/>
          </a:xfrm>
          <a:prstGeom prst="rect">
            <a:avLst/>
          </a:prstGeom>
          <a:noFill/>
          <a:ln/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   </a:t>
            </a:r>
            <a:pPr algn="ctr"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datasets, with privacy levels for identifiable human data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2026-10-18T06:33:17Z</dcterms:created>
  <dcterms:modified xsi:type="dcterms:W3CDTF">2026-10-18T06:33:17Z</dcterms:modified>
</cp:coreProperties>
</file>